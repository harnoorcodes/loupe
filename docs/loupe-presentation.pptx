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99"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9676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loupe is the magnifier a jeweller uses to inspect a stone for hidden flaws before someone buys it. That is exactly what this system does for a company acquisition.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domain quickly. Don't dwell here — the next slide is the one that lands. Roughly 40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Pause after 'neither is alarming alone'. The legal reviewer sees a standard clause. The accountant sees customer concentration. They work in different rooms and nobody puts the two together. This is the finding the system exists to catch. Take your time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Rejecting this design is the core decision of the project. Partitioning by document type guarantees you miss the findings that span documents — which are precisely the ones that matter.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store is deliberately at the centre. Agents don't message each other in prose — they read and write typed objects in one shared structure. That's what makes cross-document reasoning real rather than aspirational.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agents use no model at all, and that is a design position rather than a shortcut. Reconciling a share total is arithmetic. Checking whether a file exists is a fact. Comparing dates is deterministic. The model is reserved for the five tasks that genuinely need language understanding. There is also a human approval gate on critical findings.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mechanism. The analyst's only way to check any finding is to follow the citation. If one is wrong, they stop using the system — and they would be right to. So it is built so it structurally cannot emit an uncited claim.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systems can only report what they find. This one holds a checklist of what a complete data room should contain and reports the gaps. The subtlety is distinguishing a document being present from a document being mentioned — and I got that wrong on the first attempt.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reviewer asked 'is this correct?' agrees — agreement is the path of least resistance for a language model. A reviewer told to destroy the finding surfaces the rounding artifact and the definitional error. And the lifecycle is enforced by the type system, so there is no code path that admits an unreviewed finding to the memo.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favourite result and the most honest slide in the deck. An adversarial agent caught a domain error in my own reasoning that a full test suite could not, because the tests encoded the same misunderstanding. The corrected defect is subtler and more realistic than the one I originally planted.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projects in this space cannot tell you whether their output is correct. Because the corpus is generated, recall is measured rather than claimed. Be honest about the caveat: ten documents demonstrates the mechanism, it does not characterise performance. The cross-document defect is the meaningful result — it needed evidence from two documents no single reader would have compared.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is the interesting direction — benchmarks attract more attention than applications. Close by thanking them and offering to walk through the code or run the pipeline live.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371600"/>
            <a:ext cx="2834640" cy="2834640"/>
          </a:xfrm>
          <a:prstGeom prst="ellipse">
            <a:avLst/>
          </a:prstGeom>
          <a:solidFill>
            <a:srgbClr val="1E2761"/>
          </a:solidFill>
          <a:ln w="25400">
            <a:solidFill>
              <a:srgbClr val="CADCFC"/>
            </a:solidFill>
            <a:prstDash val="solid"/>
          </a:ln>
        </p:spPr>
      </p:sp>
      <p:sp>
        <p:nvSpPr>
          <p:cNvPr id="3" name="Shape 1"/>
          <p:cNvSpPr/>
          <p:nvPr/>
        </p:nvSpPr>
        <p:spPr>
          <a:xfrm>
            <a:off x="9372600" y="1965960"/>
            <a:ext cx="1645920" cy="1645920"/>
          </a:xfrm>
          <a:prstGeom prst="ellipse">
            <a:avLst/>
          </a:prstGeom>
          <a:solidFill>
            <a:srgbClr val="141A45"/>
          </a:solidFill>
          <a:ln w="19050">
            <a:solidFill>
              <a:srgbClr val="E8A33D"/>
            </a:solidFill>
            <a:prstDash val="solid"/>
          </a:ln>
        </p:spPr>
      </p:sp>
      <p:sp>
        <p:nvSpPr>
          <p:cNvPr id="4" name="Text 2"/>
          <p:cNvSpPr/>
          <p:nvPr/>
        </p:nvSpPr>
        <p:spPr>
          <a:xfrm>
            <a:off x="9372600" y="1965960"/>
            <a:ext cx="1645920" cy="1645920"/>
          </a:xfrm>
          <a:prstGeom prst="rect">
            <a:avLst/>
          </a:prstGeom>
          <a:noFill/>
          <a:ln/>
        </p:spPr>
        <p:txBody>
          <a:bodyPr wrap="square" lIns="0" tIns="0" rIns="0" bIns="0"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43%</a:t>
            </a:r>
            <a:endParaRPr lang="en-US" sz="3000" dirty="0"/>
          </a:p>
        </p:txBody>
      </p:sp>
      <p:sp>
        <p:nvSpPr>
          <p:cNvPr id="5" name="Text 3"/>
          <p:cNvSpPr/>
          <p:nvPr/>
        </p:nvSpPr>
        <p:spPr>
          <a:xfrm>
            <a:off x="640080" y="1828800"/>
            <a:ext cx="7315200" cy="1097280"/>
          </a:xfrm>
          <a:prstGeom prst="rect">
            <a:avLst/>
          </a:prstGeom>
          <a:noFill/>
          <a:ln/>
        </p:spPr>
        <p:txBody>
          <a:bodyPr wrap="square" lIns="0" tIns="0" rIns="0" bIns="0" rtlCol="0" anchor="ctr"/>
          <a:lstStyle/>
          <a:p>
            <a:pPr marL="0" indent="0">
              <a:buNone/>
            </a:pPr>
            <a:r>
              <a:rPr lang="en-US" sz="6000" b="1" kern="0" spc="400" dirty="0">
                <a:solidFill>
                  <a:srgbClr val="FFFFFF"/>
                </a:solidFill>
                <a:latin typeface="Cambria" pitchFamily="34" charset="0"/>
                <a:ea typeface="Cambria" pitchFamily="34" charset="-122"/>
                <a:cs typeface="Cambria" pitchFamily="34" charset="-120"/>
              </a:rPr>
              <a:t>LOUPE</a:t>
            </a:r>
            <a:endParaRPr lang="en-US" sz="6000" dirty="0"/>
          </a:p>
        </p:txBody>
      </p:sp>
      <p:sp>
        <p:nvSpPr>
          <p:cNvPr id="6" name="Text 4"/>
          <p:cNvSpPr/>
          <p:nvPr/>
        </p:nvSpPr>
        <p:spPr>
          <a:xfrm>
            <a:off x="640080" y="2880360"/>
            <a:ext cx="7315200" cy="457200"/>
          </a:xfrm>
          <a:prstGeom prst="rect">
            <a:avLst/>
          </a:prstGeom>
          <a:noFill/>
          <a:ln/>
        </p:spPr>
        <p:txBody>
          <a:bodyPr wrap="square" lIns="0" tIns="0" rIns="0" bIns="0" rtlCol="0" anchor="ctr"/>
          <a:lstStyle/>
          <a:p>
            <a:pPr marL="0" indent="0">
              <a:buNone/>
            </a:pPr>
            <a:r>
              <a:rPr lang="en-US" sz="2000" i="1" dirty="0">
                <a:solidFill>
                  <a:srgbClr val="CADCFC"/>
                </a:solidFill>
                <a:latin typeface="Calibri" pitchFamily="34" charset="0"/>
                <a:ea typeface="Calibri" pitchFamily="34" charset="-122"/>
                <a:cs typeface="Calibri" pitchFamily="34" charset="-120"/>
              </a:rPr>
              <a:t>A jeweller's loupe for the data room</a:t>
            </a:r>
            <a:endParaRPr lang="en-US" sz="2000" dirty="0"/>
          </a:p>
        </p:txBody>
      </p:sp>
      <p:sp>
        <p:nvSpPr>
          <p:cNvPr id="7" name="Text 5"/>
          <p:cNvSpPr/>
          <p:nvPr/>
        </p:nvSpPr>
        <p:spPr>
          <a:xfrm>
            <a:off x="640080" y="3429000"/>
            <a:ext cx="7315200" cy="365760"/>
          </a:xfrm>
          <a:prstGeom prst="rect">
            <a:avLst/>
          </a:prstGeom>
          <a:noFill/>
          <a:ln/>
        </p:spPr>
        <p:txBody>
          <a:bodyPr wrap="square" lIns="0" tIns="0" rIns="0" bIns="0" rtlCol="0" anchor="ctr"/>
          <a:lstStyle/>
          <a:p>
            <a:r>
              <a:rPr lang="en-US" sz="1500" dirty="0" smtClean="0">
                <a:solidFill>
                  <a:srgbClr val="CADCFC"/>
                </a:solidFill>
                <a:latin typeface="Calibri" pitchFamily="34" charset="0"/>
                <a:ea typeface="Calibri" pitchFamily="34" charset="-122"/>
                <a:cs typeface="Calibri" pitchFamily="34" charset="-120"/>
              </a:rPr>
              <a:t>Ten </a:t>
            </a:r>
            <a:r>
              <a:rPr lang="en-US" sz="1500" dirty="0">
                <a:solidFill>
                  <a:srgbClr val="CADCFC"/>
                </a:solidFill>
                <a:latin typeface="Calibri" pitchFamily="34" charset="0"/>
                <a:ea typeface="Calibri" pitchFamily="34" charset="-122"/>
                <a:cs typeface="Calibri" pitchFamily="34" charset="-120"/>
              </a:rPr>
              <a:t>agents. Three planted defects. All three found.</a:t>
            </a:r>
            <a:endParaRPr lang="en-US" sz="1500" dirty="0"/>
          </a:p>
        </p:txBody>
      </p:sp>
      <p:sp>
        <p:nvSpPr>
          <p:cNvPr id="8" name="Text 6"/>
          <p:cNvSpPr/>
          <p:nvPr/>
        </p:nvSpPr>
        <p:spPr>
          <a:xfrm>
            <a:off x="640080" y="5257800"/>
            <a:ext cx="7315200" cy="320040"/>
          </a:xfrm>
          <a:prstGeom prst="rect">
            <a:avLst/>
          </a:prstGeom>
          <a:noFill/>
          <a:ln/>
        </p:spPr>
        <p:txBody>
          <a:bodyPr wrap="square" lIns="0" tIns="0" rIns="0" bIns="0" rtlCol="0" anchor="ctr"/>
          <a:lstStyle/>
          <a:p>
            <a:pPr marL="0" indent="0">
              <a:buNone/>
            </a:pPr>
            <a:r>
              <a:rPr lang="en-US" sz="1500" b="1" kern="0" spc="100" dirty="0" err="1" smtClean="0">
                <a:solidFill>
                  <a:srgbClr val="FFFFFF"/>
                </a:solidFill>
                <a:latin typeface="Calibri" pitchFamily="34" charset="0"/>
                <a:ea typeface="Calibri" pitchFamily="34" charset="-122"/>
                <a:cs typeface="Calibri" pitchFamily="34" charset="-120"/>
              </a:rPr>
              <a:t>Harnoor</a:t>
            </a:r>
            <a:r>
              <a:rPr lang="en-US" sz="1500" b="1" kern="0" spc="100" dirty="0" smtClean="0">
                <a:solidFill>
                  <a:srgbClr val="FFFFFF"/>
                </a:solidFill>
                <a:latin typeface="Calibri" pitchFamily="34" charset="0"/>
                <a:ea typeface="Calibri" pitchFamily="34" charset="-122"/>
                <a:cs typeface="Calibri" pitchFamily="34" charset="-120"/>
              </a:rPr>
              <a:t> Kaur</a:t>
            </a:r>
            <a:endParaRPr lang="en-US" sz="1500" dirty="0"/>
          </a:p>
        </p:txBody>
      </p:sp>
      <p:sp>
        <p:nvSpPr>
          <p:cNvPr id="9" name="Text 7"/>
          <p:cNvSpPr/>
          <p:nvPr/>
        </p:nvSpPr>
        <p:spPr>
          <a:xfrm>
            <a:off x="640080" y="5623560"/>
            <a:ext cx="7315200" cy="3200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Summer School '26  ·  OpenAI Agents SDK  ·  Gemini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Two weeks. Several hundred documents.</a:t>
            </a:r>
            <a:endParaRPr lang="en-US" sz="3400" dirty="0"/>
          </a:p>
        </p:txBody>
      </p:sp>
      <p:sp>
        <p:nvSpPr>
          <p:cNvPr id="4" name="Shape 2"/>
          <p:cNvSpPr/>
          <p:nvPr/>
        </p:nvSpPr>
        <p:spPr>
          <a:xfrm>
            <a:off x="640080" y="2011680"/>
            <a:ext cx="384048" cy="384048"/>
          </a:xfrm>
          <a:prstGeom prst="ellipse">
            <a:avLst/>
          </a:prstGeom>
          <a:solidFill>
            <a:srgbClr val="1E2761"/>
          </a:solidFill>
          <a:ln/>
        </p:spPr>
      </p:sp>
      <p:sp>
        <p:nvSpPr>
          <p:cNvPr id="5" name="Text 3"/>
          <p:cNvSpPr/>
          <p:nvPr/>
        </p:nvSpPr>
        <p:spPr>
          <a:xfrm>
            <a:off x="640080" y="20116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280160" y="196596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Reviewers are split by speciality</a:t>
            </a:r>
            <a:endParaRPr lang="en-US" sz="1900" dirty="0"/>
          </a:p>
        </p:txBody>
      </p:sp>
      <p:sp>
        <p:nvSpPr>
          <p:cNvPr id="7" name="Text 5"/>
          <p:cNvSpPr/>
          <p:nvPr/>
        </p:nvSpPr>
        <p:spPr>
          <a:xfrm>
            <a:off x="1280160" y="235000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Lawyers read contracts. Accountants read financials. Neither sees the other's evidence.</a:t>
            </a:r>
            <a:endParaRPr lang="en-US" sz="1400" dirty="0"/>
          </a:p>
        </p:txBody>
      </p:sp>
      <p:sp>
        <p:nvSpPr>
          <p:cNvPr id="8" name="Shape 6"/>
          <p:cNvSpPr/>
          <p:nvPr/>
        </p:nvSpPr>
        <p:spPr>
          <a:xfrm>
            <a:off x="640080" y="3246120"/>
            <a:ext cx="384048" cy="384048"/>
          </a:xfrm>
          <a:prstGeom prst="ellipse">
            <a:avLst/>
          </a:prstGeom>
          <a:solidFill>
            <a:srgbClr val="1E2761"/>
          </a:solidFill>
          <a:ln/>
        </p:spPr>
      </p:sp>
      <p:sp>
        <p:nvSpPr>
          <p:cNvPr id="9" name="Text 7"/>
          <p:cNvSpPr/>
          <p:nvPr/>
        </p:nvSpPr>
        <p:spPr>
          <a:xfrm>
            <a:off x="640080" y="324612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280160" y="320040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Nobody reads everything</a:t>
            </a:r>
            <a:endParaRPr lang="en-US" sz="1900" dirty="0"/>
          </a:p>
        </p:txBody>
      </p:sp>
      <p:sp>
        <p:nvSpPr>
          <p:cNvPr id="11" name="Text 9"/>
          <p:cNvSpPr/>
          <p:nvPr/>
        </p:nvSpPr>
        <p:spPr>
          <a:xfrm>
            <a:off x="1280160" y="358444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Large contracts get read closely. The rest get skimmed — and that is where problems survive.</a:t>
            </a:r>
            <a:endParaRPr lang="en-US" sz="1400" dirty="0"/>
          </a:p>
        </p:txBody>
      </p:sp>
      <p:sp>
        <p:nvSpPr>
          <p:cNvPr id="12" name="Shape 10"/>
          <p:cNvSpPr/>
          <p:nvPr/>
        </p:nvSpPr>
        <p:spPr>
          <a:xfrm>
            <a:off x="640080" y="4480560"/>
            <a:ext cx="384048" cy="384048"/>
          </a:xfrm>
          <a:prstGeom prst="ellipse">
            <a:avLst/>
          </a:prstGeom>
          <a:solidFill>
            <a:srgbClr val="1E2761"/>
          </a:solidFill>
          <a:ln/>
        </p:spPr>
      </p:sp>
      <p:sp>
        <p:nvSpPr>
          <p:cNvPr id="13" name="Text 11"/>
          <p:cNvSpPr/>
          <p:nvPr/>
        </p:nvSpPr>
        <p:spPr>
          <a:xfrm>
            <a:off x="640080" y="44805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280160" y="443484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Absence leaves no trace</a:t>
            </a:r>
            <a:endParaRPr lang="en-US" sz="1900" dirty="0"/>
          </a:p>
        </p:txBody>
      </p:sp>
      <p:sp>
        <p:nvSpPr>
          <p:cNvPr id="15" name="Text 13"/>
          <p:cNvSpPr/>
          <p:nvPr/>
        </p:nvSpPr>
        <p:spPr>
          <a:xfrm>
            <a:off x="1280160" y="481888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A document that was never provided produces no artifact, so nothing represents it.</a:t>
            </a:r>
            <a:endParaRPr lang="en-US" sz="1400" dirty="0"/>
          </a:p>
        </p:txBody>
      </p:sp>
      <p:sp>
        <p:nvSpPr>
          <p:cNvPr id="16" name="Text 14"/>
          <p:cNvSpPr/>
          <p:nvPr/>
        </p:nvSpPr>
        <p:spPr>
          <a:xfrm>
            <a:off x="640080" y="576072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The result: diligence is slow, expensive, and incomplete in a predictable way.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02920"/>
            <a:ext cx="1005840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finding nobody catches</a:t>
            </a:r>
            <a:endParaRPr lang="en-US" sz="3400" dirty="0"/>
          </a:p>
        </p:txBody>
      </p:sp>
      <p:sp>
        <p:nvSpPr>
          <p:cNvPr id="3" name="Shape 1"/>
          <p:cNvSpPr/>
          <p:nvPr/>
        </p:nvSpPr>
        <p:spPr>
          <a:xfrm>
            <a:off x="640080" y="1463040"/>
            <a:ext cx="5212080" cy="2148840"/>
          </a:xfrm>
          <a:prstGeom prst="roundRect">
            <a:avLst>
              <a:gd name="adj" fmla="val 3404"/>
            </a:avLst>
          </a:prstGeom>
          <a:solidFill>
            <a:srgbClr val="141A45"/>
          </a:solidFill>
          <a:ln/>
        </p:spPr>
      </p:sp>
      <p:sp>
        <p:nvSpPr>
          <p:cNvPr id="4" name="Text 2"/>
          <p:cNvSpPr/>
          <p:nvPr/>
        </p:nvSpPr>
        <p:spPr>
          <a:xfrm>
            <a:off x="960120" y="1691640"/>
            <a:ext cx="4572000" cy="274320"/>
          </a:xfrm>
          <a:prstGeom prst="rect">
            <a:avLst/>
          </a:prstGeom>
          <a:noFill/>
          <a:ln/>
        </p:spPr>
        <p:txBody>
          <a:bodyPr wrap="square" lIns="0" tIns="0" rIns="0" bIns="0" rtlCol="0" anchor="ctr"/>
          <a:lstStyle/>
          <a:p>
            <a:pPr marL="0" indent="0">
              <a:buNone/>
            </a:pPr>
            <a:r>
              <a:rPr lang="en-US" sz="1100" b="1" kern="0" spc="150" dirty="0">
                <a:solidFill>
                  <a:srgbClr val="CADCFC"/>
                </a:solidFill>
                <a:latin typeface="Calibri" pitchFamily="34" charset="0"/>
                <a:ea typeface="Calibri" pitchFamily="34" charset="-122"/>
                <a:cs typeface="Calibri" pitchFamily="34" charset="-120"/>
              </a:rPr>
              <a:t>IN THE LEGAL FOLDER</a:t>
            </a:r>
            <a:endParaRPr lang="en-US" sz="1100" dirty="0"/>
          </a:p>
        </p:txBody>
      </p:sp>
      <p:sp>
        <p:nvSpPr>
          <p:cNvPr id="5" name="Text 3"/>
          <p:cNvSpPr/>
          <p:nvPr/>
        </p:nvSpPr>
        <p:spPr>
          <a:xfrm>
            <a:off x="960120" y="2057400"/>
            <a:ext cx="4572000" cy="12801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"Customer may terminate this Agreement upon thirty (30) days written notice" — on a change of control</a:t>
            </a:r>
            <a:endParaRPr lang="en-US" sz="1500" dirty="0"/>
          </a:p>
        </p:txBody>
      </p:sp>
      <p:sp>
        <p:nvSpPr>
          <p:cNvPr id="6" name="Shape 4"/>
          <p:cNvSpPr/>
          <p:nvPr/>
        </p:nvSpPr>
        <p:spPr>
          <a:xfrm>
            <a:off x="6309360" y="1463040"/>
            <a:ext cx="5212080" cy="2148840"/>
          </a:xfrm>
          <a:prstGeom prst="roundRect">
            <a:avLst>
              <a:gd name="adj" fmla="val 3404"/>
            </a:avLst>
          </a:prstGeom>
          <a:solidFill>
            <a:srgbClr val="141A45"/>
          </a:solidFill>
          <a:ln/>
        </p:spPr>
      </p:sp>
      <p:sp>
        <p:nvSpPr>
          <p:cNvPr id="7" name="Text 5"/>
          <p:cNvSpPr/>
          <p:nvPr/>
        </p:nvSpPr>
        <p:spPr>
          <a:xfrm>
            <a:off x="6629400" y="1691640"/>
            <a:ext cx="4572000" cy="274320"/>
          </a:xfrm>
          <a:prstGeom prst="rect">
            <a:avLst/>
          </a:prstGeom>
          <a:noFill/>
          <a:ln/>
        </p:spPr>
        <p:txBody>
          <a:bodyPr wrap="square" lIns="0" tIns="0" rIns="0" bIns="0" rtlCol="0" anchor="ctr"/>
          <a:lstStyle/>
          <a:p>
            <a:pPr marL="0" indent="0">
              <a:buNone/>
            </a:pPr>
            <a:r>
              <a:rPr lang="en-US" sz="1100" b="1" kern="0" spc="150" dirty="0">
                <a:solidFill>
                  <a:srgbClr val="CADCFC"/>
                </a:solidFill>
                <a:latin typeface="Calibri" pitchFamily="34" charset="0"/>
                <a:ea typeface="Calibri" pitchFamily="34" charset="-122"/>
                <a:cs typeface="Calibri" pitchFamily="34" charset="-120"/>
              </a:rPr>
              <a:t>IN THE FINANCIAL FOLDER</a:t>
            </a:r>
            <a:endParaRPr lang="en-US" sz="1100" dirty="0"/>
          </a:p>
        </p:txBody>
      </p:sp>
      <p:sp>
        <p:nvSpPr>
          <p:cNvPr id="8" name="Text 6"/>
          <p:cNvSpPr/>
          <p:nvPr/>
        </p:nvSpPr>
        <p:spPr>
          <a:xfrm>
            <a:off x="6629400" y="2057400"/>
            <a:ext cx="4572000" cy="12801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"TitanRetail Group... representing 43% of total revenue"</a:t>
            </a:r>
            <a:endParaRPr lang="en-US" sz="1500" dirty="0"/>
          </a:p>
        </p:txBody>
      </p:sp>
      <p:sp>
        <p:nvSpPr>
          <p:cNvPr id="9" name="Text 7"/>
          <p:cNvSpPr/>
          <p:nvPr/>
        </p:nvSpPr>
        <p:spPr>
          <a:xfrm>
            <a:off x="640080" y="3977640"/>
            <a:ext cx="10881360" cy="411480"/>
          </a:xfrm>
          <a:prstGeom prst="rect">
            <a:avLst/>
          </a:prstGeom>
          <a:noFill/>
          <a:ln/>
        </p:spPr>
        <p:txBody>
          <a:bodyPr wrap="square" lIns="0" tIns="0" rIns="0" bIns="0" rtlCol="0" anchor="ctr"/>
          <a:lstStyle/>
          <a:p>
            <a:pPr marL="0" indent="0" algn="ctr">
              <a:buNone/>
            </a:pPr>
            <a:r>
              <a:rPr lang="en-US" sz="1800" dirty="0">
                <a:solidFill>
                  <a:srgbClr val="CADCFC"/>
                </a:solidFill>
                <a:latin typeface="Calibri" pitchFamily="34" charset="0"/>
                <a:ea typeface="Calibri" pitchFamily="34" charset="-122"/>
                <a:cs typeface="Calibri" pitchFamily="34" charset="-120"/>
              </a:rPr>
              <a:t>Neither is alarming alone.</a:t>
            </a:r>
            <a:endParaRPr lang="en-US" sz="1800" dirty="0"/>
          </a:p>
        </p:txBody>
      </p:sp>
      <p:sp>
        <p:nvSpPr>
          <p:cNvPr id="10" name="Shape 8"/>
          <p:cNvSpPr/>
          <p:nvPr/>
        </p:nvSpPr>
        <p:spPr>
          <a:xfrm>
            <a:off x="2011680" y="4572000"/>
            <a:ext cx="8138160" cy="1234440"/>
          </a:xfrm>
          <a:prstGeom prst="roundRect">
            <a:avLst>
              <a:gd name="adj" fmla="val 5926"/>
            </a:avLst>
          </a:prstGeom>
          <a:solidFill>
            <a:srgbClr val="E8A33D"/>
          </a:solidFill>
          <a:ln/>
        </p:spPr>
      </p:sp>
      <p:sp>
        <p:nvSpPr>
          <p:cNvPr id="11" name="Text 9"/>
          <p:cNvSpPr/>
          <p:nvPr/>
        </p:nvSpPr>
        <p:spPr>
          <a:xfrm>
            <a:off x="2011680" y="4572000"/>
            <a:ext cx="8138160" cy="1234440"/>
          </a:xfrm>
          <a:prstGeom prst="rect">
            <a:avLst/>
          </a:prstGeom>
          <a:noFill/>
          <a:ln/>
        </p:spPr>
        <p:txBody>
          <a:bodyPr wrap="square" lIns="0" tIns="0" rIns="0" bIns="0" rtlCol="0" anchor="ctr"/>
          <a:lstStyle/>
          <a:p>
            <a:pPr marL="0" indent="0" algn="ctr">
              <a:buNone/>
            </a:pPr>
            <a:r>
              <a:rPr lang="en-US" sz="2500" b="1" dirty="0">
                <a:solidFill>
                  <a:srgbClr val="141A45"/>
                </a:solidFill>
                <a:latin typeface="Cambria" pitchFamily="34" charset="0"/>
                <a:ea typeface="Cambria" pitchFamily="34" charset="-122"/>
                <a:cs typeface="Cambria" pitchFamily="34" charset="-120"/>
              </a:rPr>
              <a:t>Buying this company destroys 43% of its revenue.</a:t>
            </a:r>
            <a:endParaRPr lang="en-US" sz="2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Why the obvious design fails</a:t>
            </a:r>
            <a:endParaRPr lang="en-US" sz="3400" dirty="0"/>
          </a:p>
        </p:txBody>
      </p:sp>
      <p:sp>
        <p:nvSpPr>
          <p:cNvPr id="4" name="Text 2"/>
          <p:cNvSpPr/>
          <p:nvPr/>
        </p:nvSpPr>
        <p:spPr>
          <a:xfrm>
            <a:off x="640080" y="1737360"/>
            <a:ext cx="10881360" cy="320040"/>
          </a:xfrm>
          <a:prstGeom prst="rect">
            <a:avLst/>
          </a:prstGeom>
          <a:noFill/>
          <a:ln/>
        </p:spPr>
        <p:txBody>
          <a:bodyPr wrap="square" lIns="0" tIns="0" rIns="0" bIns="0" rtlCol="0" anchor="ctr"/>
          <a:lstStyle/>
          <a:p>
            <a:pPr marL="0" indent="0">
              <a:buNone/>
            </a:pPr>
            <a:r>
              <a:rPr lang="en-US" sz="1500" dirty="0">
                <a:solidFill>
                  <a:srgbClr val="5A6280"/>
                </a:solidFill>
                <a:latin typeface="Calibri" pitchFamily="34" charset="0"/>
                <a:ea typeface="Calibri" pitchFamily="34" charset="-122"/>
                <a:cs typeface="Calibri" pitchFamily="34" charset="-120"/>
              </a:rPr>
              <a:t>The approach my brief suggested — one agent per document type:</a:t>
            </a:r>
            <a:endParaRPr lang="en-US" sz="1500" dirty="0"/>
          </a:p>
        </p:txBody>
      </p:sp>
      <p:sp>
        <p:nvSpPr>
          <p:cNvPr id="5" name="Shape 3"/>
          <p:cNvSpPr/>
          <p:nvPr/>
        </p:nvSpPr>
        <p:spPr>
          <a:xfrm>
            <a:off x="640080" y="2240280"/>
            <a:ext cx="2377440" cy="1143000"/>
          </a:xfrm>
          <a:prstGeom prst="roundRect">
            <a:avLst>
              <a:gd name="adj" fmla="val 6400"/>
            </a:avLst>
          </a:prstGeom>
          <a:solidFill>
            <a:srgbClr val="F7F9FD"/>
          </a:solidFill>
          <a:ln w="12700">
            <a:solidFill>
              <a:srgbClr val="CADCFC"/>
            </a:solidFill>
            <a:prstDash val="solid"/>
          </a:ln>
        </p:spPr>
      </p:sp>
      <p:sp>
        <p:nvSpPr>
          <p:cNvPr id="6" name="Text 4"/>
          <p:cNvSpPr/>
          <p:nvPr/>
        </p:nvSpPr>
        <p:spPr>
          <a:xfrm>
            <a:off x="6400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Legal</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7" name="Shape 5"/>
          <p:cNvSpPr/>
          <p:nvPr/>
        </p:nvSpPr>
        <p:spPr>
          <a:xfrm>
            <a:off x="3383280" y="2240280"/>
            <a:ext cx="2377440" cy="1143000"/>
          </a:xfrm>
          <a:prstGeom prst="roundRect">
            <a:avLst>
              <a:gd name="adj" fmla="val 6400"/>
            </a:avLst>
          </a:prstGeom>
          <a:solidFill>
            <a:srgbClr val="F7F9FD"/>
          </a:solidFill>
          <a:ln w="12700">
            <a:solidFill>
              <a:srgbClr val="CADCFC"/>
            </a:solidFill>
            <a:prstDash val="solid"/>
          </a:ln>
        </p:spPr>
      </p:sp>
      <p:sp>
        <p:nvSpPr>
          <p:cNvPr id="8" name="Text 6"/>
          <p:cNvSpPr/>
          <p:nvPr/>
        </p:nvSpPr>
        <p:spPr>
          <a:xfrm>
            <a:off x="33832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Financial</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9" name="Shape 7"/>
          <p:cNvSpPr/>
          <p:nvPr/>
        </p:nvSpPr>
        <p:spPr>
          <a:xfrm>
            <a:off x="6126480" y="2240280"/>
            <a:ext cx="2377440" cy="1143000"/>
          </a:xfrm>
          <a:prstGeom prst="roundRect">
            <a:avLst>
              <a:gd name="adj" fmla="val 6400"/>
            </a:avLst>
          </a:prstGeom>
          <a:solidFill>
            <a:srgbClr val="F7F9FD"/>
          </a:solidFill>
          <a:ln w="12700">
            <a:solidFill>
              <a:srgbClr val="CADCFC"/>
            </a:solidFill>
            <a:prstDash val="solid"/>
          </a:ln>
        </p:spPr>
      </p:sp>
      <p:sp>
        <p:nvSpPr>
          <p:cNvPr id="10" name="Text 8"/>
          <p:cNvSpPr/>
          <p:nvPr/>
        </p:nvSpPr>
        <p:spPr>
          <a:xfrm>
            <a:off x="61264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Compliance</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1" name="Shape 9"/>
          <p:cNvSpPr/>
          <p:nvPr/>
        </p:nvSpPr>
        <p:spPr>
          <a:xfrm>
            <a:off x="8869680" y="2240280"/>
            <a:ext cx="2377440" cy="1143000"/>
          </a:xfrm>
          <a:prstGeom prst="roundRect">
            <a:avLst>
              <a:gd name="adj" fmla="val 6400"/>
            </a:avLst>
          </a:prstGeom>
          <a:solidFill>
            <a:srgbClr val="F7F9FD"/>
          </a:solidFill>
          <a:ln w="12700">
            <a:solidFill>
              <a:srgbClr val="CADCFC"/>
            </a:solidFill>
            <a:prstDash val="solid"/>
          </a:ln>
        </p:spPr>
      </p:sp>
      <p:sp>
        <p:nvSpPr>
          <p:cNvPr id="12" name="Text 10"/>
          <p:cNvSpPr/>
          <p:nvPr/>
        </p:nvSpPr>
        <p:spPr>
          <a:xfrm>
            <a:off x="88696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Operations</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3" name="Text 11"/>
          <p:cNvSpPr/>
          <p:nvPr/>
        </p:nvSpPr>
        <p:spPr>
          <a:xfrm>
            <a:off x="640080" y="3794760"/>
            <a:ext cx="10881360" cy="457200"/>
          </a:xfrm>
          <a:prstGeom prst="rect">
            <a:avLst/>
          </a:prstGeom>
          <a:noFill/>
          <a:ln/>
        </p:spPr>
        <p:txBody>
          <a:bodyPr wrap="square" lIns="0" tIns="0" rIns="0" bIns="0" rtlCol="0" anchor="ctr"/>
          <a:lstStyle/>
          <a:p>
            <a:pPr marL="0" indent="0">
              <a:buNone/>
            </a:pPr>
            <a:r>
              <a:rPr lang="en-US" sz="2600" b="1" dirty="0">
                <a:solidFill>
                  <a:srgbClr val="B03A3A"/>
                </a:solidFill>
                <a:latin typeface="Cambria" pitchFamily="34" charset="0"/>
                <a:ea typeface="Cambria" pitchFamily="34" charset="-122"/>
                <a:cs typeface="Cambria" pitchFamily="34" charset="-120"/>
              </a:rPr>
              <a:t>This is an org chart, not an architecture.</a:t>
            </a:r>
            <a:endParaRPr lang="en-US" sz="2600" dirty="0"/>
          </a:p>
        </p:txBody>
      </p:sp>
      <p:sp>
        <p:nvSpPr>
          <p:cNvPr id="14" name="Text 12"/>
          <p:cNvSpPr/>
          <p:nvPr/>
        </p:nvSpPr>
        <p:spPr>
          <a:xfrm>
            <a:off x="640080" y="4389120"/>
            <a:ext cx="10515600" cy="822960"/>
          </a:xfrm>
          <a:prstGeom prst="rect">
            <a:avLst/>
          </a:prstGeom>
          <a:noFill/>
          <a:ln/>
        </p:spPr>
        <p:txBody>
          <a:bodyPr wrap="square" lIns="0" tIns="0" rIns="0" bIns="0" rtlCol="0" anchor="ctr"/>
          <a:lstStyle/>
          <a:p>
            <a:pPr marL="0" indent="0">
              <a:buNone/>
            </a:pPr>
            <a:r>
              <a:rPr lang="en-US" sz="1600" dirty="0">
                <a:solidFill>
                  <a:srgbClr val="1A1A2E"/>
                </a:solidFill>
                <a:latin typeface="Calibri" pitchFamily="34" charset="0"/>
                <a:ea typeface="Calibri" pitchFamily="34" charset="-122"/>
                <a:cs typeface="Calibri" pitchFamily="34" charset="-120"/>
              </a:rPr>
              <a:t>The finding lives between two agents' contexts. Neither one owns it. Both file clean reports, and the deal closes with the problem intact.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FIX</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Agents work over a shared store</a:t>
            </a:r>
            <a:endParaRPr lang="en-US" sz="3400" dirty="0"/>
          </a:p>
        </p:txBody>
      </p:sp>
      <p:sp>
        <p:nvSpPr>
          <p:cNvPr id="4" name="Shape 2"/>
          <p:cNvSpPr/>
          <p:nvPr/>
        </p:nvSpPr>
        <p:spPr>
          <a:xfrm>
            <a:off x="640080" y="1691640"/>
            <a:ext cx="6035040" cy="566928"/>
          </a:xfrm>
          <a:prstGeom prst="roundRect">
            <a:avLst>
              <a:gd name="adj" fmla="val 9677"/>
            </a:avLst>
          </a:prstGeom>
          <a:solidFill>
            <a:srgbClr val="F7F9FD"/>
          </a:solidFill>
          <a:ln w="12700">
            <a:solidFill>
              <a:srgbClr val="CADCFC"/>
            </a:solidFill>
            <a:prstDash val="solid"/>
          </a:ln>
        </p:spPr>
      </p:sp>
      <p:sp>
        <p:nvSpPr>
          <p:cNvPr id="5" name="Text 3"/>
          <p:cNvSpPr/>
          <p:nvPr/>
        </p:nvSpPr>
        <p:spPr>
          <a:xfrm>
            <a:off x="640080" y="1691640"/>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Documents</a:t>
            </a:r>
            <a:endParaRPr lang="en-US" sz="1300" dirty="0"/>
          </a:p>
        </p:txBody>
      </p:sp>
      <p:sp>
        <p:nvSpPr>
          <p:cNvPr id="6" name="Text 4"/>
          <p:cNvSpPr/>
          <p:nvPr/>
        </p:nvSpPr>
        <p:spPr>
          <a:xfrm>
            <a:off x="3383280" y="2258568"/>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40080" y="2478024"/>
            <a:ext cx="6035040" cy="566928"/>
          </a:xfrm>
          <a:prstGeom prst="roundRect">
            <a:avLst>
              <a:gd name="adj" fmla="val 9677"/>
            </a:avLst>
          </a:prstGeom>
          <a:solidFill>
            <a:srgbClr val="F7F9FD"/>
          </a:solidFill>
          <a:ln w="12700">
            <a:solidFill>
              <a:srgbClr val="CADCFC"/>
            </a:solidFill>
            <a:prstDash val="solid"/>
          </a:ln>
        </p:spPr>
      </p:sp>
      <p:sp>
        <p:nvSpPr>
          <p:cNvPr id="8" name="Text 6"/>
          <p:cNvSpPr/>
          <p:nvPr/>
        </p:nvSpPr>
        <p:spPr>
          <a:xfrm>
            <a:off x="640080" y="2478024"/>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Typed claims</a:t>
            </a:r>
            <a:endParaRPr lang="en-US" sz="1300" dirty="0"/>
          </a:p>
          <a:p>
            <a:pPr marL="0" indent="0" algn="ctr">
              <a:buNone/>
            </a:pPr>
            <a:r>
              <a:rPr lang="en-US" sz="1300" b="1" dirty="0">
                <a:solidFill>
                  <a:srgbClr val="1E2761"/>
                </a:solidFill>
                <a:latin typeface="Calibri" pitchFamily="34" charset="0"/>
                <a:ea typeface="Calibri" pitchFamily="34" charset="-122"/>
                <a:cs typeface="Calibri" pitchFamily="34" charset="-120"/>
              </a:rPr>
              <a:t>with citations</a:t>
            </a:r>
            <a:endParaRPr lang="en-US" sz="1300" dirty="0"/>
          </a:p>
        </p:txBody>
      </p:sp>
      <p:sp>
        <p:nvSpPr>
          <p:cNvPr id="9" name="Text 7"/>
          <p:cNvSpPr/>
          <p:nvPr/>
        </p:nvSpPr>
        <p:spPr>
          <a:xfrm>
            <a:off x="3383280" y="3044952"/>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3264408"/>
            <a:ext cx="6035040" cy="566928"/>
          </a:xfrm>
          <a:prstGeom prst="roundRect">
            <a:avLst>
              <a:gd name="adj" fmla="val 9677"/>
            </a:avLst>
          </a:prstGeom>
          <a:solidFill>
            <a:srgbClr val="CADCFC"/>
          </a:solidFill>
          <a:ln w="12700">
            <a:solidFill>
              <a:srgbClr val="CADCFC"/>
            </a:solidFill>
            <a:prstDash val="solid"/>
          </a:ln>
        </p:spPr>
      </p:sp>
      <p:sp>
        <p:nvSpPr>
          <p:cNvPr id="11" name="Text 9"/>
          <p:cNvSpPr/>
          <p:nvPr/>
        </p:nvSpPr>
        <p:spPr>
          <a:xfrm>
            <a:off x="640080" y="3264408"/>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Shared evidence store</a:t>
            </a:r>
            <a:endParaRPr lang="en-US" sz="1300" dirty="0"/>
          </a:p>
        </p:txBody>
      </p:sp>
      <p:sp>
        <p:nvSpPr>
          <p:cNvPr id="12" name="Text 10"/>
          <p:cNvSpPr/>
          <p:nvPr/>
        </p:nvSpPr>
        <p:spPr>
          <a:xfrm>
            <a:off x="3383280" y="3831336"/>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3" name="Shape 11"/>
          <p:cNvSpPr/>
          <p:nvPr/>
        </p:nvSpPr>
        <p:spPr>
          <a:xfrm>
            <a:off x="640080" y="4050792"/>
            <a:ext cx="6035040" cy="566928"/>
          </a:xfrm>
          <a:prstGeom prst="roundRect">
            <a:avLst>
              <a:gd name="adj" fmla="val 9677"/>
            </a:avLst>
          </a:prstGeom>
          <a:solidFill>
            <a:srgbClr val="F7F9FD"/>
          </a:solidFill>
          <a:ln w="12700">
            <a:solidFill>
              <a:srgbClr val="CADCFC"/>
            </a:solidFill>
            <a:prstDash val="solid"/>
          </a:ln>
        </p:spPr>
      </p:sp>
      <p:sp>
        <p:nvSpPr>
          <p:cNvPr id="14" name="Text 12"/>
          <p:cNvSpPr/>
          <p:nvPr/>
        </p:nvSpPr>
        <p:spPr>
          <a:xfrm>
            <a:off x="640080" y="4050792"/>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Detectors read</a:t>
            </a:r>
            <a:endParaRPr lang="en-US" sz="1300" dirty="0"/>
          </a:p>
          <a:p>
            <a:pPr marL="0" indent="0" algn="ctr">
              <a:buNone/>
            </a:pPr>
            <a:r>
              <a:rPr lang="en-US" sz="1300" b="1" dirty="0">
                <a:solidFill>
                  <a:srgbClr val="1E2761"/>
                </a:solidFill>
                <a:latin typeface="Calibri" pitchFamily="34" charset="0"/>
                <a:ea typeface="Calibri" pitchFamily="34" charset="-122"/>
                <a:cs typeface="Calibri" pitchFamily="34" charset="-120"/>
              </a:rPr>
              <a:t>across all documents</a:t>
            </a:r>
            <a:endParaRPr lang="en-US" sz="1300" dirty="0"/>
          </a:p>
        </p:txBody>
      </p:sp>
      <p:sp>
        <p:nvSpPr>
          <p:cNvPr id="15" name="Text 13"/>
          <p:cNvSpPr/>
          <p:nvPr/>
        </p:nvSpPr>
        <p:spPr>
          <a:xfrm>
            <a:off x="3383280" y="4617720"/>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640080" y="4837176"/>
            <a:ext cx="6035040" cy="566928"/>
          </a:xfrm>
          <a:prstGeom prst="roundRect">
            <a:avLst>
              <a:gd name="adj" fmla="val 9677"/>
            </a:avLst>
          </a:prstGeom>
          <a:solidFill>
            <a:srgbClr val="F7F9FD"/>
          </a:solidFill>
          <a:ln w="12700">
            <a:solidFill>
              <a:srgbClr val="CADCFC"/>
            </a:solidFill>
            <a:prstDash val="solid"/>
          </a:ln>
        </p:spPr>
      </p:sp>
      <p:sp>
        <p:nvSpPr>
          <p:cNvPr id="17" name="Text 15"/>
          <p:cNvSpPr/>
          <p:nvPr/>
        </p:nvSpPr>
        <p:spPr>
          <a:xfrm>
            <a:off x="640080" y="4837176"/>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Adversarial review</a:t>
            </a:r>
            <a:endParaRPr lang="en-US" sz="1300" dirty="0"/>
          </a:p>
        </p:txBody>
      </p:sp>
      <p:sp>
        <p:nvSpPr>
          <p:cNvPr id="18" name="Text 16"/>
          <p:cNvSpPr/>
          <p:nvPr/>
        </p:nvSpPr>
        <p:spPr>
          <a:xfrm>
            <a:off x="3383280" y="5404104"/>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640080" y="5623560"/>
            <a:ext cx="6035040" cy="566928"/>
          </a:xfrm>
          <a:prstGeom prst="roundRect">
            <a:avLst>
              <a:gd name="adj" fmla="val 9677"/>
            </a:avLst>
          </a:prstGeom>
          <a:solidFill>
            <a:srgbClr val="1E2761"/>
          </a:solidFill>
          <a:ln w="12700">
            <a:solidFill>
              <a:srgbClr val="1E2761"/>
            </a:solidFill>
            <a:prstDash val="solid"/>
          </a:ln>
        </p:spPr>
      </p:sp>
      <p:sp>
        <p:nvSpPr>
          <p:cNvPr id="20" name="Text 18"/>
          <p:cNvSpPr/>
          <p:nvPr/>
        </p:nvSpPr>
        <p:spPr>
          <a:xfrm>
            <a:off x="640080" y="5623560"/>
            <a:ext cx="6035040"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Cited memo</a:t>
            </a:r>
            <a:endParaRPr lang="en-US" sz="1300" dirty="0"/>
          </a:p>
        </p:txBody>
      </p:sp>
      <p:sp>
        <p:nvSpPr>
          <p:cNvPr id="21" name="Text 19"/>
          <p:cNvSpPr/>
          <p:nvPr/>
        </p:nvSpPr>
        <p:spPr>
          <a:xfrm>
            <a:off x="7132320" y="2103120"/>
            <a:ext cx="4389120" cy="41148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Not owners of a folder.</a:t>
            </a:r>
            <a:endParaRPr lang="en-US" sz="2200" dirty="0"/>
          </a:p>
        </p:txBody>
      </p:sp>
      <p:sp>
        <p:nvSpPr>
          <p:cNvPr id="22" name="Text 20"/>
          <p:cNvSpPr/>
          <p:nvPr/>
        </p:nvSpPr>
        <p:spPr>
          <a:xfrm>
            <a:off x="7132320" y="2697480"/>
            <a:ext cx="4389120" cy="2926080"/>
          </a:xfrm>
          <a:prstGeom prst="rect">
            <a:avLst/>
          </a:prstGeom>
          <a:noFill/>
          <a:ln/>
        </p:spPr>
        <p:txBody>
          <a:bodyPr wrap="square" lIns="0" tIns="0" rIns="0" bIns="0" rtlCol="0" anchor="ctr"/>
          <a:lstStyle/>
          <a:p>
            <a:pPr marL="0" indent="0">
              <a:buNone/>
            </a:pPr>
            <a:r>
              <a:rPr lang="en-US" sz="1400" dirty="0">
                <a:solidFill>
                  <a:srgbClr val="1A1A2E"/>
                </a:solidFill>
                <a:latin typeface="Calibri" pitchFamily="34" charset="0"/>
                <a:ea typeface="Calibri" pitchFamily="34" charset="-122"/>
                <a:cs typeface="Calibri" pitchFamily="34" charset="-120"/>
              </a:rPr>
              <a:t>Every agent writes typed claims into one place. The tension detector then reads every claim about one company — whichever document it came from — and asks what conflicts.</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An agent can reason about documents it never read.</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That inversion is the architecture.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TEAM</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Ten agents. Five use a model.</a:t>
            </a:r>
            <a:endParaRPr lang="en-US" sz="3400" dirty="0"/>
          </a:p>
        </p:txBody>
      </p:sp>
      <p:sp>
        <p:nvSpPr>
          <p:cNvPr id="4" name="Text 2"/>
          <p:cNvSpPr/>
          <p:nvPr/>
        </p:nvSpPr>
        <p:spPr>
          <a:xfrm>
            <a:off x="640080" y="1691640"/>
            <a:ext cx="5120640" cy="274320"/>
          </a:xfrm>
          <a:prstGeom prst="rect">
            <a:avLst/>
          </a:prstGeom>
          <a:noFill/>
          <a:ln/>
        </p:spPr>
        <p:txBody>
          <a:bodyPr wrap="square" lIns="0" tIns="0" rIns="0" bIns="0" rtlCol="0" anchor="ctr"/>
          <a:lstStyle/>
          <a:p>
            <a:pPr marL="0" indent="0">
              <a:buNone/>
            </a:pPr>
            <a:r>
              <a:rPr lang="en-US" sz="1100" b="1" kern="0" spc="150" dirty="0">
                <a:solidFill>
                  <a:srgbClr val="1E2761"/>
                </a:solidFill>
                <a:latin typeface="Calibri" pitchFamily="34" charset="0"/>
                <a:ea typeface="Calibri" pitchFamily="34" charset="-122"/>
                <a:cs typeface="Calibri" pitchFamily="34" charset="-120"/>
              </a:rPr>
              <a:t>USING A LANGUAGE MODEL</a:t>
            </a:r>
            <a:endParaRPr lang="en-US" sz="1100" dirty="0"/>
          </a:p>
        </p:txBody>
      </p:sp>
      <p:sp>
        <p:nvSpPr>
          <p:cNvPr id="5" name="Shape 3"/>
          <p:cNvSpPr/>
          <p:nvPr/>
        </p:nvSpPr>
        <p:spPr>
          <a:xfrm>
            <a:off x="640080" y="2185416"/>
            <a:ext cx="146304" cy="146304"/>
          </a:xfrm>
          <a:prstGeom prst="ellipse">
            <a:avLst/>
          </a:prstGeom>
          <a:solidFill>
            <a:srgbClr val="E8A33D"/>
          </a:solidFill>
          <a:ln/>
        </p:spPr>
      </p:sp>
      <p:sp>
        <p:nvSpPr>
          <p:cNvPr id="6" name="Text 4"/>
          <p:cNvSpPr/>
          <p:nvPr/>
        </p:nvSpPr>
        <p:spPr>
          <a:xfrm>
            <a:off x="950976" y="2103120"/>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Document Classifier</a:t>
            </a:r>
            <a:endParaRPr lang="en-US" sz="1500" dirty="0"/>
          </a:p>
        </p:txBody>
      </p:sp>
      <p:sp>
        <p:nvSpPr>
          <p:cNvPr id="7" name="Text 5"/>
          <p:cNvSpPr/>
          <p:nvPr/>
        </p:nvSpPr>
        <p:spPr>
          <a:xfrm>
            <a:off x="950976" y="2386584"/>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Reads the text, not the filename</a:t>
            </a:r>
            <a:endParaRPr lang="en-US" sz="1200" dirty="0"/>
          </a:p>
        </p:txBody>
      </p:sp>
      <p:sp>
        <p:nvSpPr>
          <p:cNvPr id="8" name="Shape 6"/>
          <p:cNvSpPr/>
          <p:nvPr/>
        </p:nvSpPr>
        <p:spPr>
          <a:xfrm>
            <a:off x="640080" y="2898648"/>
            <a:ext cx="146304" cy="146304"/>
          </a:xfrm>
          <a:prstGeom prst="ellipse">
            <a:avLst/>
          </a:prstGeom>
          <a:solidFill>
            <a:srgbClr val="E8A33D"/>
          </a:solidFill>
          <a:ln/>
        </p:spPr>
      </p:sp>
      <p:sp>
        <p:nvSpPr>
          <p:cNvPr id="9" name="Text 7"/>
          <p:cNvSpPr/>
          <p:nvPr/>
        </p:nvSpPr>
        <p:spPr>
          <a:xfrm>
            <a:off x="950976" y="2816352"/>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Claim Extractor</a:t>
            </a:r>
            <a:endParaRPr lang="en-US" sz="1500" dirty="0"/>
          </a:p>
        </p:txBody>
      </p:sp>
      <p:sp>
        <p:nvSpPr>
          <p:cNvPr id="10" name="Text 8"/>
          <p:cNvSpPr/>
          <p:nvPr/>
        </p:nvSpPr>
        <p:spPr>
          <a:xfrm>
            <a:off x="950976" y="3099816"/>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Typed claims, parallel per document</a:t>
            </a:r>
            <a:endParaRPr lang="en-US" sz="1200" dirty="0"/>
          </a:p>
        </p:txBody>
      </p:sp>
      <p:sp>
        <p:nvSpPr>
          <p:cNvPr id="11" name="Shape 9"/>
          <p:cNvSpPr/>
          <p:nvPr/>
        </p:nvSpPr>
        <p:spPr>
          <a:xfrm>
            <a:off x="640080" y="3611880"/>
            <a:ext cx="146304" cy="146304"/>
          </a:xfrm>
          <a:prstGeom prst="ellipse">
            <a:avLst/>
          </a:prstGeom>
          <a:solidFill>
            <a:srgbClr val="E8A33D"/>
          </a:solidFill>
          <a:ln/>
        </p:spPr>
      </p:sp>
      <p:sp>
        <p:nvSpPr>
          <p:cNvPr id="12" name="Text 10"/>
          <p:cNvSpPr/>
          <p:nvPr/>
        </p:nvSpPr>
        <p:spPr>
          <a:xfrm>
            <a:off x="950976" y="3529584"/>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Tension Detector</a:t>
            </a:r>
            <a:endParaRPr lang="en-US" sz="1500" dirty="0"/>
          </a:p>
        </p:txBody>
      </p:sp>
      <p:sp>
        <p:nvSpPr>
          <p:cNvPr id="13" name="Text 11"/>
          <p:cNvSpPr/>
          <p:nvPr/>
        </p:nvSpPr>
        <p:spPr>
          <a:xfrm>
            <a:off x="950976" y="3813048"/>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Contradictions across documents</a:t>
            </a:r>
            <a:endParaRPr lang="en-US" sz="1200" dirty="0"/>
          </a:p>
        </p:txBody>
      </p:sp>
      <p:sp>
        <p:nvSpPr>
          <p:cNvPr id="14" name="Shape 12"/>
          <p:cNvSpPr/>
          <p:nvPr/>
        </p:nvSpPr>
        <p:spPr>
          <a:xfrm>
            <a:off x="640080" y="4325112"/>
            <a:ext cx="146304" cy="146304"/>
          </a:xfrm>
          <a:prstGeom prst="ellipse">
            <a:avLst/>
          </a:prstGeom>
          <a:solidFill>
            <a:srgbClr val="E8A33D"/>
          </a:solidFill>
          <a:ln/>
        </p:spPr>
      </p:sp>
      <p:sp>
        <p:nvSpPr>
          <p:cNvPr id="15" name="Text 13"/>
          <p:cNvSpPr/>
          <p:nvPr/>
        </p:nvSpPr>
        <p:spPr>
          <a:xfrm>
            <a:off x="950976" y="4242816"/>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Red Team Critic</a:t>
            </a:r>
            <a:endParaRPr lang="en-US" sz="1500" dirty="0"/>
          </a:p>
        </p:txBody>
      </p:sp>
      <p:sp>
        <p:nvSpPr>
          <p:cNvPr id="16" name="Text 14"/>
          <p:cNvSpPr/>
          <p:nvPr/>
        </p:nvSpPr>
        <p:spPr>
          <a:xfrm>
            <a:off x="950976" y="4526280"/>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Tries to destroy every finding</a:t>
            </a:r>
            <a:endParaRPr lang="en-US" sz="1200" dirty="0"/>
          </a:p>
        </p:txBody>
      </p:sp>
      <p:sp>
        <p:nvSpPr>
          <p:cNvPr id="17" name="Shape 15"/>
          <p:cNvSpPr/>
          <p:nvPr/>
        </p:nvSpPr>
        <p:spPr>
          <a:xfrm>
            <a:off x="640080" y="5038344"/>
            <a:ext cx="146304" cy="146304"/>
          </a:xfrm>
          <a:prstGeom prst="ellipse">
            <a:avLst/>
          </a:prstGeom>
          <a:solidFill>
            <a:srgbClr val="E8A33D"/>
          </a:solidFill>
          <a:ln/>
        </p:spPr>
      </p:sp>
      <p:sp>
        <p:nvSpPr>
          <p:cNvPr id="18" name="Text 16"/>
          <p:cNvSpPr/>
          <p:nvPr/>
        </p:nvSpPr>
        <p:spPr>
          <a:xfrm>
            <a:off x="950976" y="4956048"/>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Materiality Scorer</a:t>
            </a:r>
            <a:endParaRPr lang="en-US" sz="1500" dirty="0"/>
          </a:p>
        </p:txBody>
      </p:sp>
      <p:sp>
        <p:nvSpPr>
          <p:cNvPr id="19" name="Text 17"/>
          <p:cNvSpPr/>
          <p:nvPr/>
        </p:nvSpPr>
        <p:spPr>
          <a:xfrm>
            <a:off x="950976" y="5239512"/>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Impact against deal size</a:t>
            </a:r>
            <a:endParaRPr lang="en-US" sz="1200" dirty="0"/>
          </a:p>
        </p:txBody>
      </p:sp>
      <p:sp>
        <p:nvSpPr>
          <p:cNvPr id="20" name="Text 18"/>
          <p:cNvSpPr/>
          <p:nvPr/>
        </p:nvSpPr>
        <p:spPr>
          <a:xfrm>
            <a:off x="6400800" y="1691640"/>
            <a:ext cx="5120640" cy="274320"/>
          </a:xfrm>
          <a:prstGeom prst="rect">
            <a:avLst/>
          </a:prstGeom>
          <a:noFill/>
          <a:ln/>
        </p:spPr>
        <p:txBody>
          <a:bodyPr wrap="square" lIns="0" tIns="0" rIns="0" bIns="0" rtlCol="0" anchor="ctr"/>
          <a:lstStyle/>
          <a:p>
            <a:pPr marL="0" indent="0">
              <a:buNone/>
            </a:pPr>
            <a:r>
              <a:rPr lang="en-US" sz="1100" b="1" kern="0" spc="150" dirty="0">
                <a:solidFill>
                  <a:srgbClr val="2E7D5B"/>
                </a:solidFill>
                <a:latin typeface="Calibri" pitchFamily="34" charset="0"/>
                <a:ea typeface="Calibri" pitchFamily="34" charset="-122"/>
                <a:cs typeface="Calibri" pitchFamily="34" charset="-120"/>
              </a:rPr>
              <a:t>DETERMINISTIC — NO MODEL</a:t>
            </a:r>
            <a:endParaRPr lang="en-US" sz="1100" dirty="0"/>
          </a:p>
        </p:txBody>
      </p:sp>
      <p:sp>
        <p:nvSpPr>
          <p:cNvPr id="21" name="Shape 19"/>
          <p:cNvSpPr/>
          <p:nvPr/>
        </p:nvSpPr>
        <p:spPr>
          <a:xfrm>
            <a:off x="6400800" y="2185416"/>
            <a:ext cx="146304" cy="146304"/>
          </a:xfrm>
          <a:prstGeom prst="ellipse">
            <a:avLst/>
          </a:prstGeom>
          <a:solidFill>
            <a:srgbClr val="2E7D5B"/>
          </a:solidFill>
          <a:ln/>
        </p:spPr>
      </p:sp>
      <p:sp>
        <p:nvSpPr>
          <p:cNvPr id="22" name="Text 20"/>
          <p:cNvSpPr/>
          <p:nvPr/>
        </p:nvSpPr>
        <p:spPr>
          <a:xfrm>
            <a:off x="6711696" y="2103120"/>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Entity Resolver</a:t>
            </a:r>
            <a:endParaRPr lang="en-US" sz="1500" dirty="0"/>
          </a:p>
        </p:txBody>
      </p:sp>
      <p:sp>
        <p:nvSpPr>
          <p:cNvPr id="23" name="Text 21"/>
          <p:cNvSpPr/>
          <p:nvPr/>
        </p:nvSpPr>
        <p:spPr>
          <a:xfrm>
            <a:off x="6711696" y="2386584"/>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Merges company name variants</a:t>
            </a:r>
            <a:endParaRPr lang="en-US" sz="1200" dirty="0"/>
          </a:p>
        </p:txBody>
      </p:sp>
      <p:sp>
        <p:nvSpPr>
          <p:cNvPr id="24" name="Shape 22"/>
          <p:cNvSpPr/>
          <p:nvPr/>
        </p:nvSpPr>
        <p:spPr>
          <a:xfrm>
            <a:off x="6400800" y="2898648"/>
            <a:ext cx="146304" cy="146304"/>
          </a:xfrm>
          <a:prstGeom prst="ellipse">
            <a:avLst/>
          </a:prstGeom>
          <a:solidFill>
            <a:srgbClr val="2E7D5B"/>
          </a:solidFill>
          <a:ln/>
        </p:spPr>
      </p:sp>
      <p:sp>
        <p:nvSpPr>
          <p:cNvPr id="25" name="Text 23"/>
          <p:cNvSpPr/>
          <p:nvPr/>
        </p:nvSpPr>
        <p:spPr>
          <a:xfrm>
            <a:off x="6711696" y="2816352"/>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Arithmetic Detector</a:t>
            </a:r>
            <a:endParaRPr lang="en-US" sz="1500" dirty="0"/>
          </a:p>
        </p:txBody>
      </p:sp>
      <p:sp>
        <p:nvSpPr>
          <p:cNvPr id="26" name="Text 24"/>
          <p:cNvSpPr/>
          <p:nvPr/>
        </p:nvSpPr>
        <p:spPr>
          <a:xfrm>
            <a:off x="6711696" y="3099816"/>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Reconciles totals to components</a:t>
            </a:r>
            <a:endParaRPr lang="en-US" sz="1200" dirty="0"/>
          </a:p>
        </p:txBody>
      </p:sp>
      <p:sp>
        <p:nvSpPr>
          <p:cNvPr id="27" name="Shape 25"/>
          <p:cNvSpPr/>
          <p:nvPr/>
        </p:nvSpPr>
        <p:spPr>
          <a:xfrm>
            <a:off x="6400800" y="3611880"/>
            <a:ext cx="146304" cy="146304"/>
          </a:xfrm>
          <a:prstGeom prst="ellipse">
            <a:avLst/>
          </a:prstGeom>
          <a:solidFill>
            <a:srgbClr val="2E7D5B"/>
          </a:solidFill>
          <a:ln/>
        </p:spPr>
      </p:sp>
      <p:sp>
        <p:nvSpPr>
          <p:cNvPr id="28" name="Text 26"/>
          <p:cNvSpPr/>
          <p:nvPr/>
        </p:nvSpPr>
        <p:spPr>
          <a:xfrm>
            <a:off x="6711696" y="3529584"/>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Temporal Detector</a:t>
            </a:r>
            <a:endParaRPr lang="en-US" sz="1500" dirty="0"/>
          </a:p>
        </p:txBody>
      </p:sp>
      <p:sp>
        <p:nvSpPr>
          <p:cNvPr id="29" name="Text 27"/>
          <p:cNvSpPr/>
          <p:nvPr/>
        </p:nvSpPr>
        <p:spPr>
          <a:xfrm>
            <a:off x="6711696" y="3813048"/>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Impossible date orderings</a:t>
            </a:r>
            <a:endParaRPr lang="en-US" sz="1200" dirty="0"/>
          </a:p>
        </p:txBody>
      </p:sp>
      <p:sp>
        <p:nvSpPr>
          <p:cNvPr id="30" name="Shape 28"/>
          <p:cNvSpPr/>
          <p:nvPr/>
        </p:nvSpPr>
        <p:spPr>
          <a:xfrm>
            <a:off x="6400800" y="4325112"/>
            <a:ext cx="146304" cy="146304"/>
          </a:xfrm>
          <a:prstGeom prst="ellipse">
            <a:avLst/>
          </a:prstGeom>
          <a:solidFill>
            <a:srgbClr val="2E7D5B"/>
          </a:solidFill>
          <a:ln/>
        </p:spPr>
      </p:sp>
      <p:sp>
        <p:nvSpPr>
          <p:cNvPr id="31" name="Text 29"/>
          <p:cNvSpPr/>
          <p:nvPr/>
        </p:nvSpPr>
        <p:spPr>
          <a:xfrm>
            <a:off x="6711696" y="4242816"/>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Gap Auditor</a:t>
            </a:r>
            <a:endParaRPr lang="en-US" sz="1500" dirty="0"/>
          </a:p>
        </p:txBody>
      </p:sp>
      <p:sp>
        <p:nvSpPr>
          <p:cNvPr id="32" name="Text 30"/>
          <p:cNvSpPr/>
          <p:nvPr/>
        </p:nvSpPr>
        <p:spPr>
          <a:xfrm>
            <a:off x="6711696" y="4526280"/>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Reports what is absent</a:t>
            </a:r>
            <a:endParaRPr lang="en-US" sz="1200" dirty="0"/>
          </a:p>
        </p:txBody>
      </p:sp>
      <p:sp>
        <p:nvSpPr>
          <p:cNvPr id="33" name="Shape 31"/>
          <p:cNvSpPr/>
          <p:nvPr/>
        </p:nvSpPr>
        <p:spPr>
          <a:xfrm>
            <a:off x="6400800" y="5038344"/>
            <a:ext cx="146304" cy="146304"/>
          </a:xfrm>
          <a:prstGeom prst="ellipse">
            <a:avLst/>
          </a:prstGeom>
          <a:solidFill>
            <a:srgbClr val="2E7D5B"/>
          </a:solidFill>
          <a:ln/>
        </p:spPr>
      </p:sp>
      <p:sp>
        <p:nvSpPr>
          <p:cNvPr id="34" name="Text 32"/>
          <p:cNvSpPr/>
          <p:nvPr/>
        </p:nvSpPr>
        <p:spPr>
          <a:xfrm>
            <a:off x="6711696" y="4956048"/>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Memo Composer</a:t>
            </a:r>
            <a:endParaRPr lang="en-US" sz="1500" dirty="0"/>
          </a:p>
        </p:txBody>
      </p:sp>
      <p:sp>
        <p:nvSpPr>
          <p:cNvPr id="35" name="Text 33"/>
          <p:cNvSpPr/>
          <p:nvPr/>
        </p:nvSpPr>
        <p:spPr>
          <a:xfrm>
            <a:off x="6711696" y="5239512"/>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Renders the ledger, adds nothing</a:t>
            </a:r>
            <a:endParaRPr lang="en-US" sz="1200" dirty="0"/>
          </a:p>
        </p:txBody>
      </p:sp>
      <p:sp>
        <p:nvSpPr>
          <p:cNvPr id="36" name="Text 34"/>
          <p:cNvSpPr/>
          <p:nvPr/>
        </p:nvSpPr>
        <p:spPr>
          <a:xfrm>
            <a:off x="640080" y="585216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Adding numbers is not judgement. Python is faster, free, and right every time.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PROVENANCE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The model never gets to invent a citation</a:t>
            </a:r>
            <a:endParaRPr lang="en-US" sz="3400" dirty="0"/>
          </a:p>
        </p:txBody>
      </p:sp>
      <p:sp>
        <p:nvSpPr>
          <p:cNvPr id="4" name="Shape 2"/>
          <p:cNvSpPr/>
          <p:nvPr/>
        </p:nvSpPr>
        <p:spPr>
          <a:xfrm>
            <a:off x="640080" y="1828800"/>
            <a:ext cx="5852160" cy="2651760"/>
          </a:xfrm>
          <a:prstGeom prst="roundRect">
            <a:avLst>
              <a:gd name="adj" fmla="val 2759"/>
            </a:avLst>
          </a:prstGeom>
          <a:solidFill>
            <a:srgbClr val="F7F9FD"/>
          </a:solidFill>
          <a:ln/>
        </p:spPr>
      </p:sp>
      <p:sp>
        <p:nvSpPr>
          <p:cNvPr id="5" name="Text 3"/>
          <p:cNvSpPr/>
          <p:nvPr/>
        </p:nvSpPr>
        <p:spPr>
          <a:xfrm>
            <a:off x="1005840" y="2148840"/>
            <a:ext cx="5120640" cy="2011680"/>
          </a:xfrm>
          <a:prstGeom prst="rect">
            <a:avLst/>
          </a:prstGeom>
          <a:noFill/>
          <a:ln/>
        </p:spPr>
        <p:txBody>
          <a:bodyPr wrap="square" lIns="0" tIns="0" rIns="0" bIns="0" rtlCol="0" anchor="ctr"/>
          <a:lstStyle/>
          <a:p>
            <a:pPr marL="0" indent="0">
              <a:buNone/>
            </a:pPr>
            <a:r>
              <a:rPr lang="en-US" sz="1500" dirty="0">
                <a:solidFill>
                  <a:srgbClr val="5A6280"/>
                </a:solidFill>
                <a:latin typeface="Courier New" pitchFamily="34" charset="0"/>
                <a:ea typeface="Courier New" pitchFamily="34" charset="-122"/>
                <a:cs typeface="Courier New" pitchFamily="34" charset="-120"/>
              </a:rPr>
              <a:t>Model returns:  </a:t>
            </a:r>
            <a:r>
              <a:rPr lang="en-US" sz="1500" b="1" dirty="0">
                <a:solidFill>
                  <a:srgbClr val="1E2761"/>
                </a:solidFill>
                <a:latin typeface="Courier New" pitchFamily="34" charset="0"/>
                <a:ea typeface="Courier New" pitchFamily="34" charset="-122"/>
                <a:cs typeface="Courier New" pitchFamily="34" charset="-120"/>
              </a:rPr>
              <a:t>"4,250,000"</a:t>
            </a:r>
            <a:endParaRPr lang="en-US" sz="1500" dirty="0"/>
          </a:p>
          <a:p>
            <a:pPr marL="0" indent="0">
              <a:buNone/>
            </a:pPr>
            <a:endParaRPr lang="en-US" sz="1500" dirty="0"/>
          </a:p>
          <a:p>
            <a:pPr marL="0" indent="0">
              <a:buNone/>
            </a:pPr>
            <a:r>
              <a:rPr lang="en-US" sz="1500" dirty="0">
                <a:solidFill>
                  <a:srgbClr val="5A6280"/>
                </a:solidFill>
                <a:latin typeface="Courier New" pitchFamily="34" charset="0"/>
                <a:ea typeface="Courier New" pitchFamily="34" charset="-122"/>
                <a:cs typeface="Courier New" pitchFamily="34" charset="-120"/>
              </a:rPr>
              <a:t>System runs:  </a:t>
            </a:r>
            <a:endParaRPr lang="en-US" sz="1500" dirty="0"/>
          </a:p>
          <a:p>
            <a:pPr marL="0" indent="0">
              <a:buNone/>
            </a:pPr>
            <a:r>
              <a:rPr lang="en-US" sz="1500" b="1" dirty="0">
                <a:solidFill>
                  <a:srgbClr val="1E2761"/>
                </a:solidFill>
                <a:latin typeface="Courier New" pitchFamily="34" charset="0"/>
                <a:ea typeface="Courier New" pitchFamily="34" charset="-122"/>
                <a:cs typeface="Courier New" pitchFamily="34" charset="-120"/>
              </a:rPr>
              <a:t>document.find("4,250,000")</a:t>
            </a:r>
            <a:endParaRPr lang="en-US" sz="1500" dirty="0"/>
          </a:p>
          <a:p>
            <a:pPr marL="0" indent="0">
              <a:buNone/>
            </a:pPr>
            <a:endParaRPr lang="en-US" sz="1500" dirty="0"/>
          </a:p>
          <a:p>
            <a:pPr marL="0" indent="0">
              <a:buNone/>
            </a:pPr>
            <a:r>
              <a:rPr lang="en-US" sz="1500" dirty="0">
                <a:solidFill>
                  <a:srgbClr val="5A6280"/>
                </a:solidFill>
                <a:latin typeface="Courier New" pitchFamily="34" charset="0"/>
                <a:ea typeface="Courier New" pitchFamily="34" charset="-122"/>
                <a:cs typeface="Courier New" pitchFamily="34" charset="-120"/>
              </a:rPr>
              <a:t>Not found?  </a:t>
            </a:r>
            <a:endParaRPr lang="en-US" sz="1500" dirty="0"/>
          </a:p>
          <a:p>
            <a:pPr marL="0" indent="0">
              <a:buNone/>
            </a:pPr>
            <a:r>
              <a:rPr lang="en-US" sz="1500" b="1" dirty="0">
                <a:solidFill>
                  <a:srgbClr val="B03A3A"/>
                </a:solidFill>
                <a:latin typeface="Courier New" pitchFamily="34" charset="0"/>
                <a:ea typeface="Courier New" pitchFamily="34" charset="-122"/>
                <a:cs typeface="Courier New" pitchFamily="34" charset="-120"/>
              </a:rPr>
              <a:t>claim discarded</a:t>
            </a:r>
            <a:endParaRPr lang="en-US" sz="1500" dirty="0"/>
          </a:p>
        </p:txBody>
      </p:sp>
      <p:sp>
        <p:nvSpPr>
          <p:cNvPr id="6" name="Text 4"/>
          <p:cNvSpPr/>
          <p:nvPr/>
        </p:nvSpPr>
        <p:spPr>
          <a:xfrm>
            <a:off x="6766560" y="1920240"/>
            <a:ext cx="4754880" cy="731520"/>
          </a:xfrm>
          <a:prstGeom prst="rect">
            <a:avLst/>
          </a:prstGeom>
          <a:noFill/>
          <a:ln/>
        </p:spPr>
        <p:txBody>
          <a:bodyPr wrap="square" lIns="0" tIns="0" rIns="0" bIns="0" rtlCol="0" anchor="ctr"/>
          <a:lstStyle/>
          <a:p>
            <a:pPr marL="0" indent="0">
              <a:buNone/>
            </a:pPr>
            <a:r>
              <a:rPr lang="en-US" sz="2100" b="1" dirty="0">
                <a:solidFill>
                  <a:srgbClr val="1E2761"/>
                </a:solidFill>
                <a:latin typeface="Cambria" pitchFamily="34" charset="0"/>
                <a:ea typeface="Cambria" pitchFamily="34" charset="-122"/>
                <a:cs typeface="Cambria" pitchFamily="34" charset="-120"/>
              </a:rPr>
              <a:t>The model is never asked for character positions.</a:t>
            </a:r>
            <a:endParaRPr lang="en-US" sz="2100" dirty="0"/>
          </a:p>
        </p:txBody>
      </p:sp>
      <p:sp>
        <p:nvSpPr>
          <p:cNvPr id="7" name="Text 5"/>
          <p:cNvSpPr/>
          <p:nvPr/>
        </p:nvSpPr>
        <p:spPr>
          <a:xfrm>
            <a:off x="6766560" y="2743200"/>
            <a:ext cx="4754880" cy="2377440"/>
          </a:xfrm>
          <a:prstGeom prst="rect">
            <a:avLst/>
          </a:prstGeom>
          <a:noFill/>
          <a:ln/>
        </p:spPr>
        <p:txBody>
          <a:bodyPr wrap="square" lIns="0" tIns="0" rIns="0" bIns="0" rtlCol="0" anchor="ctr"/>
          <a:lstStyle/>
          <a:p>
            <a:pPr marL="0" indent="0">
              <a:buNone/>
            </a:pPr>
            <a:r>
              <a:rPr lang="en-US" sz="1400" dirty="0">
                <a:solidFill>
                  <a:srgbClr val="1A1A2E"/>
                </a:solidFill>
                <a:latin typeface="Calibri" pitchFamily="34" charset="0"/>
                <a:ea typeface="Calibri" pitchFamily="34" charset="-122"/>
                <a:cs typeface="Calibri" pitchFamily="34" charset="-120"/>
              </a:rPr>
              <a:t>It returns the exact text it is quoting. The system locates that text itself.</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A model asked for offsets returns plausible wrong numbers — citations that look right and point at nothing.</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Every citation is re-checked against the source before it reaches the memo.</a:t>
            </a:r>
            <a:endParaRPr lang="en-US" sz="1400" dirty="0"/>
          </a:p>
        </p:txBody>
      </p:sp>
      <p:sp>
        <p:nvSpPr>
          <p:cNvPr id="8" name="Text 6"/>
          <p:cNvSpPr/>
          <p:nvPr/>
        </p:nvSpPr>
        <p:spPr>
          <a:xfrm>
            <a:off x="640080" y="502920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One hallucinated citation and an analyst never trusts the tool again.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NEGATIVE SPACE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Reporting what isn't there</a:t>
            </a:r>
            <a:endParaRPr lang="en-US" sz="3400" dirty="0"/>
          </a:p>
        </p:txBody>
      </p:sp>
      <p:sp>
        <p:nvSpPr>
          <p:cNvPr id="4" name="Shape 2"/>
          <p:cNvSpPr/>
          <p:nvPr/>
        </p:nvSpPr>
        <p:spPr>
          <a:xfrm>
            <a:off x="640080" y="1783080"/>
            <a:ext cx="10881360" cy="1188720"/>
          </a:xfrm>
          <a:prstGeom prst="roundRect">
            <a:avLst>
              <a:gd name="adj" fmla="val 6154"/>
            </a:avLst>
          </a:prstGeom>
          <a:solidFill>
            <a:srgbClr val="F7F9FD"/>
          </a:solidFill>
          <a:ln/>
        </p:spPr>
      </p:sp>
      <p:sp>
        <p:nvSpPr>
          <p:cNvPr id="5" name="Text 3"/>
          <p:cNvSpPr/>
          <p:nvPr/>
        </p:nvSpPr>
        <p:spPr>
          <a:xfrm>
            <a:off x="1005840" y="1783080"/>
            <a:ext cx="10149840" cy="1188720"/>
          </a:xfrm>
          <a:prstGeom prst="rect">
            <a:avLst/>
          </a:prstGeom>
          <a:noFill/>
          <a:ln/>
        </p:spPr>
        <p:txBody>
          <a:bodyPr wrap="square" lIns="0" tIns="0" rIns="0" bIns="0" rtlCol="0" anchor="ctr"/>
          <a:lstStyle/>
          <a:p>
            <a:pPr marL="0" indent="0">
              <a:buNone/>
            </a:pPr>
            <a:r>
              <a:rPr lang="en-US" sz="1700" i="1" dirty="0">
                <a:solidFill>
                  <a:srgbClr val="1A1A2E"/>
                </a:solidFill>
                <a:latin typeface="Calibri" pitchFamily="34" charset="0"/>
                <a:ea typeface="Calibri" pitchFamily="34" charset="-122"/>
                <a:cs typeface="Calibri" pitchFamily="34" charset="-120"/>
              </a:rPr>
              <a:t>"410,000 options have been granted to employees under the company equity incentive plan."</a:t>
            </a:r>
            <a:endParaRPr lang="en-US" sz="1700" dirty="0"/>
          </a:p>
        </p:txBody>
      </p:sp>
      <p:sp>
        <p:nvSpPr>
          <p:cNvPr id="6" name="Text 4"/>
          <p:cNvSpPr/>
          <p:nvPr/>
        </p:nvSpPr>
        <p:spPr>
          <a:xfrm>
            <a:off x="1005840" y="3017520"/>
            <a:ext cx="548640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 the cap table</a:t>
            </a:r>
            <a:endParaRPr lang="en-US" sz="1200" dirty="0"/>
          </a:p>
        </p:txBody>
      </p:sp>
      <p:sp>
        <p:nvSpPr>
          <p:cNvPr id="7" name="Text 5"/>
          <p:cNvSpPr/>
          <p:nvPr/>
        </p:nvSpPr>
        <p:spPr>
          <a:xfrm>
            <a:off x="640080" y="3611880"/>
            <a:ext cx="10881360" cy="502920"/>
          </a:xfrm>
          <a:prstGeom prst="rect">
            <a:avLst/>
          </a:prstGeom>
          <a:noFill/>
          <a:ln/>
        </p:spPr>
        <p:txBody>
          <a:bodyPr wrap="square" lIns="0" tIns="0" rIns="0" bIns="0" rtlCol="0" anchor="ctr"/>
          <a:lstStyle/>
          <a:p>
            <a:pPr marL="0" indent="0">
              <a:buNone/>
            </a:pPr>
            <a:r>
              <a:rPr lang="en-US" sz="2800" b="1" dirty="0">
                <a:solidFill>
                  <a:srgbClr val="B03A3A"/>
                </a:solidFill>
                <a:latin typeface="Cambria" pitchFamily="34" charset="0"/>
                <a:ea typeface="Cambria" pitchFamily="34" charset="-122"/>
                <a:cs typeface="Cambria" pitchFamily="34" charset="-120"/>
              </a:rPr>
              <a:t>There is no plan document in the data room.</a:t>
            </a:r>
            <a:endParaRPr lang="en-US" sz="2800" dirty="0"/>
          </a:p>
        </p:txBody>
      </p:sp>
      <p:sp>
        <p:nvSpPr>
          <p:cNvPr id="8" name="Text 6"/>
          <p:cNvSpPr/>
          <p:nvPr/>
        </p:nvSpPr>
        <p:spPr>
          <a:xfrm>
            <a:off x="640080" y="4251960"/>
            <a:ext cx="10881360" cy="411480"/>
          </a:xfrm>
          <a:prstGeom prst="rect">
            <a:avLst/>
          </a:prstGeom>
          <a:noFill/>
          <a:ln/>
        </p:spPr>
        <p:txBody>
          <a:bodyPr wrap="square" lIns="0" tIns="0" rIns="0" bIns="0" rtlCol="0" anchor="ctr"/>
          <a:lstStyle/>
          <a:p>
            <a:pPr marL="0" indent="0">
              <a:buNone/>
            </a:pPr>
            <a:r>
              <a:rPr lang="en-US" sz="1700" dirty="0">
                <a:solidFill>
                  <a:srgbClr val="1E2761"/>
                </a:solidFill>
                <a:latin typeface="Calibri" pitchFamily="34" charset="0"/>
                <a:ea typeface="Calibri" pitchFamily="34" charset="-122"/>
                <a:cs typeface="Calibri" pitchFamily="34" charset="-120"/>
              </a:rPr>
              <a:t>A mention is not a presence. The reference is the defect.</a:t>
            </a:r>
            <a:endParaRPr lang="en-US" sz="1700" dirty="0"/>
          </a:p>
        </p:txBody>
      </p:sp>
      <p:sp>
        <p:nvSpPr>
          <p:cNvPr id="9" name="Text 7"/>
          <p:cNvSpPr/>
          <p:nvPr/>
        </p:nvSpPr>
        <p:spPr>
          <a:xfrm>
            <a:off x="640080" y="4846320"/>
            <a:ext cx="10515600" cy="91440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My first version searched document text for the phrase, found it, and concluded the plan existed. That bug hid the exact defect it was built to find. Presence is now matched on filenames only.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REFLECTION</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One agent tries to destroy the others' work</a:t>
            </a:r>
            <a:endParaRPr lang="en-US" sz="3400" dirty="0"/>
          </a:p>
        </p:txBody>
      </p:sp>
      <p:sp>
        <p:nvSpPr>
          <p:cNvPr id="4" name="Shape 2"/>
          <p:cNvSpPr/>
          <p:nvPr/>
        </p:nvSpPr>
        <p:spPr>
          <a:xfrm>
            <a:off x="640080" y="1874520"/>
            <a:ext cx="2286000" cy="777240"/>
          </a:xfrm>
          <a:prstGeom prst="roundRect">
            <a:avLst>
              <a:gd name="adj" fmla="val 9412"/>
            </a:avLst>
          </a:prstGeom>
          <a:solidFill>
            <a:srgbClr val="CADCFC"/>
          </a:solidFill>
          <a:ln/>
        </p:spPr>
      </p:sp>
      <p:sp>
        <p:nvSpPr>
          <p:cNvPr id="5" name="Text 3"/>
          <p:cNvSpPr/>
          <p:nvPr/>
        </p:nvSpPr>
        <p:spPr>
          <a:xfrm>
            <a:off x="640080" y="1874520"/>
            <a:ext cx="2286000" cy="77724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Proposed</a:t>
            </a:r>
            <a:endParaRPr lang="en-US" sz="1500" dirty="0"/>
          </a:p>
        </p:txBody>
      </p:sp>
      <p:sp>
        <p:nvSpPr>
          <p:cNvPr id="6" name="Text 4"/>
          <p:cNvSpPr/>
          <p:nvPr/>
        </p:nvSpPr>
        <p:spPr>
          <a:xfrm>
            <a:off x="2926080" y="1874520"/>
            <a:ext cx="685800" cy="777240"/>
          </a:xfrm>
          <a:prstGeom prst="rect">
            <a:avLst/>
          </a:prstGeom>
          <a:noFill/>
          <a:ln/>
        </p:spPr>
        <p:txBody>
          <a:bodyPr wrap="square" lIns="0" tIns="0" rIns="0" bIns="0" rtlCol="0" anchor="ctr"/>
          <a:lstStyle/>
          <a:p>
            <a:pPr marL="0" indent="0" algn="ctr">
              <a:buNone/>
            </a:pPr>
            <a:r>
              <a:rPr lang="en-US" sz="1800" dirty="0">
                <a:solidFill>
                  <a:srgbClr val="5A6280"/>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3611880" y="1874520"/>
            <a:ext cx="2286000" cy="777240"/>
          </a:xfrm>
          <a:prstGeom prst="roundRect">
            <a:avLst>
              <a:gd name="adj" fmla="val 9412"/>
            </a:avLst>
          </a:prstGeom>
          <a:solidFill>
            <a:srgbClr val="E8A33D"/>
          </a:solidFill>
          <a:ln/>
        </p:spPr>
      </p:sp>
      <p:sp>
        <p:nvSpPr>
          <p:cNvPr id="8" name="Text 6"/>
          <p:cNvSpPr/>
          <p:nvPr/>
        </p:nvSpPr>
        <p:spPr>
          <a:xfrm>
            <a:off x="3611880" y="1874520"/>
            <a:ext cx="2286000" cy="777240"/>
          </a:xfrm>
          <a:prstGeom prst="rect">
            <a:avLst/>
          </a:prstGeom>
          <a:noFill/>
          <a:ln/>
        </p:spPr>
        <p:txBody>
          <a:bodyPr wrap="square" lIns="0" tIns="0" rIns="0" bIns="0" rtlCol="0" anchor="ctr"/>
          <a:lstStyle/>
          <a:p>
            <a:pPr marL="0" indent="0" algn="ctr">
              <a:buNone/>
            </a:pPr>
            <a:r>
              <a:rPr lang="en-US" sz="1500" b="1" dirty="0">
                <a:solidFill>
                  <a:srgbClr val="141A45"/>
                </a:solidFill>
                <a:latin typeface="Calibri" pitchFamily="34" charset="0"/>
                <a:ea typeface="Calibri" pitchFamily="34" charset="-122"/>
                <a:cs typeface="Calibri" pitchFamily="34" charset="-120"/>
              </a:rPr>
              <a:t>Challenged</a:t>
            </a:r>
            <a:endParaRPr lang="en-US" sz="1500" dirty="0"/>
          </a:p>
        </p:txBody>
      </p:sp>
      <p:sp>
        <p:nvSpPr>
          <p:cNvPr id="9" name="Text 7"/>
          <p:cNvSpPr/>
          <p:nvPr/>
        </p:nvSpPr>
        <p:spPr>
          <a:xfrm>
            <a:off x="5897880" y="1874520"/>
            <a:ext cx="685800" cy="777240"/>
          </a:xfrm>
          <a:prstGeom prst="rect">
            <a:avLst/>
          </a:prstGeom>
          <a:noFill/>
          <a:ln/>
        </p:spPr>
        <p:txBody>
          <a:bodyPr wrap="square" lIns="0" tIns="0" rIns="0" bIns="0" rtlCol="0" anchor="ctr"/>
          <a:lstStyle/>
          <a:p>
            <a:pPr marL="0" indent="0" algn="ctr">
              <a:buNone/>
            </a:pPr>
            <a:r>
              <a:rPr lang="en-US" sz="1800" dirty="0">
                <a:solidFill>
                  <a:srgbClr val="5A6280"/>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6583680" y="1874520"/>
            <a:ext cx="2286000" cy="777240"/>
          </a:xfrm>
          <a:prstGeom prst="roundRect">
            <a:avLst>
              <a:gd name="adj" fmla="val 9412"/>
            </a:avLst>
          </a:prstGeom>
          <a:solidFill>
            <a:srgbClr val="2E7D5B"/>
          </a:solidFill>
          <a:ln/>
        </p:spPr>
      </p:sp>
      <p:sp>
        <p:nvSpPr>
          <p:cNvPr id="11" name="Text 9"/>
          <p:cNvSpPr/>
          <p:nvPr/>
        </p:nvSpPr>
        <p:spPr>
          <a:xfrm>
            <a:off x="6583680" y="1874520"/>
            <a:ext cx="2286000" cy="7772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Confirmed</a:t>
            </a:r>
            <a:endParaRPr lang="en-US" sz="1500" dirty="0"/>
          </a:p>
        </p:txBody>
      </p:sp>
      <p:sp>
        <p:nvSpPr>
          <p:cNvPr id="12" name="Shape 10"/>
          <p:cNvSpPr/>
          <p:nvPr/>
        </p:nvSpPr>
        <p:spPr>
          <a:xfrm>
            <a:off x="3611880" y="2880360"/>
            <a:ext cx="2286000" cy="640080"/>
          </a:xfrm>
          <a:prstGeom prst="roundRect">
            <a:avLst>
              <a:gd name="adj" fmla="val 11429"/>
            </a:avLst>
          </a:prstGeom>
          <a:solidFill>
            <a:srgbClr val="FFFFFF"/>
          </a:solidFill>
          <a:ln w="19050">
            <a:solidFill>
              <a:srgbClr val="B03A3A"/>
            </a:solidFill>
            <a:prstDash val="solid"/>
          </a:ln>
        </p:spPr>
      </p:sp>
      <p:sp>
        <p:nvSpPr>
          <p:cNvPr id="13" name="Text 11"/>
          <p:cNvSpPr/>
          <p:nvPr/>
        </p:nvSpPr>
        <p:spPr>
          <a:xfrm>
            <a:off x="3611880" y="2880360"/>
            <a:ext cx="2286000" cy="640080"/>
          </a:xfrm>
          <a:prstGeom prst="rect">
            <a:avLst/>
          </a:prstGeom>
          <a:noFill/>
          <a:ln/>
        </p:spPr>
        <p:txBody>
          <a:bodyPr wrap="square" lIns="0" tIns="0" rIns="0" bIns="0" rtlCol="0" anchor="ctr"/>
          <a:lstStyle/>
          <a:p>
            <a:pPr marL="0" indent="0" algn="ctr">
              <a:buNone/>
            </a:pPr>
            <a:r>
              <a:rPr lang="en-US" sz="1400" b="1" dirty="0">
                <a:solidFill>
                  <a:srgbClr val="B03A3A"/>
                </a:solidFill>
                <a:latin typeface="Calibri" pitchFamily="34" charset="0"/>
                <a:ea typeface="Calibri" pitchFamily="34" charset="-122"/>
                <a:cs typeface="Calibri" pitchFamily="34" charset="-120"/>
              </a:rPr>
              <a:t>Retracted</a:t>
            </a:r>
            <a:endParaRPr lang="en-US" sz="1400" dirty="0"/>
          </a:p>
        </p:txBody>
      </p:sp>
      <p:sp>
        <p:nvSpPr>
          <p:cNvPr id="14" name="Text 12"/>
          <p:cNvSpPr/>
          <p:nvPr/>
        </p:nvSpPr>
        <p:spPr>
          <a:xfrm>
            <a:off x="640080" y="3886200"/>
            <a:ext cx="6583680" cy="914400"/>
          </a:xfrm>
          <a:prstGeom prst="rect">
            <a:avLst/>
          </a:prstGeom>
          <a:noFill/>
          <a:ln/>
        </p:spPr>
        <p:txBody>
          <a:bodyPr wrap="square" lIns="0" tIns="0" rIns="0" bIns="0" rtlCol="0" anchor="ctr"/>
          <a:lstStyle/>
          <a:p>
            <a:pPr marL="0" indent="0">
              <a:buNone/>
            </a:pPr>
            <a:r>
              <a:rPr lang="en-US" sz="1600" dirty="0">
                <a:solidFill>
                  <a:srgbClr val="1A1A2E"/>
                </a:solidFill>
                <a:latin typeface="Calibri" pitchFamily="34" charset="0"/>
                <a:ea typeface="Calibri" pitchFamily="34" charset="-122"/>
                <a:cs typeface="Calibri" pitchFamily="34" charset="-120"/>
              </a:rPr>
              <a:t>The critic is not asked to review a finding. It is asked to construct the strongest case that the finding is wrong.</a:t>
            </a:r>
            <a:endParaRPr lang="en-US" sz="1600" dirty="0"/>
          </a:p>
        </p:txBody>
      </p:sp>
      <p:sp>
        <p:nvSpPr>
          <p:cNvPr id="15" name="Text 13"/>
          <p:cNvSpPr/>
          <p:nvPr/>
        </p:nvSpPr>
        <p:spPr>
          <a:xfrm>
            <a:off x="640080" y="4846320"/>
            <a:ext cx="6583680" cy="82296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Finding.confirm() raises if the finding was never challenged. Review cannot be skipped by accident.</a:t>
            </a:r>
            <a:endParaRPr lang="en-US" sz="1400" dirty="0"/>
          </a:p>
        </p:txBody>
      </p:sp>
      <p:sp>
        <p:nvSpPr>
          <p:cNvPr id="16" name="Shape 14"/>
          <p:cNvSpPr/>
          <p:nvPr/>
        </p:nvSpPr>
        <p:spPr>
          <a:xfrm>
            <a:off x="7863840" y="3794760"/>
            <a:ext cx="3657600" cy="1920240"/>
          </a:xfrm>
          <a:prstGeom prst="roundRect">
            <a:avLst>
              <a:gd name="adj" fmla="val 3810"/>
            </a:avLst>
          </a:prstGeom>
          <a:solidFill>
            <a:srgbClr val="F7F9FD"/>
          </a:solidFill>
          <a:ln/>
        </p:spPr>
      </p:sp>
      <p:sp>
        <p:nvSpPr>
          <p:cNvPr id="17" name="Text 15"/>
          <p:cNvSpPr/>
          <p:nvPr/>
        </p:nvSpPr>
        <p:spPr>
          <a:xfrm>
            <a:off x="7863840" y="3977640"/>
            <a:ext cx="365760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 of 8</a:t>
            </a:r>
            <a:endParaRPr lang="en-US" sz="4400" dirty="0"/>
          </a:p>
        </p:txBody>
      </p:sp>
      <p:sp>
        <p:nvSpPr>
          <p:cNvPr id="18" name="Text 16"/>
          <p:cNvSpPr/>
          <p:nvPr/>
        </p:nvSpPr>
        <p:spPr>
          <a:xfrm>
            <a:off x="7863840" y="4800600"/>
            <a:ext cx="3657600" cy="731520"/>
          </a:xfrm>
          <a:prstGeom prst="rect">
            <a:avLst/>
          </a:prstGeom>
          <a:noFill/>
          <a:ln/>
        </p:spPr>
        <p:txBody>
          <a:bodyPr wrap="square" lIns="0" tIns="0" rIns="0" bIns="0" rtlCol="0" anchor="ctr"/>
          <a:lstStyle/>
          <a:p>
            <a:pPr marL="0" indent="0" algn="ctr">
              <a:buNone/>
            </a:pPr>
            <a:r>
              <a:rPr lang="en-US" sz="1400" dirty="0">
                <a:solidFill>
                  <a:srgbClr val="5A6280"/>
                </a:solidFill>
                <a:latin typeface="Calibri" pitchFamily="34" charset="0"/>
                <a:ea typeface="Calibri" pitchFamily="34" charset="-122"/>
                <a:cs typeface="Calibri" pitchFamily="34" charset="-120"/>
              </a:rPr>
              <a:t>findings retracted</a:t>
            </a:r>
            <a:endParaRPr lang="en-US" sz="1400" dirty="0"/>
          </a:p>
          <a:p>
            <a:pPr marL="0" indent="0" algn="ctr">
              <a:buNone/>
            </a:pPr>
            <a:r>
              <a:rPr lang="en-US" sz="1400" dirty="0">
                <a:solidFill>
                  <a:srgbClr val="5A6280"/>
                </a:solidFill>
                <a:latin typeface="Calibri" pitchFamily="34" charset="0"/>
                <a:ea typeface="Calibri" pitchFamily="34" charset="-122"/>
                <a:cs typeface="Calibri" pitchFamily="34" charset="-120"/>
              </a:rPr>
              <a:t>2 severities revised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critic caught my mistake</a:t>
            </a:r>
            <a:endParaRPr lang="en-US" sz="3400" dirty="0"/>
          </a:p>
        </p:txBody>
      </p:sp>
      <p:sp>
        <p:nvSpPr>
          <p:cNvPr id="3" name="Text 1"/>
          <p:cNvSpPr/>
          <p:nvPr/>
        </p:nvSpPr>
        <p:spPr>
          <a:xfrm>
            <a:off x="640080" y="1417320"/>
            <a:ext cx="10515600" cy="68580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My arithmetic detector summed founder shares, preferred shares, and employee options against the cap table total.</a:t>
            </a:r>
            <a:endParaRPr lang="en-US" sz="1700" dirty="0"/>
          </a:p>
        </p:txBody>
      </p:sp>
      <p:sp>
        <p:nvSpPr>
          <p:cNvPr id="4" name="Text 2"/>
          <p:cNvSpPr/>
          <p:nvPr/>
        </p:nvSpPr>
        <p:spPr>
          <a:xfrm>
            <a:off x="640080" y="2148840"/>
            <a:ext cx="10515600"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All tests passed. Three days of green.</a:t>
            </a:r>
            <a:endParaRPr lang="en-US" sz="1700" dirty="0"/>
          </a:p>
        </p:txBody>
      </p:sp>
      <p:sp>
        <p:nvSpPr>
          <p:cNvPr id="5" name="Shape 3"/>
          <p:cNvSpPr/>
          <p:nvPr/>
        </p:nvSpPr>
        <p:spPr>
          <a:xfrm>
            <a:off x="640080" y="2788920"/>
            <a:ext cx="10881360" cy="1417320"/>
          </a:xfrm>
          <a:prstGeom prst="roundRect">
            <a:avLst>
              <a:gd name="adj" fmla="val 5161"/>
            </a:avLst>
          </a:prstGeom>
          <a:solidFill>
            <a:srgbClr val="141A45"/>
          </a:solidFill>
          <a:ln/>
        </p:spPr>
      </p:sp>
      <p:sp>
        <p:nvSpPr>
          <p:cNvPr id="6" name="Text 4"/>
          <p:cNvSpPr/>
          <p:nvPr/>
        </p:nvSpPr>
        <p:spPr>
          <a:xfrm>
            <a:off x="1051560" y="2788920"/>
            <a:ext cx="10058400" cy="1417320"/>
          </a:xfrm>
          <a:prstGeom prst="rect">
            <a:avLst/>
          </a:prstGeom>
          <a:noFill/>
          <a:ln/>
        </p:spPr>
        <p:txBody>
          <a:bodyPr wrap="square" lIns="0" tIns="0" rIns="0" bIns="0" rtlCol="0" anchor="ctr"/>
          <a:lstStyle/>
          <a:p>
            <a:pPr marL="0" indent="0">
              <a:buNone/>
            </a:pPr>
            <a:r>
              <a:rPr lang="en-US" sz="1900" i="1" dirty="0">
                <a:solidFill>
                  <a:srgbClr val="E8A33D"/>
                </a:solidFill>
                <a:latin typeface="Calibri" pitchFamily="34" charset="0"/>
                <a:ea typeface="Calibri" pitchFamily="34" charset="-122"/>
                <a:cs typeface="Calibri" pitchFamily="34" charset="-120"/>
              </a:rPr>
              <a:t>"Adding unexercised employee options to issued and outstanding shares is a definitional error."</a:t>
            </a:r>
            <a:endParaRPr lang="en-US" sz="1900" dirty="0"/>
          </a:p>
        </p:txBody>
      </p:sp>
      <p:sp>
        <p:nvSpPr>
          <p:cNvPr id="7" name="Text 5"/>
          <p:cNvSpPr/>
          <p:nvPr/>
        </p:nvSpPr>
        <p:spPr>
          <a:xfrm>
            <a:off x="640080" y="4434840"/>
            <a:ext cx="10881360" cy="45720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It was right.</a:t>
            </a:r>
            <a:endParaRPr lang="en-US" sz="2800" dirty="0"/>
          </a:p>
        </p:txBody>
      </p:sp>
      <p:sp>
        <p:nvSpPr>
          <p:cNvPr id="8" name="Text 6"/>
          <p:cNvSpPr/>
          <p:nvPr/>
        </p:nvSpPr>
        <p:spPr>
          <a:xfrm>
            <a:off x="640080" y="4983480"/>
            <a:ext cx="10515600" cy="100584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Options are not issued shares until exercised. The detector, the corpus, and the test were all wrong in the same way — so the tests could never catch it. Corrected: 350,000 shares outstanding with no identified holder.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Measured, not asserted</a:t>
            </a:r>
            <a:endParaRPr lang="en-US" sz="3400" dirty="0"/>
          </a:p>
        </p:txBody>
      </p:sp>
      <p:sp>
        <p:nvSpPr>
          <p:cNvPr id="4" name="Shape 2"/>
          <p:cNvSpPr/>
          <p:nvPr/>
        </p:nvSpPr>
        <p:spPr>
          <a:xfrm>
            <a:off x="640080" y="1783080"/>
            <a:ext cx="2514600" cy="1737360"/>
          </a:xfrm>
          <a:prstGeom prst="roundRect">
            <a:avLst>
              <a:gd name="adj" fmla="val 4211"/>
            </a:avLst>
          </a:prstGeom>
          <a:solidFill>
            <a:srgbClr val="1E2761"/>
          </a:solidFill>
          <a:ln/>
        </p:spPr>
      </p:sp>
      <p:sp>
        <p:nvSpPr>
          <p:cNvPr id="5" name="Text 3"/>
          <p:cNvSpPr/>
          <p:nvPr/>
        </p:nvSpPr>
        <p:spPr>
          <a:xfrm>
            <a:off x="640080" y="1965960"/>
            <a:ext cx="2514600" cy="777240"/>
          </a:xfrm>
          <a:prstGeom prst="rect">
            <a:avLst/>
          </a:prstGeom>
          <a:noFill/>
          <a:ln/>
        </p:spPr>
        <p:txBody>
          <a:bodyPr wrap="square" lIns="0" tIns="0" rIns="0" bIns="0" rtlCol="0" anchor="ctr"/>
          <a:lstStyle/>
          <a:p>
            <a:pPr marL="0" indent="0" algn="ctr">
              <a:buNone/>
            </a:pPr>
            <a:r>
              <a:rPr lang="en-US" sz="4200" b="1" dirty="0">
                <a:solidFill>
                  <a:srgbClr val="FFFFFF"/>
                </a:solidFill>
                <a:latin typeface="Cambria" pitchFamily="34" charset="0"/>
                <a:ea typeface="Cambria" pitchFamily="34" charset="-122"/>
                <a:cs typeface="Cambria" pitchFamily="34" charset="-120"/>
              </a:rPr>
              <a:t>3/3</a:t>
            </a:r>
            <a:endParaRPr lang="en-US" sz="4200" dirty="0"/>
          </a:p>
        </p:txBody>
      </p:sp>
      <p:sp>
        <p:nvSpPr>
          <p:cNvPr id="6" name="Text 4"/>
          <p:cNvSpPr/>
          <p:nvPr/>
        </p:nvSpPr>
        <p:spPr>
          <a:xfrm>
            <a:off x="640080" y="2743200"/>
            <a:ext cx="2514600" cy="640080"/>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planted defects</a:t>
            </a:r>
            <a:endParaRPr lang="en-US" sz="1200" dirty="0"/>
          </a:p>
          <a:p>
            <a:pPr marL="0" indent="0" algn="ctr">
              <a:buNone/>
            </a:pPr>
            <a:r>
              <a:rPr lang="en-US" sz="1200" dirty="0">
                <a:solidFill>
                  <a:srgbClr val="CADCFC"/>
                </a:solidFill>
                <a:latin typeface="Calibri" pitchFamily="34" charset="0"/>
                <a:ea typeface="Calibri" pitchFamily="34" charset="-122"/>
                <a:cs typeface="Calibri" pitchFamily="34" charset="-120"/>
              </a:rPr>
              <a:t>detected</a:t>
            </a:r>
            <a:endParaRPr lang="en-US" sz="1200" dirty="0"/>
          </a:p>
        </p:txBody>
      </p:sp>
      <p:sp>
        <p:nvSpPr>
          <p:cNvPr id="7" name="Shape 5"/>
          <p:cNvSpPr/>
          <p:nvPr/>
        </p:nvSpPr>
        <p:spPr>
          <a:xfrm>
            <a:off x="3429000" y="1783080"/>
            <a:ext cx="2514600" cy="1737360"/>
          </a:xfrm>
          <a:prstGeom prst="roundRect">
            <a:avLst>
              <a:gd name="adj" fmla="val 4211"/>
            </a:avLst>
          </a:prstGeom>
          <a:solidFill>
            <a:srgbClr val="F7F9FD"/>
          </a:solidFill>
          <a:ln/>
        </p:spPr>
      </p:sp>
      <p:sp>
        <p:nvSpPr>
          <p:cNvPr id="8" name="Text 6"/>
          <p:cNvSpPr/>
          <p:nvPr/>
        </p:nvSpPr>
        <p:spPr>
          <a:xfrm>
            <a:off x="342900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0/6</a:t>
            </a:r>
            <a:endParaRPr lang="en-US" sz="4200" dirty="0"/>
          </a:p>
        </p:txBody>
      </p:sp>
      <p:sp>
        <p:nvSpPr>
          <p:cNvPr id="9" name="Text 7"/>
          <p:cNvSpPr/>
          <p:nvPr/>
        </p:nvSpPr>
        <p:spPr>
          <a:xfrm>
            <a:off x="342900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findings matching</a:t>
            </a:r>
            <a:endParaRPr lang="en-US" sz="1200" dirty="0"/>
          </a:p>
          <a:p>
            <a:pPr marL="0" indent="0" algn="ctr">
              <a:buNone/>
            </a:pPr>
            <a:r>
              <a:rPr lang="en-US" sz="1200" dirty="0">
                <a:solidFill>
                  <a:srgbClr val="5A6280"/>
                </a:solidFill>
                <a:latin typeface="Calibri" pitchFamily="34" charset="0"/>
                <a:ea typeface="Calibri" pitchFamily="34" charset="-122"/>
                <a:cs typeface="Calibri" pitchFamily="34" charset="-120"/>
              </a:rPr>
              <a:t>nothing real</a:t>
            </a:r>
            <a:endParaRPr lang="en-US" sz="1200" dirty="0"/>
          </a:p>
        </p:txBody>
      </p:sp>
      <p:sp>
        <p:nvSpPr>
          <p:cNvPr id="10" name="Shape 8"/>
          <p:cNvSpPr/>
          <p:nvPr/>
        </p:nvSpPr>
        <p:spPr>
          <a:xfrm>
            <a:off x="6217920" y="1783080"/>
            <a:ext cx="2514600" cy="1737360"/>
          </a:xfrm>
          <a:prstGeom prst="roundRect">
            <a:avLst>
              <a:gd name="adj" fmla="val 4211"/>
            </a:avLst>
          </a:prstGeom>
          <a:solidFill>
            <a:srgbClr val="F7F9FD"/>
          </a:solidFill>
          <a:ln/>
        </p:spPr>
      </p:sp>
      <p:sp>
        <p:nvSpPr>
          <p:cNvPr id="11" name="Text 9"/>
          <p:cNvSpPr/>
          <p:nvPr/>
        </p:nvSpPr>
        <p:spPr>
          <a:xfrm>
            <a:off x="621792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176</a:t>
            </a:r>
            <a:endParaRPr lang="en-US" sz="4200" dirty="0"/>
          </a:p>
        </p:txBody>
      </p:sp>
      <p:sp>
        <p:nvSpPr>
          <p:cNvPr id="12" name="Text 10"/>
          <p:cNvSpPr/>
          <p:nvPr/>
        </p:nvSpPr>
        <p:spPr>
          <a:xfrm>
            <a:off x="621792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tests, all offline</a:t>
            </a:r>
            <a:endParaRPr lang="en-US" sz="1200" dirty="0"/>
          </a:p>
        </p:txBody>
      </p:sp>
      <p:sp>
        <p:nvSpPr>
          <p:cNvPr id="13" name="Shape 11"/>
          <p:cNvSpPr/>
          <p:nvPr/>
        </p:nvSpPr>
        <p:spPr>
          <a:xfrm>
            <a:off x="9006840" y="1783080"/>
            <a:ext cx="2514600" cy="1737360"/>
          </a:xfrm>
          <a:prstGeom prst="roundRect">
            <a:avLst>
              <a:gd name="adj" fmla="val 4211"/>
            </a:avLst>
          </a:prstGeom>
          <a:solidFill>
            <a:srgbClr val="F7F9FD"/>
          </a:solidFill>
          <a:ln/>
        </p:spPr>
      </p:sp>
      <p:sp>
        <p:nvSpPr>
          <p:cNvPr id="14" name="Text 12"/>
          <p:cNvSpPr/>
          <p:nvPr/>
        </p:nvSpPr>
        <p:spPr>
          <a:xfrm>
            <a:off x="900684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&lt;1s</a:t>
            </a:r>
            <a:endParaRPr lang="en-US" sz="4200" dirty="0"/>
          </a:p>
        </p:txBody>
      </p:sp>
      <p:sp>
        <p:nvSpPr>
          <p:cNvPr id="15" name="Text 13"/>
          <p:cNvSpPr/>
          <p:nvPr/>
        </p:nvSpPr>
        <p:spPr>
          <a:xfrm>
            <a:off x="900684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full cached</a:t>
            </a:r>
            <a:endParaRPr lang="en-US" sz="1200" dirty="0"/>
          </a:p>
          <a:p>
            <a:pPr marL="0" indent="0" algn="ctr">
              <a:buNone/>
            </a:pPr>
            <a:r>
              <a:rPr lang="en-US" sz="1200" dirty="0">
                <a:solidFill>
                  <a:srgbClr val="5A6280"/>
                </a:solidFill>
                <a:latin typeface="Calibri" pitchFamily="34" charset="0"/>
                <a:ea typeface="Calibri" pitchFamily="34" charset="-122"/>
                <a:cs typeface="Calibri" pitchFamily="34" charset="-120"/>
              </a:rPr>
              <a:t>pipeline run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3886200"/>
          <a:ext cx="10881360" cy="1536192"/>
        </p:xfrm>
        <a:graphic>
          <a:graphicData uri="http://schemas.openxmlformats.org/drawingml/2006/table">
            <a:tbl>
              <a:tblPr/>
              <a:tblGrid>
                <a:gridCol w="16459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Defect</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Detected</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D-001</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Share total does not reconcile</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D-002</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Cross-document latent liability</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D-003</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Missing document</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7" name="Text 14"/>
          <p:cNvSpPr/>
          <p:nvPr/>
        </p:nvSpPr>
        <p:spPr>
          <a:xfrm>
            <a:off x="640080" y="580644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I wrote the corpus, so I know exactly what is wrong with it and where.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509760" y="4023360"/>
            <a:ext cx="2011680" cy="2011680"/>
          </a:xfrm>
          <a:prstGeom prst="ellipse">
            <a:avLst/>
          </a:prstGeom>
          <a:solidFill>
            <a:srgbClr val="1E2761"/>
          </a:solidFill>
          <a:ln w="19050">
            <a:solidFill>
              <a:srgbClr val="CADCFC"/>
            </a:solidFill>
            <a:prstDash val="solid"/>
          </a:ln>
        </p:spPr>
      </p:sp>
      <p:sp>
        <p:nvSpPr>
          <p:cNvPr id="3" name="Text 1"/>
          <p:cNvSpPr/>
          <p:nvPr/>
        </p:nvSpPr>
        <p:spPr>
          <a:xfrm>
            <a:off x="640080" y="640080"/>
            <a:ext cx="108813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I would build next</a:t>
            </a:r>
            <a:endParaRPr lang="en-US" sz="3400" dirty="0"/>
          </a:p>
        </p:txBody>
      </p:sp>
      <p:sp>
        <p:nvSpPr>
          <p:cNvPr id="4" name="Text 2"/>
          <p:cNvSpPr/>
          <p:nvPr/>
        </p:nvSpPr>
        <p:spPr>
          <a:xfrm>
            <a:off x="640080" y="1737360"/>
            <a:ext cx="4937760" cy="274320"/>
          </a:xfrm>
          <a:prstGeom prst="rect">
            <a:avLst/>
          </a:prstGeom>
          <a:noFill/>
          <a:ln/>
        </p:spPr>
        <p:txBody>
          <a:bodyPr wrap="square" lIns="0" tIns="0" rIns="0" bIns="0" rtlCol="0" anchor="ctr"/>
          <a:lstStyle/>
          <a:p>
            <a:pPr marL="0" indent="0">
              <a:buNone/>
            </a:pPr>
            <a:r>
              <a:rPr lang="en-US" sz="1100" b="1" kern="0" spc="200" dirty="0">
                <a:solidFill>
                  <a:srgbClr val="E8A33D"/>
                </a:solidFill>
                <a:latin typeface="Calibri" pitchFamily="34" charset="0"/>
                <a:ea typeface="Calibri" pitchFamily="34" charset="-122"/>
                <a:cs typeface="Calibri" pitchFamily="34" charset="-120"/>
              </a:rPr>
              <a:t>NEXT</a:t>
            </a:r>
            <a:endParaRPr lang="en-US" sz="1100" dirty="0"/>
          </a:p>
        </p:txBody>
      </p:sp>
      <p:sp>
        <p:nvSpPr>
          <p:cNvPr id="5" name="Text 3"/>
          <p:cNvSpPr/>
          <p:nvPr/>
        </p:nvSpPr>
        <p:spPr>
          <a:xfrm>
            <a:off x="640080" y="2148840"/>
            <a:ext cx="4937760" cy="18288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Coreference: "the Company" → Northwind</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Evidence spans covering the full clause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 larger corpus, more defect classes</a:t>
            </a:r>
            <a:endParaRPr lang="en-US" sz="1500" dirty="0"/>
          </a:p>
        </p:txBody>
      </p:sp>
      <p:sp>
        <p:nvSpPr>
          <p:cNvPr id="6" name="Text 4"/>
          <p:cNvSpPr/>
          <p:nvPr/>
        </p:nvSpPr>
        <p:spPr>
          <a:xfrm>
            <a:off x="6035040" y="1737360"/>
            <a:ext cx="4937760" cy="274320"/>
          </a:xfrm>
          <a:prstGeom prst="rect">
            <a:avLst/>
          </a:prstGeom>
          <a:noFill/>
          <a:ln/>
        </p:spPr>
        <p:txBody>
          <a:bodyPr wrap="square" lIns="0" tIns="0" rIns="0" bIns="0" rtlCol="0" anchor="ctr"/>
          <a:lstStyle/>
          <a:p>
            <a:pPr marL="0" indent="0">
              <a:buNone/>
            </a:pPr>
            <a:r>
              <a:rPr lang="en-US" sz="1100" b="1" kern="0" spc="200" dirty="0">
                <a:solidFill>
                  <a:srgbClr val="E8A33D"/>
                </a:solidFill>
                <a:latin typeface="Calibri" pitchFamily="34" charset="0"/>
                <a:ea typeface="Calibri" pitchFamily="34" charset="-122"/>
                <a:cs typeface="Calibri" pitchFamily="34" charset="-120"/>
              </a:rPr>
              <a:t>LATER</a:t>
            </a:r>
            <a:endParaRPr lang="en-US" sz="1100" dirty="0"/>
          </a:p>
        </p:txBody>
      </p:sp>
      <p:sp>
        <p:nvSpPr>
          <p:cNvPr id="7" name="Text 5"/>
          <p:cNvSpPr/>
          <p:nvPr/>
        </p:nvSpPr>
        <p:spPr>
          <a:xfrm>
            <a:off x="6035040" y="2148840"/>
            <a:ext cx="4937760" cy="18288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Release the corpus as a public benchmark</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Same engine: vendor review, underwriting</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Grant compliance, audit preparation</a:t>
            </a:r>
            <a:endParaRPr lang="en-US" sz="1500" dirty="0"/>
          </a:p>
        </p:txBody>
      </p:sp>
      <p:sp>
        <p:nvSpPr>
          <p:cNvPr id="8" name="Text 6"/>
          <p:cNvSpPr/>
          <p:nvPr/>
        </p:nvSpPr>
        <p:spPr>
          <a:xfrm>
            <a:off x="640080" y="4480560"/>
            <a:ext cx="8412480" cy="822960"/>
          </a:xfrm>
          <a:prstGeom prst="rect">
            <a:avLst/>
          </a:prstGeom>
          <a:noFill/>
          <a:ln/>
        </p:spPr>
        <p:txBody>
          <a:bodyPr wrap="square" lIns="0" tIns="0" rIns="0" bIns="0" rtlCol="0" anchor="ctr"/>
          <a:lstStyle/>
          <a:p>
            <a:pPr marL="0" indent="0">
              <a:buNone/>
            </a:pPr>
            <a:r>
              <a:rPr lang="en-US" sz="1600" i="1" dirty="0">
                <a:solidFill>
                  <a:srgbClr val="FFFFFF"/>
                </a:solidFill>
                <a:latin typeface="Calibri" pitchFamily="34" charset="0"/>
                <a:ea typeface="Calibri" pitchFamily="34" charset="-122"/>
                <a:cs typeface="Calibri" pitchFamily="34" charset="-120"/>
              </a:rPr>
              <a:t>A benchmark with known planted defects would let anyone measure a diligence system honestly.</a:t>
            </a:r>
            <a:endParaRPr lang="en-US" sz="1600" dirty="0"/>
          </a:p>
        </p:txBody>
      </p:sp>
      <p:sp>
        <p:nvSpPr>
          <p:cNvPr id="9" name="Text 7"/>
          <p:cNvSpPr/>
          <p:nvPr/>
        </p:nvSpPr>
        <p:spPr>
          <a:xfrm>
            <a:off x="640080" y="5486400"/>
            <a:ext cx="4572000" cy="457200"/>
          </a:xfrm>
          <a:prstGeom prst="rect">
            <a:avLst/>
          </a:prstGeom>
          <a:noFill/>
          <a:ln/>
        </p:spPr>
        <p:txBody>
          <a:bodyPr wrap="square" lIns="0" tIns="0" rIns="0" bIns="0" rtlCol="0" anchor="ctr"/>
          <a:lstStyle/>
          <a:p>
            <a:pPr marL="0" indent="0">
              <a:buNone/>
            </a:pPr>
            <a:r>
              <a:rPr lang="en-US" sz="2400" b="1" dirty="0">
                <a:solidFill>
                  <a:srgbClr val="E8A33D"/>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1470</Words>
  <Application>Microsoft Office PowerPoint</Application>
  <PresentationFormat>Widescreen</PresentationFormat>
  <Paragraphs>187</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Loupe - Multi-Agent Due Diligence</dc:title>
  <dc:subject>PptxGenJS Presentation</dc:subject>
  <dc:creator>Loupe</dc:creator>
  <cp:lastModifiedBy>harseerat kaur</cp:lastModifiedBy>
  <cp:revision>2</cp:revision>
  <dcterms:created xsi:type="dcterms:W3CDTF">2026-08-13T11:12:56Z</dcterms:created>
  <dcterms:modified xsi:type="dcterms:W3CDTF">2026-08-13T11:31:32Z</dcterms:modified>
</cp:coreProperties>
</file>