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7" d="100"/>
          <a:sy n="87" d="100"/>
        </p:scale>
        <p:origin x="499" y="5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0967698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loupe is the magnifier a jeweller uses to inspect a stone for hidden flaws before someone buys it. That is exactly what this system does for a company acquisition.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up the domain quickly. Don't dwell here — the next slide is the one that lands. Roughly 40 seconds.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pitch. Pause after 'neither is alarming alone'. The legal reviewer sees a standard clause. The accountant sees customer concentration. They work in different rooms and nobody puts the two together. This is the finding the system exists to catch. Take your time here.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Rejecting this design is the core decision of the project. Partitioning by document type guarantees you miss the findings that span documents — which are precisely the ones that matter.</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evidence store is deliberately at the centre. Agents don't message each other in prose — they read and write typed objects in one shared structure. That's what makes cross-document reasoning real rather than aspirational.</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Half the agents use no model at all, and that is a design position rather than a shortcut. Reconciling a share total is arithmetic. Checking whether a file exists is a fact. Comparing dates is deterministic. The model is reserved for the five tasks that genuinely need language understanding. There is also a human approval gate on critical findings.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trust mechanism. The analyst's only way to check any finding is to follow the citation. If one is wrong, they stop using the system — and they would be right to. So it is built so it structurally cannot emit an uncited claim.</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Retrieval systems can only report what they find. This one holds a checklist of what a complete data room should contain and reports the gaps. The subtlety is distinguishing a document being present from a document being mentioned — and I got that wrong on the first attempt.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reviewer asked 'is this correct?' agrees — agreement is the path of least resistance for a language model. A reviewer told to destroy the finding surfaces the rounding artifact and the definitional error. And the lifecycle is enforced by the type system, so there is no code path that admits an unreviewed finding to the memo.</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my favourite result and the most honest slide in the deck. An adversarial agent caught a domain error in my own reasoning that a full test suite could not, because the tests encoded the same misunderstanding. The corrected defect is subtler and more realistic than the one I originally planted.</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projects in this space cannot tell you whether their output is correct. Because the corpus is generated, recall is measured rather than claimed. Be honest about the caveat: ten documents demonstrates the mechanism, it does not characterise performance. The cross-document defect is the meaningful result — it needed evidence from two documents no single reader would have compared.</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benchmark is the interesting direction — benchmarks attract more attention than applications. Close by thanking them and offering to walk through the code or run the pipeline live.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a:effectLst/>
      </p:bgPr>
    </p:bg>
    <p:spTree>
      <p:nvGrpSpPr>
        <p:cNvPr id="1" name=""/>
        <p:cNvGrpSpPr/>
        <p:nvPr/>
      </p:nvGrpSpPr>
      <p:grpSpPr>
        <a:xfrm>
          <a:off x="0" y="0"/>
          <a:ext cx="0" cy="0"/>
          <a:chOff x="0" y="0"/>
          <a:chExt cx="0" cy="0"/>
        </a:xfrm>
      </p:grpSpPr>
      <p:sp>
        <p:nvSpPr>
          <p:cNvPr id="2" name="Shape 0"/>
          <p:cNvSpPr/>
          <p:nvPr/>
        </p:nvSpPr>
        <p:spPr>
          <a:xfrm>
            <a:off x="8778240" y="1371600"/>
            <a:ext cx="2834640" cy="2834640"/>
          </a:xfrm>
          <a:prstGeom prst="ellipse">
            <a:avLst/>
          </a:prstGeom>
          <a:solidFill>
            <a:srgbClr val="1E2761"/>
          </a:solidFill>
          <a:ln w="25400">
            <a:solidFill>
              <a:srgbClr val="CADCFC"/>
            </a:solidFill>
            <a:prstDash val="solid"/>
          </a:ln>
        </p:spPr>
      </p:sp>
      <p:sp>
        <p:nvSpPr>
          <p:cNvPr id="3" name="Shape 1"/>
          <p:cNvSpPr/>
          <p:nvPr/>
        </p:nvSpPr>
        <p:spPr>
          <a:xfrm>
            <a:off x="9372600" y="1965960"/>
            <a:ext cx="1645920" cy="1645920"/>
          </a:xfrm>
          <a:prstGeom prst="ellipse">
            <a:avLst/>
          </a:prstGeom>
          <a:solidFill>
            <a:srgbClr val="141A45"/>
          </a:solidFill>
          <a:ln w="19050">
            <a:solidFill>
              <a:srgbClr val="E8A33D"/>
            </a:solidFill>
            <a:prstDash val="solid"/>
          </a:ln>
        </p:spPr>
      </p:sp>
      <p:sp>
        <p:nvSpPr>
          <p:cNvPr id="4" name="Text 2"/>
          <p:cNvSpPr/>
          <p:nvPr/>
        </p:nvSpPr>
        <p:spPr>
          <a:xfrm>
            <a:off x="9372600" y="1965960"/>
            <a:ext cx="1645920" cy="1645920"/>
          </a:xfrm>
          <a:prstGeom prst="rect">
            <a:avLst/>
          </a:prstGeom>
          <a:noFill/>
          <a:ln/>
        </p:spPr>
        <p:txBody>
          <a:bodyPr wrap="square" lIns="0" tIns="0" rIns="0" bIns="0" rtlCol="0" anchor="ctr"/>
          <a:lstStyle/>
          <a:p>
            <a:pPr marL="0" indent="0" algn="ctr">
              <a:buNone/>
            </a:pPr>
            <a:r>
              <a:rPr lang="en-US" sz="3000" b="1" dirty="0">
                <a:solidFill>
                  <a:srgbClr val="E8A33D"/>
                </a:solidFill>
                <a:latin typeface="Cambria" pitchFamily="34" charset="0"/>
                <a:ea typeface="Cambria" pitchFamily="34" charset="-122"/>
                <a:cs typeface="Cambria" pitchFamily="34" charset="-120"/>
              </a:rPr>
              <a:t>43%</a:t>
            </a:r>
            <a:endParaRPr lang="en-US" sz="3000" dirty="0"/>
          </a:p>
        </p:txBody>
      </p:sp>
      <p:sp>
        <p:nvSpPr>
          <p:cNvPr id="5" name="Text 3"/>
          <p:cNvSpPr/>
          <p:nvPr/>
        </p:nvSpPr>
        <p:spPr>
          <a:xfrm>
            <a:off x="640080" y="1828800"/>
            <a:ext cx="7315200" cy="1097280"/>
          </a:xfrm>
          <a:prstGeom prst="rect">
            <a:avLst/>
          </a:prstGeom>
          <a:noFill/>
          <a:ln/>
        </p:spPr>
        <p:txBody>
          <a:bodyPr wrap="square" lIns="0" tIns="0" rIns="0" bIns="0" rtlCol="0" anchor="ctr"/>
          <a:lstStyle/>
          <a:p>
            <a:pPr marL="0" indent="0">
              <a:buNone/>
            </a:pPr>
            <a:r>
              <a:rPr lang="en-US" sz="6000" b="1" kern="0" spc="400" dirty="0">
                <a:solidFill>
                  <a:srgbClr val="FFFFFF"/>
                </a:solidFill>
                <a:latin typeface="Cambria" pitchFamily="34" charset="0"/>
                <a:ea typeface="Cambria" pitchFamily="34" charset="-122"/>
                <a:cs typeface="Cambria" pitchFamily="34" charset="-120"/>
              </a:rPr>
              <a:t>LOUPE</a:t>
            </a:r>
            <a:endParaRPr lang="en-US" sz="6000" dirty="0"/>
          </a:p>
        </p:txBody>
      </p:sp>
      <p:sp>
        <p:nvSpPr>
          <p:cNvPr id="6" name="Text 4"/>
          <p:cNvSpPr/>
          <p:nvPr/>
        </p:nvSpPr>
        <p:spPr>
          <a:xfrm>
            <a:off x="640080" y="2880360"/>
            <a:ext cx="7315200" cy="457200"/>
          </a:xfrm>
          <a:prstGeom prst="rect">
            <a:avLst/>
          </a:prstGeom>
          <a:noFill/>
          <a:ln/>
        </p:spPr>
        <p:txBody>
          <a:bodyPr wrap="square" lIns="0" tIns="0" rIns="0" bIns="0" rtlCol="0" anchor="ctr"/>
          <a:lstStyle/>
          <a:p>
            <a:pPr marL="0" indent="0">
              <a:buNone/>
            </a:pPr>
            <a:r>
              <a:rPr lang="en-US" sz="2000" i="1" dirty="0">
                <a:solidFill>
                  <a:srgbClr val="CADCFC"/>
                </a:solidFill>
                <a:latin typeface="Calibri" pitchFamily="34" charset="0"/>
                <a:ea typeface="Calibri" pitchFamily="34" charset="-122"/>
                <a:cs typeface="Calibri" pitchFamily="34" charset="-120"/>
              </a:rPr>
              <a:t>A jeweller's loupe for the data room</a:t>
            </a:r>
            <a:endParaRPr lang="en-US" sz="2000" dirty="0"/>
          </a:p>
        </p:txBody>
      </p:sp>
      <p:sp>
        <p:nvSpPr>
          <p:cNvPr id="7" name="Text 5"/>
          <p:cNvSpPr/>
          <p:nvPr/>
        </p:nvSpPr>
        <p:spPr>
          <a:xfrm>
            <a:off x="640080" y="3429000"/>
            <a:ext cx="7315200" cy="365760"/>
          </a:xfrm>
          <a:prstGeom prst="rect">
            <a:avLst/>
          </a:prstGeom>
          <a:noFill/>
          <a:ln/>
        </p:spPr>
        <p:txBody>
          <a:bodyPr wrap="square" lIns="0" tIns="0" rIns="0" bIns="0" rtlCol="0" anchor="ctr"/>
          <a:lstStyle/>
          <a:p>
            <a:r>
              <a:rPr lang="en-US" sz="1500" dirty="0" smtClean="0">
                <a:solidFill>
                  <a:srgbClr val="CADCFC"/>
                </a:solidFill>
                <a:latin typeface="Calibri" pitchFamily="34" charset="0"/>
                <a:ea typeface="Calibri" pitchFamily="34" charset="-122"/>
                <a:cs typeface="Calibri" pitchFamily="34" charset="-120"/>
              </a:rPr>
              <a:t>Ten </a:t>
            </a:r>
            <a:r>
              <a:rPr lang="en-US" sz="1500" dirty="0">
                <a:solidFill>
                  <a:srgbClr val="CADCFC"/>
                </a:solidFill>
                <a:latin typeface="Calibri" pitchFamily="34" charset="0"/>
                <a:ea typeface="Calibri" pitchFamily="34" charset="-122"/>
                <a:cs typeface="Calibri" pitchFamily="34" charset="-120"/>
              </a:rPr>
              <a:t>agents. Three planted defects. All three found.</a:t>
            </a:r>
            <a:endParaRPr lang="en-US" sz="1500" dirty="0"/>
          </a:p>
        </p:txBody>
      </p:sp>
      <p:sp>
        <p:nvSpPr>
          <p:cNvPr id="8" name="Text 6"/>
          <p:cNvSpPr/>
          <p:nvPr/>
        </p:nvSpPr>
        <p:spPr>
          <a:xfrm>
            <a:off x="640080" y="5257800"/>
            <a:ext cx="7315200" cy="320040"/>
          </a:xfrm>
          <a:prstGeom prst="rect">
            <a:avLst/>
          </a:prstGeom>
          <a:noFill/>
          <a:ln/>
        </p:spPr>
        <p:txBody>
          <a:bodyPr wrap="square" lIns="0" tIns="0" rIns="0" bIns="0" rtlCol="0" anchor="ctr"/>
          <a:lstStyle/>
          <a:p>
            <a:pPr marL="0" indent="0">
              <a:buNone/>
            </a:pPr>
            <a:r>
              <a:rPr lang="en-US" sz="1500" b="1" kern="0" spc="100" dirty="0" err="1" smtClean="0">
                <a:solidFill>
                  <a:srgbClr val="FFFFFF"/>
                </a:solidFill>
                <a:latin typeface="Calibri" pitchFamily="34" charset="0"/>
                <a:ea typeface="Calibri" pitchFamily="34" charset="-122"/>
                <a:cs typeface="Calibri" pitchFamily="34" charset="-120"/>
              </a:rPr>
              <a:t>Harnoor</a:t>
            </a:r>
            <a:r>
              <a:rPr lang="en-US" sz="1500" b="1" kern="0" spc="100" dirty="0" smtClean="0">
                <a:solidFill>
                  <a:srgbClr val="FFFFFF"/>
                </a:solidFill>
                <a:latin typeface="Calibri" pitchFamily="34" charset="0"/>
                <a:ea typeface="Calibri" pitchFamily="34" charset="-122"/>
                <a:cs typeface="Calibri" pitchFamily="34" charset="-120"/>
              </a:rPr>
              <a:t> Kaur</a:t>
            </a:r>
            <a:endParaRPr lang="en-US" sz="1500" dirty="0"/>
          </a:p>
        </p:txBody>
      </p:sp>
      <p:sp>
        <p:nvSpPr>
          <p:cNvPr id="9" name="Text 7"/>
          <p:cNvSpPr/>
          <p:nvPr/>
        </p:nvSpPr>
        <p:spPr>
          <a:xfrm>
            <a:off x="640080" y="5623560"/>
            <a:ext cx="7315200" cy="320040"/>
          </a:xfrm>
          <a:prstGeom prst="rect">
            <a:avLst/>
          </a:prstGeom>
          <a:noFill/>
          <a:ln/>
        </p:spPr>
        <p:txBody>
          <a:bodyPr wrap="square" lIns="0" tIns="0" rIns="0" bIns="0" rtlCol="0" anchor="ctr"/>
          <a:lstStyle/>
          <a:p>
            <a:pPr marL="0" indent="0">
              <a:buNone/>
            </a:pPr>
            <a:r>
              <a:rPr lang="en-US" sz="1200" dirty="0">
                <a:solidFill>
                  <a:srgbClr val="CADCFC"/>
                </a:solidFill>
                <a:latin typeface="Calibri" pitchFamily="34" charset="0"/>
                <a:ea typeface="Calibri" pitchFamily="34" charset="-122"/>
                <a:cs typeface="Calibri" pitchFamily="34" charset="-120"/>
              </a:rPr>
              <a:t>Summer School '26  ·  OpenAI Agents SDK  ·  Gemini</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84048"/>
            <a:ext cx="7315200" cy="274320"/>
          </a:xfrm>
          <a:prstGeom prst="rect">
            <a:avLst/>
          </a:prstGeom>
          <a:noFill/>
          <a:ln/>
        </p:spPr>
        <p:txBody>
          <a:bodyPr wrap="square" lIns="0" tIns="0" rIns="0" bIns="0" rtlCol="0" anchor="ctr"/>
          <a:lstStyle/>
          <a:p>
            <a:pPr marL="0" indent="0">
              <a:buNone/>
            </a:pPr>
            <a:r>
              <a:rPr lang="en-US" sz="1100" b="1" kern="0" spc="200" dirty="0">
                <a:solidFill>
                  <a:srgbClr val="5A6280"/>
                </a:solidFill>
                <a:latin typeface="Calibri" pitchFamily="34" charset="0"/>
                <a:ea typeface="Calibri" pitchFamily="34" charset="-122"/>
                <a:cs typeface="Calibri" pitchFamily="34" charset="-120"/>
              </a:rPr>
              <a:t>THE PROBLEM</a:t>
            </a:r>
            <a:endParaRPr lang="en-US" sz="1100" dirty="0"/>
          </a:p>
        </p:txBody>
      </p:sp>
      <p:sp>
        <p:nvSpPr>
          <p:cNvPr id="3" name="Text 1"/>
          <p:cNvSpPr/>
          <p:nvPr/>
        </p:nvSpPr>
        <p:spPr>
          <a:xfrm>
            <a:off x="640080" y="685800"/>
            <a:ext cx="10881360" cy="777240"/>
          </a:xfrm>
          <a:prstGeom prst="rect">
            <a:avLst/>
          </a:prstGeom>
          <a:noFill/>
          <a:ln/>
        </p:spPr>
        <p:txBody>
          <a:bodyPr wrap="square" lIns="0" tIns="0" rIns="0" bIns="0" rtlCol="0" anchor="ctr"/>
          <a:lstStyle/>
          <a:p>
            <a:pPr marL="0" indent="0">
              <a:buNone/>
            </a:pPr>
            <a:r>
              <a:rPr lang="en-US" sz="3400" b="1" dirty="0">
                <a:solidFill>
                  <a:srgbClr val="1E2761"/>
                </a:solidFill>
                <a:latin typeface="Cambria" pitchFamily="34" charset="0"/>
                <a:ea typeface="Cambria" pitchFamily="34" charset="-122"/>
                <a:cs typeface="Cambria" pitchFamily="34" charset="-120"/>
              </a:rPr>
              <a:t>Two weeks. Several hundred documents.</a:t>
            </a:r>
            <a:endParaRPr lang="en-US" sz="3400" dirty="0"/>
          </a:p>
        </p:txBody>
      </p:sp>
      <p:sp>
        <p:nvSpPr>
          <p:cNvPr id="4" name="Shape 2"/>
          <p:cNvSpPr/>
          <p:nvPr/>
        </p:nvSpPr>
        <p:spPr>
          <a:xfrm>
            <a:off x="640080" y="2011680"/>
            <a:ext cx="384048" cy="384048"/>
          </a:xfrm>
          <a:prstGeom prst="ellipse">
            <a:avLst/>
          </a:prstGeom>
          <a:solidFill>
            <a:srgbClr val="1E2761"/>
          </a:solidFill>
          <a:ln/>
        </p:spPr>
      </p:sp>
      <p:sp>
        <p:nvSpPr>
          <p:cNvPr id="5" name="Text 3"/>
          <p:cNvSpPr/>
          <p:nvPr/>
        </p:nvSpPr>
        <p:spPr>
          <a:xfrm>
            <a:off x="640080" y="2011680"/>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6" name="Text 4"/>
          <p:cNvSpPr/>
          <p:nvPr/>
        </p:nvSpPr>
        <p:spPr>
          <a:xfrm>
            <a:off x="1280160" y="1965960"/>
            <a:ext cx="9601200" cy="365760"/>
          </a:xfrm>
          <a:prstGeom prst="rect">
            <a:avLst/>
          </a:prstGeom>
          <a:noFill/>
          <a:ln/>
        </p:spPr>
        <p:txBody>
          <a:bodyPr wrap="square" lIns="0" tIns="0" rIns="0" bIns="0" rtlCol="0" anchor="ctr"/>
          <a:lstStyle/>
          <a:p>
            <a:pPr marL="0" indent="0">
              <a:buNone/>
            </a:pPr>
            <a:r>
              <a:rPr lang="en-US" sz="1900" b="1" dirty="0">
                <a:solidFill>
                  <a:srgbClr val="1A1A2E"/>
                </a:solidFill>
                <a:latin typeface="Calibri" pitchFamily="34" charset="0"/>
                <a:ea typeface="Calibri" pitchFamily="34" charset="-122"/>
                <a:cs typeface="Calibri" pitchFamily="34" charset="-120"/>
              </a:rPr>
              <a:t>Reviewers are split by speciality</a:t>
            </a:r>
            <a:endParaRPr lang="en-US" sz="1900" dirty="0"/>
          </a:p>
        </p:txBody>
      </p:sp>
      <p:sp>
        <p:nvSpPr>
          <p:cNvPr id="7" name="Text 5"/>
          <p:cNvSpPr/>
          <p:nvPr/>
        </p:nvSpPr>
        <p:spPr>
          <a:xfrm>
            <a:off x="1280160" y="2350008"/>
            <a:ext cx="9601200" cy="548640"/>
          </a:xfrm>
          <a:prstGeom prst="rect">
            <a:avLst/>
          </a:prstGeom>
          <a:noFill/>
          <a:ln/>
        </p:spPr>
        <p:txBody>
          <a:bodyPr wrap="square" lIns="0" tIns="0" rIns="0" bIns="0" rtlCol="0" anchor="ctr"/>
          <a:lstStyle/>
          <a:p>
            <a:pPr marL="0" indent="0">
              <a:buNone/>
            </a:pPr>
            <a:r>
              <a:rPr lang="en-US" sz="1400" dirty="0">
                <a:solidFill>
                  <a:srgbClr val="5A6280"/>
                </a:solidFill>
                <a:latin typeface="Calibri" pitchFamily="34" charset="0"/>
                <a:ea typeface="Calibri" pitchFamily="34" charset="-122"/>
                <a:cs typeface="Calibri" pitchFamily="34" charset="-120"/>
              </a:rPr>
              <a:t>Lawyers read contracts. Accountants read financials. Neither sees the other's evidence.</a:t>
            </a:r>
            <a:endParaRPr lang="en-US" sz="1400" dirty="0"/>
          </a:p>
        </p:txBody>
      </p:sp>
      <p:sp>
        <p:nvSpPr>
          <p:cNvPr id="8" name="Shape 6"/>
          <p:cNvSpPr/>
          <p:nvPr/>
        </p:nvSpPr>
        <p:spPr>
          <a:xfrm>
            <a:off x="640080" y="3246120"/>
            <a:ext cx="384048" cy="384048"/>
          </a:xfrm>
          <a:prstGeom prst="ellipse">
            <a:avLst/>
          </a:prstGeom>
          <a:solidFill>
            <a:srgbClr val="1E2761"/>
          </a:solidFill>
          <a:ln/>
        </p:spPr>
      </p:sp>
      <p:sp>
        <p:nvSpPr>
          <p:cNvPr id="9" name="Text 7"/>
          <p:cNvSpPr/>
          <p:nvPr/>
        </p:nvSpPr>
        <p:spPr>
          <a:xfrm>
            <a:off x="640080" y="3246120"/>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0" name="Text 8"/>
          <p:cNvSpPr/>
          <p:nvPr/>
        </p:nvSpPr>
        <p:spPr>
          <a:xfrm>
            <a:off x="1280160" y="3200400"/>
            <a:ext cx="9601200" cy="365760"/>
          </a:xfrm>
          <a:prstGeom prst="rect">
            <a:avLst/>
          </a:prstGeom>
          <a:noFill/>
          <a:ln/>
        </p:spPr>
        <p:txBody>
          <a:bodyPr wrap="square" lIns="0" tIns="0" rIns="0" bIns="0" rtlCol="0" anchor="ctr"/>
          <a:lstStyle/>
          <a:p>
            <a:pPr marL="0" indent="0">
              <a:buNone/>
            </a:pPr>
            <a:r>
              <a:rPr lang="en-US" sz="1900" b="1" dirty="0">
                <a:solidFill>
                  <a:srgbClr val="1A1A2E"/>
                </a:solidFill>
                <a:latin typeface="Calibri" pitchFamily="34" charset="0"/>
                <a:ea typeface="Calibri" pitchFamily="34" charset="-122"/>
                <a:cs typeface="Calibri" pitchFamily="34" charset="-120"/>
              </a:rPr>
              <a:t>Nobody reads everything</a:t>
            </a:r>
            <a:endParaRPr lang="en-US" sz="1900" dirty="0"/>
          </a:p>
        </p:txBody>
      </p:sp>
      <p:sp>
        <p:nvSpPr>
          <p:cNvPr id="11" name="Text 9"/>
          <p:cNvSpPr/>
          <p:nvPr/>
        </p:nvSpPr>
        <p:spPr>
          <a:xfrm>
            <a:off x="1280160" y="3584448"/>
            <a:ext cx="9601200" cy="548640"/>
          </a:xfrm>
          <a:prstGeom prst="rect">
            <a:avLst/>
          </a:prstGeom>
          <a:noFill/>
          <a:ln/>
        </p:spPr>
        <p:txBody>
          <a:bodyPr wrap="square" lIns="0" tIns="0" rIns="0" bIns="0" rtlCol="0" anchor="ctr"/>
          <a:lstStyle/>
          <a:p>
            <a:pPr marL="0" indent="0">
              <a:buNone/>
            </a:pPr>
            <a:r>
              <a:rPr lang="en-US" sz="1400" dirty="0">
                <a:solidFill>
                  <a:srgbClr val="5A6280"/>
                </a:solidFill>
                <a:latin typeface="Calibri" pitchFamily="34" charset="0"/>
                <a:ea typeface="Calibri" pitchFamily="34" charset="-122"/>
                <a:cs typeface="Calibri" pitchFamily="34" charset="-120"/>
              </a:rPr>
              <a:t>Large contracts get read closely. The rest get skimmed — and that is where problems survive.</a:t>
            </a:r>
            <a:endParaRPr lang="en-US" sz="1400" dirty="0"/>
          </a:p>
        </p:txBody>
      </p:sp>
      <p:sp>
        <p:nvSpPr>
          <p:cNvPr id="12" name="Shape 10"/>
          <p:cNvSpPr/>
          <p:nvPr/>
        </p:nvSpPr>
        <p:spPr>
          <a:xfrm>
            <a:off x="640080" y="4480560"/>
            <a:ext cx="384048" cy="384048"/>
          </a:xfrm>
          <a:prstGeom prst="ellipse">
            <a:avLst/>
          </a:prstGeom>
          <a:solidFill>
            <a:srgbClr val="1E2761"/>
          </a:solidFill>
          <a:ln/>
        </p:spPr>
      </p:sp>
      <p:sp>
        <p:nvSpPr>
          <p:cNvPr id="13" name="Text 11"/>
          <p:cNvSpPr/>
          <p:nvPr/>
        </p:nvSpPr>
        <p:spPr>
          <a:xfrm>
            <a:off x="640080" y="4480560"/>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4" name="Text 12"/>
          <p:cNvSpPr/>
          <p:nvPr/>
        </p:nvSpPr>
        <p:spPr>
          <a:xfrm>
            <a:off x="1280160" y="4434840"/>
            <a:ext cx="9601200" cy="365760"/>
          </a:xfrm>
          <a:prstGeom prst="rect">
            <a:avLst/>
          </a:prstGeom>
          <a:noFill/>
          <a:ln/>
        </p:spPr>
        <p:txBody>
          <a:bodyPr wrap="square" lIns="0" tIns="0" rIns="0" bIns="0" rtlCol="0" anchor="ctr"/>
          <a:lstStyle/>
          <a:p>
            <a:pPr marL="0" indent="0">
              <a:buNone/>
            </a:pPr>
            <a:r>
              <a:rPr lang="en-US" sz="1900" b="1" dirty="0">
                <a:solidFill>
                  <a:srgbClr val="1A1A2E"/>
                </a:solidFill>
                <a:latin typeface="Calibri" pitchFamily="34" charset="0"/>
                <a:ea typeface="Calibri" pitchFamily="34" charset="-122"/>
                <a:cs typeface="Calibri" pitchFamily="34" charset="-120"/>
              </a:rPr>
              <a:t>Absence leaves no trace</a:t>
            </a:r>
            <a:endParaRPr lang="en-US" sz="1900" dirty="0"/>
          </a:p>
        </p:txBody>
      </p:sp>
      <p:sp>
        <p:nvSpPr>
          <p:cNvPr id="15" name="Text 13"/>
          <p:cNvSpPr/>
          <p:nvPr/>
        </p:nvSpPr>
        <p:spPr>
          <a:xfrm>
            <a:off x="1280160" y="4818888"/>
            <a:ext cx="9601200" cy="548640"/>
          </a:xfrm>
          <a:prstGeom prst="rect">
            <a:avLst/>
          </a:prstGeom>
          <a:noFill/>
          <a:ln/>
        </p:spPr>
        <p:txBody>
          <a:bodyPr wrap="square" lIns="0" tIns="0" rIns="0" bIns="0" rtlCol="0" anchor="ctr"/>
          <a:lstStyle/>
          <a:p>
            <a:pPr marL="0" indent="0">
              <a:buNone/>
            </a:pPr>
            <a:r>
              <a:rPr lang="en-US" sz="1400" dirty="0">
                <a:solidFill>
                  <a:srgbClr val="5A6280"/>
                </a:solidFill>
                <a:latin typeface="Calibri" pitchFamily="34" charset="0"/>
                <a:ea typeface="Calibri" pitchFamily="34" charset="-122"/>
                <a:cs typeface="Calibri" pitchFamily="34" charset="-120"/>
              </a:rPr>
              <a:t>A document that was never provided produces no artifact, so nothing represents it.</a:t>
            </a:r>
            <a:endParaRPr lang="en-US" sz="1400" dirty="0"/>
          </a:p>
        </p:txBody>
      </p:sp>
      <p:sp>
        <p:nvSpPr>
          <p:cNvPr id="16" name="Text 14"/>
          <p:cNvSpPr/>
          <p:nvPr/>
        </p:nvSpPr>
        <p:spPr>
          <a:xfrm>
            <a:off x="640080" y="5760720"/>
            <a:ext cx="10881360" cy="365760"/>
          </a:xfrm>
          <a:prstGeom prst="rect">
            <a:avLst/>
          </a:prstGeom>
          <a:noFill/>
          <a:ln/>
        </p:spPr>
        <p:txBody>
          <a:bodyPr wrap="square" lIns="0" tIns="0" rIns="0" bIns="0" rtlCol="0" anchor="ctr"/>
          <a:lstStyle/>
          <a:p>
            <a:pPr marL="0" indent="0">
              <a:buNone/>
            </a:pPr>
            <a:r>
              <a:rPr lang="en-US" sz="1500" i="1" dirty="0">
                <a:solidFill>
                  <a:srgbClr val="1E2761"/>
                </a:solidFill>
                <a:latin typeface="Calibri" pitchFamily="34" charset="0"/>
                <a:ea typeface="Calibri" pitchFamily="34" charset="-122"/>
                <a:cs typeface="Calibri" pitchFamily="34" charset="-120"/>
              </a:rPr>
              <a:t>The result: diligence is slow, expensive, and incomplete in a predictable way.</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E2761"/>
        </a:solidFill>
        <a:effectLst/>
      </p:bgPr>
    </p:bg>
    <p:spTree>
      <p:nvGrpSpPr>
        <p:cNvPr id="1" name=""/>
        <p:cNvGrpSpPr/>
        <p:nvPr/>
      </p:nvGrpSpPr>
      <p:grpSpPr>
        <a:xfrm>
          <a:off x="0" y="0"/>
          <a:ext cx="0" cy="0"/>
          <a:chOff x="0" y="0"/>
          <a:chExt cx="0" cy="0"/>
        </a:xfrm>
      </p:grpSpPr>
      <p:sp>
        <p:nvSpPr>
          <p:cNvPr id="2" name="Text 0"/>
          <p:cNvSpPr/>
          <p:nvPr/>
        </p:nvSpPr>
        <p:spPr>
          <a:xfrm>
            <a:off x="640080" y="502920"/>
            <a:ext cx="10058400" cy="640080"/>
          </a:xfrm>
          <a:prstGeom prst="rect">
            <a:avLst/>
          </a:prstGeom>
          <a:noFill/>
          <a:ln/>
        </p:spPr>
        <p:txBody>
          <a:bodyPr wrap="square" lIns="0" tIns="0" rIns="0" bIns="0" rtlCol="0" anchor="ctr"/>
          <a:lstStyle/>
          <a:p>
            <a:pPr marL="0" indent="0">
              <a:buNone/>
            </a:pPr>
            <a:r>
              <a:rPr lang="en-US" sz="3400" b="1" dirty="0">
                <a:solidFill>
                  <a:srgbClr val="FFFFFF"/>
                </a:solidFill>
                <a:latin typeface="Cambria" pitchFamily="34" charset="0"/>
                <a:ea typeface="Cambria" pitchFamily="34" charset="-122"/>
                <a:cs typeface="Cambria" pitchFamily="34" charset="-120"/>
              </a:rPr>
              <a:t>The finding nobody catches</a:t>
            </a:r>
            <a:endParaRPr lang="en-US" sz="3400" dirty="0"/>
          </a:p>
        </p:txBody>
      </p:sp>
      <p:sp>
        <p:nvSpPr>
          <p:cNvPr id="3" name="Shape 1"/>
          <p:cNvSpPr/>
          <p:nvPr/>
        </p:nvSpPr>
        <p:spPr>
          <a:xfrm>
            <a:off x="640080" y="1463040"/>
            <a:ext cx="5212080" cy="2148840"/>
          </a:xfrm>
          <a:prstGeom prst="roundRect">
            <a:avLst>
              <a:gd name="adj" fmla="val 3404"/>
            </a:avLst>
          </a:prstGeom>
          <a:solidFill>
            <a:srgbClr val="141A45"/>
          </a:solidFill>
          <a:ln/>
        </p:spPr>
      </p:sp>
      <p:sp>
        <p:nvSpPr>
          <p:cNvPr id="4" name="Text 2"/>
          <p:cNvSpPr/>
          <p:nvPr/>
        </p:nvSpPr>
        <p:spPr>
          <a:xfrm>
            <a:off x="960120" y="1691640"/>
            <a:ext cx="4572000" cy="274320"/>
          </a:xfrm>
          <a:prstGeom prst="rect">
            <a:avLst/>
          </a:prstGeom>
          <a:noFill/>
          <a:ln/>
        </p:spPr>
        <p:txBody>
          <a:bodyPr wrap="square" lIns="0" tIns="0" rIns="0" bIns="0" rtlCol="0" anchor="ctr"/>
          <a:lstStyle/>
          <a:p>
            <a:pPr marL="0" indent="0">
              <a:buNone/>
            </a:pPr>
            <a:r>
              <a:rPr lang="en-US" sz="1100" b="1" kern="0" spc="150" dirty="0">
                <a:solidFill>
                  <a:srgbClr val="CADCFC"/>
                </a:solidFill>
                <a:latin typeface="Calibri" pitchFamily="34" charset="0"/>
                <a:ea typeface="Calibri" pitchFamily="34" charset="-122"/>
                <a:cs typeface="Calibri" pitchFamily="34" charset="-120"/>
              </a:rPr>
              <a:t>IN THE LEGAL FOLDER</a:t>
            </a:r>
            <a:endParaRPr lang="en-US" sz="1100" dirty="0"/>
          </a:p>
        </p:txBody>
      </p:sp>
      <p:sp>
        <p:nvSpPr>
          <p:cNvPr id="5" name="Text 3"/>
          <p:cNvSpPr/>
          <p:nvPr/>
        </p:nvSpPr>
        <p:spPr>
          <a:xfrm>
            <a:off x="960120" y="2057400"/>
            <a:ext cx="4572000" cy="1280160"/>
          </a:xfrm>
          <a:prstGeom prst="rect">
            <a:avLst/>
          </a:prstGeom>
          <a:noFill/>
          <a:ln/>
        </p:spPr>
        <p:txBody>
          <a:bodyPr wrap="square" lIns="0" tIns="0" rIns="0" bIns="0" rtlCol="0" anchor="ctr"/>
          <a:lstStyle/>
          <a:p>
            <a:pPr marL="0" indent="0">
              <a:buNone/>
            </a:pPr>
            <a:r>
              <a:rPr lang="en-US" sz="1500" i="1" dirty="0">
                <a:solidFill>
                  <a:srgbClr val="FFFFFF"/>
                </a:solidFill>
                <a:latin typeface="Calibri" pitchFamily="34" charset="0"/>
                <a:ea typeface="Calibri" pitchFamily="34" charset="-122"/>
                <a:cs typeface="Calibri" pitchFamily="34" charset="-120"/>
              </a:rPr>
              <a:t>"Customer may terminate this Agreement upon thirty (30) days written notice" — on a change of control</a:t>
            </a:r>
            <a:endParaRPr lang="en-US" sz="1500" dirty="0"/>
          </a:p>
        </p:txBody>
      </p:sp>
      <p:sp>
        <p:nvSpPr>
          <p:cNvPr id="6" name="Shape 4"/>
          <p:cNvSpPr/>
          <p:nvPr/>
        </p:nvSpPr>
        <p:spPr>
          <a:xfrm>
            <a:off x="6309360" y="1463040"/>
            <a:ext cx="5212080" cy="2148840"/>
          </a:xfrm>
          <a:prstGeom prst="roundRect">
            <a:avLst>
              <a:gd name="adj" fmla="val 3404"/>
            </a:avLst>
          </a:prstGeom>
          <a:solidFill>
            <a:srgbClr val="141A45"/>
          </a:solidFill>
          <a:ln/>
        </p:spPr>
      </p:sp>
      <p:sp>
        <p:nvSpPr>
          <p:cNvPr id="7" name="Text 5"/>
          <p:cNvSpPr/>
          <p:nvPr/>
        </p:nvSpPr>
        <p:spPr>
          <a:xfrm>
            <a:off x="6629400" y="1691640"/>
            <a:ext cx="4572000" cy="274320"/>
          </a:xfrm>
          <a:prstGeom prst="rect">
            <a:avLst/>
          </a:prstGeom>
          <a:noFill/>
          <a:ln/>
        </p:spPr>
        <p:txBody>
          <a:bodyPr wrap="square" lIns="0" tIns="0" rIns="0" bIns="0" rtlCol="0" anchor="ctr"/>
          <a:lstStyle/>
          <a:p>
            <a:pPr marL="0" indent="0">
              <a:buNone/>
            </a:pPr>
            <a:r>
              <a:rPr lang="en-US" sz="1100" b="1" kern="0" spc="150" dirty="0">
                <a:solidFill>
                  <a:srgbClr val="CADCFC"/>
                </a:solidFill>
                <a:latin typeface="Calibri" pitchFamily="34" charset="0"/>
                <a:ea typeface="Calibri" pitchFamily="34" charset="-122"/>
                <a:cs typeface="Calibri" pitchFamily="34" charset="-120"/>
              </a:rPr>
              <a:t>IN THE FINANCIAL FOLDER</a:t>
            </a:r>
            <a:endParaRPr lang="en-US" sz="1100" dirty="0"/>
          </a:p>
        </p:txBody>
      </p:sp>
      <p:sp>
        <p:nvSpPr>
          <p:cNvPr id="8" name="Text 6"/>
          <p:cNvSpPr/>
          <p:nvPr/>
        </p:nvSpPr>
        <p:spPr>
          <a:xfrm>
            <a:off x="6629400" y="2057400"/>
            <a:ext cx="4572000" cy="1280160"/>
          </a:xfrm>
          <a:prstGeom prst="rect">
            <a:avLst/>
          </a:prstGeom>
          <a:noFill/>
          <a:ln/>
        </p:spPr>
        <p:txBody>
          <a:bodyPr wrap="square" lIns="0" tIns="0" rIns="0" bIns="0" rtlCol="0" anchor="ctr"/>
          <a:lstStyle/>
          <a:p>
            <a:pPr marL="0" indent="0">
              <a:buNone/>
            </a:pPr>
            <a:r>
              <a:rPr lang="en-US" sz="1500" i="1" dirty="0">
                <a:solidFill>
                  <a:srgbClr val="FFFFFF"/>
                </a:solidFill>
                <a:latin typeface="Calibri" pitchFamily="34" charset="0"/>
                <a:ea typeface="Calibri" pitchFamily="34" charset="-122"/>
                <a:cs typeface="Calibri" pitchFamily="34" charset="-120"/>
              </a:rPr>
              <a:t>"TitanRetail Group... representing 43% of total revenue"</a:t>
            </a:r>
            <a:endParaRPr lang="en-US" sz="1500" dirty="0"/>
          </a:p>
        </p:txBody>
      </p:sp>
      <p:sp>
        <p:nvSpPr>
          <p:cNvPr id="9" name="Text 7"/>
          <p:cNvSpPr/>
          <p:nvPr/>
        </p:nvSpPr>
        <p:spPr>
          <a:xfrm>
            <a:off x="640080" y="3977640"/>
            <a:ext cx="10881360" cy="411480"/>
          </a:xfrm>
          <a:prstGeom prst="rect">
            <a:avLst/>
          </a:prstGeom>
          <a:noFill/>
          <a:ln/>
        </p:spPr>
        <p:txBody>
          <a:bodyPr wrap="square" lIns="0" tIns="0" rIns="0" bIns="0" rtlCol="0" anchor="ctr"/>
          <a:lstStyle/>
          <a:p>
            <a:pPr marL="0" indent="0" algn="ctr">
              <a:buNone/>
            </a:pPr>
            <a:r>
              <a:rPr lang="en-US" sz="1800" dirty="0">
                <a:solidFill>
                  <a:srgbClr val="CADCFC"/>
                </a:solidFill>
                <a:latin typeface="Calibri" pitchFamily="34" charset="0"/>
                <a:ea typeface="Calibri" pitchFamily="34" charset="-122"/>
                <a:cs typeface="Calibri" pitchFamily="34" charset="-120"/>
              </a:rPr>
              <a:t>Neither is alarming alone.</a:t>
            </a:r>
            <a:endParaRPr lang="en-US" sz="1800" dirty="0"/>
          </a:p>
        </p:txBody>
      </p:sp>
      <p:sp>
        <p:nvSpPr>
          <p:cNvPr id="10" name="Shape 8"/>
          <p:cNvSpPr/>
          <p:nvPr/>
        </p:nvSpPr>
        <p:spPr>
          <a:xfrm>
            <a:off x="2011680" y="4572000"/>
            <a:ext cx="8138160" cy="1234440"/>
          </a:xfrm>
          <a:prstGeom prst="roundRect">
            <a:avLst>
              <a:gd name="adj" fmla="val 5926"/>
            </a:avLst>
          </a:prstGeom>
          <a:solidFill>
            <a:srgbClr val="E8A33D"/>
          </a:solidFill>
          <a:ln/>
        </p:spPr>
      </p:sp>
      <p:sp>
        <p:nvSpPr>
          <p:cNvPr id="11" name="Text 9"/>
          <p:cNvSpPr/>
          <p:nvPr/>
        </p:nvSpPr>
        <p:spPr>
          <a:xfrm>
            <a:off x="2011680" y="4572000"/>
            <a:ext cx="8138160" cy="1234440"/>
          </a:xfrm>
          <a:prstGeom prst="rect">
            <a:avLst/>
          </a:prstGeom>
          <a:noFill/>
          <a:ln/>
        </p:spPr>
        <p:txBody>
          <a:bodyPr wrap="square" lIns="0" tIns="0" rIns="0" bIns="0" rtlCol="0" anchor="ctr"/>
          <a:lstStyle/>
          <a:p>
            <a:pPr marL="0" indent="0" algn="ctr">
              <a:buNone/>
            </a:pPr>
            <a:r>
              <a:rPr lang="en-US" sz="2500" b="1" dirty="0">
                <a:solidFill>
                  <a:srgbClr val="141A45"/>
                </a:solidFill>
                <a:latin typeface="Cambria" pitchFamily="34" charset="0"/>
                <a:ea typeface="Cambria" pitchFamily="34" charset="-122"/>
                <a:cs typeface="Cambria" pitchFamily="34" charset="-120"/>
              </a:rPr>
              <a:t>Buying this company destroys 43% of its revenue.</a:t>
            </a:r>
            <a:endParaRPr lang="en-US" sz="2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84048"/>
            <a:ext cx="7315200" cy="274320"/>
          </a:xfrm>
          <a:prstGeom prst="rect">
            <a:avLst/>
          </a:prstGeom>
          <a:noFill/>
          <a:ln/>
        </p:spPr>
        <p:txBody>
          <a:bodyPr wrap="square" lIns="0" tIns="0" rIns="0" bIns="0" rtlCol="0" anchor="ctr"/>
          <a:lstStyle/>
          <a:p>
            <a:pPr marL="0" indent="0">
              <a:buNone/>
            </a:pPr>
            <a:r>
              <a:rPr lang="en-US" sz="1100" b="1" kern="0" spc="200" dirty="0">
                <a:solidFill>
                  <a:srgbClr val="5A6280"/>
                </a:solidFill>
                <a:latin typeface="Calibri" pitchFamily="34" charset="0"/>
                <a:ea typeface="Calibri" pitchFamily="34" charset="-122"/>
                <a:cs typeface="Calibri" pitchFamily="34" charset="-120"/>
              </a:rPr>
              <a:t>ARCHITECTURE</a:t>
            </a:r>
            <a:endParaRPr lang="en-US" sz="1100" dirty="0"/>
          </a:p>
        </p:txBody>
      </p:sp>
      <p:sp>
        <p:nvSpPr>
          <p:cNvPr id="3" name="Text 1"/>
          <p:cNvSpPr/>
          <p:nvPr/>
        </p:nvSpPr>
        <p:spPr>
          <a:xfrm>
            <a:off x="640080" y="685800"/>
            <a:ext cx="10881360" cy="777240"/>
          </a:xfrm>
          <a:prstGeom prst="rect">
            <a:avLst/>
          </a:prstGeom>
          <a:noFill/>
          <a:ln/>
        </p:spPr>
        <p:txBody>
          <a:bodyPr wrap="square" lIns="0" tIns="0" rIns="0" bIns="0" rtlCol="0" anchor="ctr"/>
          <a:lstStyle/>
          <a:p>
            <a:pPr marL="0" indent="0">
              <a:buNone/>
            </a:pPr>
            <a:r>
              <a:rPr lang="en-US" sz="3400" b="1" dirty="0">
                <a:solidFill>
                  <a:srgbClr val="1E2761"/>
                </a:solidFill>
                <a:latin typeface="Cambria" pitchFamily="34" charset="0"/>
                <a:ea typeface="Cambria" pitchFamily="34" charset="-122"/>
                <a:cs typeface="Cambria" pitchFamily="34" charset="-120"/>
              </a:rPr>
              <a:t>Why the obvious design fails</a:t>
            </a:r>
            <a:endParaRPr lang="en-US" sz="3400" dirty="0"/>
          </a:p>
        </p:txBody>
      </p:sp>
      <p:sp>
        <p:nvSpPr>
          <p:cNvPr id="4" name="Text 2"/>
          <p:cNvSpPr/>
          <p:nvPr/>
        </p:nvSpPr>
        <p:spPr>
          <a:xfrm>
            <a:off x="640080" y="1737360"/>
            <a:ext cx="10881360" cy="320040"/>
          </a:xfrm>
          <a:prstGeom prst="rect">
            <a:avLst/>
          </a:prstGeom>
          <a:noFill/>
          <a:ln/>
        </p:spPr>
        <p:txBody>
          <a:bodyPr wrap="square" lIns="0" tIns="0" rIns="0" bIns="0" rtlCol="0" anchor="ctr"/>
          <a:lstStyle/>
          <a:p>
            <a:pPr marL="0" indent="0">
              <a:buNone/>
            </a:pPr>
            <a:r>
              <a:rPr lang="en-US" sz="1500" dirty="0">
                <a:solidFill>
                  <a:srgbClr val="5A6280"/>
                </a:solidFill>
                <a:latin typeface="Calibri" pitchFamily="34" charset="0"/>
                <a:ea typeface="Calibri" pitchFamily="34" charset="-122"/>
                <a:cs typeface="Calibri" pitchFamily="34" charset="-120"/>
              </a:rPr>
              <a:t>The approach my brief suggested — one agent per document type:</a:t>
            </a:r>
            <a:endParaRPr lang="en-US" sz="1500" dirty="0"/>
          </a:p>
        </p:txBody>
      </p:sp>
      <p:sp>
        <p:nvSpPr>
          <p:cNvPr id="5" name="Shape 3"/>
          <p:cNvSpPr/>
          <p:nvPr/>
        </p:nvSpPr>
        <p:spPr>
          <a:xfrm>
            <a:off x="640080" y="2240280"/>
            <a:ext cx="2377440" cy="1143000"/>
          </a:xfrm>
          <a:prstGeom prst="roundRect">
            <a:avLst>
              <a:gd name="adj" fmla="val 6400"/>
            </a:avLst>
          </a:prstGeom>
          <a:solidFill>
            <a:srgbClr val="F7F9FD"/>
          </a:solidFill>
          <a:ln w="12700">
            <a:solidFill>
              <a:srgbClr val="CADCFC"/>
            </a:solidFill>
            <a:prstDash val="solid"/>
          </a:ln>
        </p:spPr>
      </p:sp>
      <p:sp>
        <p:nvSpPr>
          <p:cNvPr id="6" name="Text 4"/>
          <p:cNvSpPr/>
          <p:nvPr/>
        </p:nvSpPr>
        <p:spPr>
          <a:xfrm>
            <a:off x="640080" y="2240280"/>
            <a:ext cx="2377440" cy="1143000"/>
          </a:xfrm>
          <a:prstGeom prst="rect">
            <a:avLst/>
          </a:prstGeom>
          <a:noFill/>
          <a:ln/>
        </p:spPr>
        <p:txBody>
          <a:bodyPr wrap="square" lIns="0" tIns="0" rIns="0" bIns="0" rtlCol="0" anchor="ctr"/>
          <a:lstStyle/>
          <a:p>
            <a:pPr marL="0" indent="0" algn="ctr">
              <a:buNone/>
            </a:pPr>
            <a:r>
              <a:rPr lang="en-US" sz="1500" b="1" dirty="0">
                <a:solidFill>
                  <a:srgbClr val="1E2761"/>
                </a:solidFill>
                <a:latin typeface="Calibri" pitchFamily="34" charset="0"/>
                <a:ea typeface="Calibri" pitchFamily="34" charset="-122"/>
                <a:cs typeface="Calibri" pitchFamily="34" charset="-120"/>
              </a:rPr>
              <a:t>Legal</a:t>
            </a:r>
            <a:endParaRPr lang="en-US" sz="1500" dirty="0"/>
          </a:p>
          <a:p>
            <a:pPr marL="0" indent="0" algn="ctr">
              <a:buNone/>
            </a:pPr>
            <a:r>
              <a:rPr lang="en-US" sz="1500" b="1" dirty="0">
                <a:solidFill>
                  <a:srgbClr val="1E2761"/>
                </a:solidFill>
                <a:latin typeface="Calibri" pitchFamily="34" charset="0"/>
                <a:ea typeface="Calibri" pitchFamily="34" charset="-122"/>
                <a:cs typeface="Calibri" pitchFamily="34" charset="-120"/>
              </a:rPr>
              <a:t>agent</a:t>
            </a:r>
            <a:endParaRPr lang="en-US" sz="1500" dirty="0"/>
          </a:p>
        </p:txBody>
      </p:sp>
      <p:sp>
        <p:nvSpPr>
          <p:cNvPr id="7" name="Shape 5"/>
          <p:cNvSpPr/>
          <p:nvPr/>
        </p:nvSpPr>
        <p:spPr>
          <a:xfrm>
            <a:off x="3383280" y="2240280"/>
            <a:ext cx="2377440" cy="1143000"/>
          </a:xfrm>
          <a:prstGeom prst="roundRect">
            <a:avLst>
              <a:gd name="adj" fmla="val 6400"/>
            </a:avLst>
          </a:prstGeom>
          <a:solidFill>
            <a:srgbClr val="F7F9FD"/>
          </a:solidFill>
          <a:ln w="12700">
            <a:solidFill>
              <a:srgbClr val="CADCFC"/>
            </a:solidFill>
            <a:prstDash val="solid"/>
          </a:ln>
        </p:spPr>
      </p:sp>
      <p:sp>
        <p:nvSpPr>
          <p:cNvPr id="8" name="Text 6"/>
          <p:cNvSpPr/>
          <p:nvPr/>
        </p:nvSpPr>
        <p:spPr>
          <a:xfrm>
            <a:off x="3383280" y="2240280"/>
            <a:ext cx="2377440" cy="1143000"/>
          </a:xfrm>
          <a:prstGeom prst="rect">
            <a:avLst/>
          </a:prstGeom>
          <a:noFill/>
          <a:ln/>
        </p:spPr>
        <p:txBody>
          <a:bodyPr wrap="square" lIns="0" tIns="0" rIns="0" bIns="0" rtlCol="0" anchor="ctr"/>
          <a:lstStyle/>
          <a:p>
            <a:pPr marL="0" indent="0" algn="ctr">
              <a:buNone/>
            </a:pPr>
            <a:r>
              <a:rPr lang="en-US" sz="1500" b="1" dirty="0">
                <a:solidFill>
                  <a:srgbClr val="1E2761"/>
                </a:solidFill>
                <a:latin typeface="Calibri" pitchFamily="34" charset="0"/>
                <a:ea typeface="Calibri" pitchFamily="34" charset="-122"/>
                <a:cs typeface="Calibri" pitchFamily="34" charset="-120"/>
              </a:rPr>
              <a:t>Financial</a:t>
            </a:r>
            <a:endParaRPr lang="en-US" sz="1500" dirty="0"/>
          </a:p>
          <a:p>
            <a:pPr marL="0" indent="0" algn="ctr">
              <a:buNone/>
            </a:pPr>
            <a:r>
              <a:rPr lang="en-US" sz="1500" b="1" dirty="0">
                <a:solidFill>
                  <a:srgbClr val="1E2761"/>
                </a:solidFill>
                <a:latin typeface="Calibri" pitchFamily="34" charset="0"/>
                <a:ea typeface="Calibri" pitchFamily="34" charset="-122"/>
                <a:cs typeface="Calibri" pitchFamily="34" charset="-120"/>
              </a:rPr>
              <a:t>agent</a:t>
            </a:r>
            <a:endParaRPr lang="en-US" sz="1500" dirty="0"/>
          </a:p>
        </p:txBody>
      </p:sp>
      <p:sp>
        <p:nvSpPr>
          <p:cNvPr id="9" name="Shape 7"/>
          <p:cNvSpPr/>
          <p:nvPr/>
        </p:nvSpPr>
        <p:spPr>
          <a:xfrm>
            <a:off x="6126480" y="2240280"/>
            <a:ext cx="2377440" cy="1143000"/>
          </a:xfrm>
          <a:prstGeom prst="roundRect">
            <a:avLst>
              <a:gd name="adj" fmla="val 6400"/>
            </a:avLst>
          </a:prstGeom>
          <a:solidFill>
            <a:srgbClr val="F7F9FD"/>
          </a:solidFill>
          <a:ln w="12700">
            <a:solidFill>
              <a:srgbClr val="CADCFC"/>
            </a:solidFill>
            <a:prstDash val="solid"/>
          </a:ln>
        </p:spPr>
      </p:sp>
      <p:sp>
        <p:nvSpPr>
          <p:cNvPr id="10" name="Text 8"/>
          <p:cNvSpPr/>
          <p:nvPr/>
        </p:nvSpPr>
        <p:spPr>
          <a:xfrm>
            <a:off x="6126480" y="2240280"/>
            <a:ext cx="2377440" cy="1143000"/>
          </a:xfrm>
          <a:prstGeom prst="rect">
            <a:avLst/>
          </a:prstGeom>
          <a:noFill/>
          <a:ln/>
        </p:spPr>
        <p:txBody>
          <a:bodyPr wrap="square" lIns="0" tIns="0" rIns="0" bIns="0" rtlCol="0" anchor="ctr"/>
          <a:lstStyle/>
          <a:p>
            <a:pPr marL="0" indent="0" algn="ctr">
              <a:buNone/>
            </a:pPr>
            <a:r>
              <a:rPr lang="en-US" sz="1500" b="1" dirty="0">
                <a:solidFill>
                  <a:srgbClr val="1E2761"/>
                </a:solidFill>
                <a:latin typeface="Calibri" pitchFamily="34" charset="0"/>
                <a:ea typeface="Calibri" pitchFamily="34" charset="-122"/>
                <a:cs typeface="Calibri" pitchFamily="34" charset="-120"/>
              </a:rPr>
              <a:t>Compliance</a:t>
            </a:r>
            <a:endParaRPr lang="en-US" sz="1500" dirty="0"/>
          </a:p>
          <a:p>
            <a:pPr marL="0" indent="0" algn="ctr">
              <a:buNone/>
            </a:pPr>
            <a:r>
              <a:rPr lang="en-US" sz="1500" b="1" dirty="0">
                <a:solidFill>
                  <a:srgbClr val="1E2761"/>
                </a:solidFill>
                <a:latin typeface="Calibri" pitchFamily="34" charset="0"/>
                <a:ea typeface="Calibri" pitchFamily="34" charset="-122"/>
                <a:cs typeface="Calibri" pitchFamily="34" charset="-120"/>
              </a:rPr>
              <a:t>agent</a:t>
            </a:r>
            <a:endParaRPr lang="en-US" sz="1500" dirty="0"/>
          </a:p>
        </p:txBody>
      </p:sp>
      <p:sp>
        <p:nvSpPr>
          <p:cNvPr id="11" name="Shape 9"/>
          <p:cNvSpPr/>
          <p:nvPr/>
        </p:nvSpPr>
        <p:spPr>
          <a:xfrm>
            <a:off x="8869680" y="2240280"/>
            <a:ext cx="2377440" cy="1143000"/>
          </a:xfrm>
          <a:prstGeom prst="roundRect">
            <a:avLst>
              <a:gd name="adj" fmla="val 6400"/>
            </a:avLst>
          </a:prstGeom>
          <a:solidFill>
            <a:srgbClr val="F7F9FD"/>
          </a:solidFill>
          <a:ln w="12700">
            <a:solidFill>
              <a:srgbClr val="CADCFC"/>
            </a:solidFill>
            <a:prstDash val="solid"/>
          </a:ln>
        </p:spPr>
      </p:sp>
      <p:sp>
        <p:nvSpPr>
          <p:cNvPr id="12" name="Text 10"/>
          <p:cNvSpPr/>
          <p:nvPr/>
        </p:nvSpPr>
        <p:spPr>
          <a:xfrm>
            <a:off x="8869680" y="2240280"/>
            <a:ext cx="2377440" cy="1143000"/>
          </a:xfrm>
          <a:prstGeom prst="rect">
            <a:avLst/>
          </a:prstGeom>
          <a:noFill/>
          <a:ln/>
        </p:spPr>
        <p:txBody>
          <a:bodyPr wrap="square" lIns="0" tIns="0" rIns="0" bIns="0" rtlCol="0" anchor="ctr"/>
          <a:lstStyle/>
          <a:p>
            <a:pPr marL="0" indent="0" algn="ctr">
              <a:buNone/>
            </a:pPr>
            <a:r>
              <a:rPr lang="en-US" sz="1500" b="1" dirty="0">
                <a:solidFill>
                  <a:srgbClr val="1E2761"/>
                </a:solidFill>
                <a:latin typeface="Calibri" pitchFamily="34" charset="0"/>
                <a:ea typeface="Calibri" pitchFamily="34" charset="-122"/>
                <a:cs typeface="Calibri" pitchFamily="34" charset="-120"/>
              </a:rPr>
              <a:t>Operations</a:t>
            </a:r>
            <a:endParaRPr lang="en-US" sz="1500" dirty="0"/>
          </a:p>
          <a:p>
            <a:pPr marL="0" indent="0" algn="ctr">
              <a:buNone/>
            </a:pPr>
            <a:r>
              <a:rPr lang="en-US" sz="1500" b="1" dirty="0">
                <a:solidFill>
                  <a:srgbClr val="1E2761"/>
                </a:solidFill>
                <a:latin typeface="Calibri" pitchFamily="34" charset="0"/>
                <a:ea typeface="Calibri" pitchFamily="34" charset="-122"/>
                <a:cs typeface="Calibri" pitchFamily="34" charset="-120"/>
              </a:rPr>
              <a:t>agent</a:t>
            </a:r>
            <a:endParaRPr lang="en-US" sz="1500" dirty="0"/>
          </a:p>
        </p:txBody>
      </p:sp>
      <p:sp>
        <p:nvSpPr>
          <p:cNvPr id="13" name="Text 11"/>
          <p:cNvSpPr/>
          <p:nvPr/>
        </p:nvSpPr>
        <p:spPr>
          <a:xfrm>
            <a:off x="640080" y="3794760"/>
            <a:ext cx="10881360" cy="457200"/>
          </a:xfrm>
          <a:prstGeom prst="rect">
            <a:avLst/>
          </a:prstGeom>
          <a:noFill/>
          <a:ln/>
        </p:spPr>
        <p:txBody>
          <a:bodyPr wrap="square" lIns="0" tIns="0" rIns="0" bIns="0" rtlCol="0" anchor="ctr"/>
          <a:lstStyle/>
          <a:p>
            <a:pPr marL="0" indent="0">
              <a:buNone/>
            </a:pPr>
            <a:r>
              <a:rPr lang="en-US" sz="2600" b="1" dirty="0">
                <a:solidFill>
                  <a:srgbClr val="B03A3A"/>
                </a:solidFill>
                <a:latin typeface="Cambria" pitchFamily="34" charset="0"/>
                <a:ea typeface="Cambria" pitchFamily="34" charset="-122"/>
                <a:cs typeface="Cambria" pitchFamily="34" charset="-120"/>
              </a:rPr>
              <a:t>This is an org chart, not an architecture.</a:t>
            </a:r>
            <a:endParaRPr lang="en-US" sz="2600" dirty="0"/>
          </a:p>
        </p:txBody>
      </p:sp>
      <p:sp>
        <p:nvSpPr>
          <p:cNvPr id="14" name="Text 12"/>
          <p:cNvSpPr/>
          <p:nvPr/>
        </p:nvSpPr>
        <p:spPr>
          <a:xfrm>
            <a:off x="640080" y="4389120"/>
            <a:ext cx="10515600" cy="822960"/>
          </a:xfrm>
          <a:prstGeom prst="rect">
            <a:avLst/>
          </a:prstGeom>
          <a:noFill/>
          <a:ln/>
        </p:spPr>
        <p:txBody>
          <a:bodyPr wrap="square" lIns="0" tIns="0" rIns="0" bIns="0" rtlCol="0" anchor="ctr"/>
          <a:lstStyle/>
          <a:p>
            <a:pPr marL="0" indent="0">
              <a:buNone/>
            </a:pPr>
            <a:r>
              <a:rPr lang="en-US" sz="1600" dirty="0">
                <a:solidFill>
                  <a:srgbClr val="1A1A2E"/>
                </a:solidFill>
                <a:latin typeface="Calibri" pitchFamily="34" charset="0"/>
                <a:ea typeface="Calibri" pitchFamily="34" charset="-122"/>
                <a:cs typeface="Calibri" pitchFamily="34" charset="-120"/>
              </a:rPr>
              <a:t>The finding lives between two agents' contexts. Neither one owns it. Both file clean reports, and the deal closes with the problem intact.</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84048"/>
            <a:ext cx="7315200" cy="274320"/>
          </a:xfrm>
          <a:prstGeom prst="rect">
            <a:avLst/>
          </a:prstGeom>
          <a:noFill/>
          <a:ln/>
        </p:spPr>
        <p:txBody>
          <a:bodyPr wrap="square" lIns="0" tIns="0" rIns="0" bIns="0" rtlCol="0" anchor="ctr"/>
          <a:lstStyle/>
          <a:p>
            <a:pPr marL="0" indent="0">
              <a:buNone/>
            </a:pPr>
            <a:r>
              <a:rPr lang="en-US" sz="1100" b="1" kern="0" spc="200" dirty="0">
                <a:solidFill>
                  <a:srgbClr val="5A6280"/>
                </a:solidFill>
                <a:latin typeface="Calibri" pitchFamily="34" charset="0"/>
                <a:ea typeface="Calibri" pitchFamily="34" charset="-122"/>
                <a:cs typeface="Calibri" pitchFamily="34" charset="-120"/>
              </a:rPr>
              <a:t>THE FIX</a:t>
            </a:r>
            <a:endParaRPr lang="en-US" sz="1100" dirty="0"/>
          </a:p>
        </p:txBody>
      </p:sp>
      <p:sp>
        <p:nvSpPr>
          <p:cNvPr id="3" name="Text 1"/>
          <p:cNvSpPr/>
          <p:nvPr/>
        </p:nvSpPr>
        <p:spPr>
          <a:xfrm>
            <a:off x="640080" y="685800"/>
            <a:ext cx="10881360" cy="777240"/>
          </a:xfrm>
          <a:prstGeom prst="rect">
            <a:avLst/>
          </a:prstGeom>
          <a:noFill/>
          <a:ln/>
        </p:spPr>
        <p:txBody>
          <a:bodyPr wrap="square" lIns="0" tIns="0" rIns="0" bIns="0" rtlCol="0" anchor="ctr"/>
          <a:lstStyle/>
          <a:p>
            <a:pPr marL="0" indent="0">
              <a:buNone/>
            </a:pPr>
            <a:r>
              <a:rPr lang="en-US" sz="3400" b="1" dirty="0">
                <a:solidFill>
                  <a:srgbClr val="1E2761"/>
                </a:solidFill>
                <a:latin typeface="Cambria" pitchFamily="34" charset="0"/>
                <a:ea typeface="Cambria" pitchFamily="34" charset="-122"/>
                <a:cs typeface="Cambria" pitchFamily="34" charset="-120"/>
              </a:rPr>
              <a:t>Agents work over a shared store</a:t>
            </a:r>
            <a:endParaRPr lang="en-US" sz="3400" dirty="0"/>
          </a:p>
        </p:txBody>
      </p:sp>
      <p:sp>
        <p:nvSpPr>
          <p:cNvPr id="4" name="Shape 2"/>
          <p:cNvSpPr/>
          <p:nvPr/>
        </p:nvSpPr>
        <p:spPr>
          <a:xfrm>
            <a:off x="640080" y="1691640"/>
            <a:ext cx="6035040" cy="566928"/>
          </a:xfrm>
          <a:prstGeom prst="roundRect">
            <a:avLst>
              <a:gd name="adj" fmla="val 9677"/>
            </a:avLst>
          </a:prstGeom>
          <a:solidFill>
            <a:srgbClr val="F7F9FD"/>
          </a:solidFill>
          <a:ln w="12700">
            <a:solidFill>
              <a:srgbClr val="CADCFC"/>
            </a:solidFill>
            <a:prstDash val="solid"/>
          </a:ln>
        </p:spPr>
      </p:sp>
      <p:sp>
        <p:nvSpPr>
          <p:cNvPr id="5" name="Text 3"/>
          <p:cNvSpPr/>
          <p:nvPr/>
        </p:nvSpPr>
        <p:spPr>
          <a:xfrm>
            <a:off x="640080" y="1691640"/>
            <a:ext cx="6035040" cy="566928"/>
          </a:xfrm>
          <a:prstGeom prst="rect">
            <a:avLst/>
          </a:prstGeom>
          <a:noFill/>
          <a:ln/>
        </p:spPr>
        <p:txBody>
          <a:bodyPr wrap="square" lIns="0" tIns="0" rIns="0" bIns="0" rtlCol="0" anchor="ctr"/>
          <a:lstStyle/>
          <a:p>
            <a:pPr marL="0" indent="0" algn="ctr">
              <a:buNone/>
            </a:pPr>
            <a:r>
              <a:rPr lang="en-US" sz="1300" b="1" dirty="0">
                <a:solidFill>
                  <a:srgbClr val="1E2761"/>
                </a:solidFill>
                <a:latin typeface="Calibri" pitchFamily="34" charset="0"/>
                <a:ea typeface="Calibri" pitchFamily="34" charset="-122"/>
                <a:cs typeface="Calibri" pitchFamily="34" charset="-120"/>
              </a:rPr>
              <a:t>Documents</a:t>
            </a:r>
            <a:endParaRPr lang="en-US" sz="1300" dirty="0"/>
          </a:p>
        </p:txBody>
      </p:sp>
      <p:sp>
        <p:nvSpPr>
          <p:cNvPr id="6" name="Text 4"/>
          <p:cNvSpPr/>
          <p:nvPr/>
        </p:nvSpPr>
        <p:spPr>
          <a:xfrm>
            <a:off x="3383280" y="2258568"/>
            <a:ext cx="548640" cy="219456"/>
          </a:xfrm>
          <a:prstGeom prst="rect">
            <a:avLst/>
          </a:prstGeom>
          <a:noFill/>
          <a:ln/>
        </p:spPr>
        <p:txBody>
          <a:bodyPr wrap="square" lIns="0" tIns="0" rIns="0" bIns="0" rtlCol="0" anchor="ctr"/>
          <a:lstStyle/>
          <a:p>
            <a:pPr marL="0" indent="0" algn="ctr">
              <a:buNone/>
            </a:pPr>
            <a:r>
              <a:rPr lang="en-US" sz="1300" dirty="0">
                <a:solidFill>
                  <a:srgbClr val="5A6280"/>
                </a:solidFill>
                <a:latin typeface="Calibri" pitchFamily="34" charset="0"/>
                <a:ea typeface="Calibri" pitchFamily="34" charset="-122"/>
                <a:cs typeface="Calibri" pitchFamily="34" charset="-120"/>
              </a:rPr>
              <a:t>↓</a:t>
            </a:r>
            <a:endParaRPr lang="en-US" sz="1300" dirty="0"/>
          </a:p>
        </p:txBody>
      </p:sp>
      <p:sp>
        <p:nvSpPr>
          <p:cNvPr id="7" name="Shape 5"/>
          <p:cNvSpPr/>
          <p:nvPr/>
        </p:nvSpPr>
        <p:spPr>
          <a:xfrm>
            <a:off x="640080" y="2478024"/>
            <a:ext cx="6035040" cy="566928"/>
          </a:xfrm>
          <a:prstGeom prst="roundRect">
            <a:avLst>
              <a:gd name="adj" fmla="val 9677"/>
            </a:avLst>
          </a:prstGeom>
          <a:solidFill>
            <a:srgbClr val="F7F9FD"/>
          </a:solidFill>
          <a:ln w="12700">
            <a:solidFill>
              <a:srgbClr val="CADCFC"/>
            </a:solidFill>
            <a:prstDash val="solid"/>
          </a:ln>
        </p:spPr>
      </p:sp>
      <p:sp>
        <p:nvSpPr>
          <p:cNvPr id="8" name="Text 6"/>
          <p:cNvSpPr/>
          <p:nvPr/>
        </p:nvSpPr>
        <p:spPr>
          <a:xfrm>
            <a:off x="640080" y="2478024"/>
            <a:ext cx="6035040" cy="566928"/>
          </a:xfrm>
          <a:prstGeom prst="rect">
            <a:avLst/>
          </a:prstGeom>
          <a:noFill/>
          <a:ln/>
        </p:spPr>
        <p:txBody>
          <a:bodyPr wrap="square" lIns="0" tIns="0" rIns="0" bIns="0" rtlCol="0" anchor="ctr"/>
          <a:lstStyle/>
          <a:p>
            <a:pPr marL="0" indent="0" algn="ctr">
              <a:buNone/>
            </a:pPr>
            <a:r>
              <a:rPr lang="en-US" sz="1300" b="1" dirty="0">
                <a:solidFill>
                  <a:srgbClr val="1E2761"/>
                </a:solidFill>
                <a:latin typeface="Calibri" pitchFamily="34" charset="0"/>
                <a:ea typeface="Calibri" pitchFamily="34" charset="-122"/>
                <a:cs typeface="Calibri" pitchFamily="34" charset="-120"/>
              </a:rPr>
              <a:t>Typed claims</a:t>
            </a:r>
            <a:endParaRPr lang="en-US" sz="1300" dirty="0"/>
          </a:p>
          <a:p>
            <a:pPr marL="0" indent="0" algn="ctr">
              <a:buNone/>
            </a:pPr>
            <a:r>
              <a:rPr lang="en-US" sz="1300" b="1" dirty="0">
                <a:solidFill>
                  <a:srgbClr val="1E2761"/>
                </a:solidFill>
                <a:latin typeface="Calibri" pitchFamily="34" charset="0"/>
                <a:ea typeface="Calibri" pitchFamily="34" charset="-122"/>
                <a:cs typeface="Calibri" pitchFamily="34" charset="-120"/>
              </a:rPr>
              <a:t>with citations</a:t>
            </a:r>
            <a:endParaRPr lang="en-US" sz="1300" dirty="0"/>
          </a:p>
        </p:txBody>
      </p:sp>
      <p:sp>
        <p:nvSpPr>
          <p:cNvPr id="9" name="Text 7"/>
          <p:cNvSpPr/>
          <p:nvPr/>
        </p:nvSpPr>
        <p:spPr>
          <a:xfrm>
            <a:off x="3383280" y="3044952"/>
            <a:ext cx="548640" cy="219456"/>
          </a:xfrm>
          <a:prstGeom prst="rect">
            <a:avLst/>
          </a:prstGeom>
          <a:noFill/>
          <a:ln/>
        </p:spPr>
        <p:txBody>
          <a:bodyPr wrap="square" lIns="0" tIns="0" rIns="0" bIns="0" rtlCol="0" anchor="ctr"/>
          <a:lstStyle/>
          <a:p>
            <a:pPr marL="0" indent="0" algn="ctr">
              <a:buNone/>
            </a:pPr>
            <a:r>
              <a:rPr lang="en-US" sz="1300" dirty="0">
                <a:solidFill>
                  <a:srgbClr val="5A6280"/>
                </a:solidFill>
                <a:latin typeface="Calibri" pitchFamily="34" charset="0"/>
                <a:ea typeface="Calibri" pitchFamily="34" charset="-122"/>
                <a:cs typeface="Calibri" pitchFamily="34" charset="-120"/>
              </a:rPr>
              <a:t>↓</a:t>
            </a:r>
            <a:endParaRPr lang="en-US" sz="1300" dirty="0"/>
          </a:p>
        </p:txBody>
      </p:sp>
      <p:sp>
        <p:nvSpPr>
          <p:cNvPr id="10" name="Shape 8"/>
          <p:cNvSpPr/>
          <p:nvPr/>
        </p:nvSpPr>
        <p:spPr>
          <a:xfrm>
            <a:off x="640080" y="3264408"/>
            <a:ext cx="6035040" cy="566928"/>
          </a:xfrm>
          <a:prstGeom prst="roundRect">
            <a:avLst>
              <a:gd name="adj" fmla="val 9677"/>
            </a:avLst>
          </a:prstGeom>
          <a:solidFill>
            <a:srgbClr val="CADCFC"/>
          </a:solidFill>
          <a:ln w="12700">
            <a:solidFill>
              <a:srgbClr val="CADCFC"/>
            </a:solidFill>
            <a:prstDash val="solid"/>
          </a:ln>
        </p:spPr>
      </p:sp>
      <p:sp>
        <p:nvSpPr>
          <p:cNvPr id="11" name="Text 9"/>
          <p:cNvSpPr/>
          <p:nvPr/>
        </p:nvSpPr>
        <p:spPr>
          <a:xfrm>
            <a:off x="640080" y="3264408"/>
            <a:ext cx="6035040" cy="566928"/>
          </a:xfrm>
          <a:prstGeom prst="rect">
            <a:avLst/>
          </a:prstGeom>
          <a:noFill/>
          <a:ln/>
        </p:spPr>
        <p:txBody>
          <a:bodyPr wrap="square" lIns="0" tIns="0" rIns="0" bIns="0" rtlCol="0" anchor="ctr"/>
          <a:lstStyle/>
          <a:p>
            <a:pPr marL="0" indent="0" algn="ctr">
              <a:buNone/>
            </a:pPr>
            <a:r>
              <a:rPr lang="en-US" sz="1300" b="1" dirty="0">
                <a:solidFill>
                  <a:srgbClr val="1E2761"/>
                </a:solidFill>
                <a:latin typeface="Calibri" pitchFamily="34" charset="0"/>
                <a:ea typeface="Calibri" pitchFamily="34" charset="-122"/>
                <a:cs typeface="Calibri" pitchFamily="34" charset="-120"/>
              </a:rPr>
              <a:t>Shared evidence store</a:t>
            </a:r>
            <a:endParaRPr lang="en-US" sz="1300" dirty="0"/>
          </a:p>
        </p:txBody>
      </p:sp>
      <p:sp>
        <p:nvSpPr>
          <p:cNvPr id="12" name="Text 10"/>
          <p:cNvSpPr/>
          <p:nvPr/>
        </p:nvSpPr>
        <p:spPr>
          <a:xfrm>
            <a:off x="3383280" y="3831336"/>
            <a:ext cx="548640" cy="219456"/>
          </a:xfrm>
          <a:prstGeom prst="rect">
            <a:avLst/>
          </a:prstGeom>
          <a:noFill/>
          <a:ln/>
        </p:spPr>
        <p:txBody>
          <a:bodyPr wrap="square" lIns="0" tIns="0" rIns="0" bIns="0" rtlCol="0" anchor="ctr"/>
          <a:lstStyle/>
          <a:p>
            <a:pPr marL="0" indent="0" algn="ctr">
              <a:buNone/>
            </a:pPr>
            <a:r>
              <a:rPr lang="en-US" sz="1300" dirty="0">
                <a:solidFill>
                  <a:srgbClr val="5A6280"/>
                </a:solidFill>
                <a:latin typeface="Calibri" pitchFamily="34" charset="0"/>
                <a:ea typeface="Calibri" pitchFamily="34" charset="-122"/>
                <a:cs typeface="Calibri" pitchFamily="34" charset="-120"/>
              </a:rPr>
              <a:t>↓</a:t>
            </a:r>
            <a:endParaRPr lang="en-US" sz="1300" dirty="0"/>
          </a:p>
        </p:txBody>
      </p:sp>
      <p:sp>
        <p:nvSpPr>
          <p:cNvPr id="13" name="Shape 11"/>
          <p:cNvSpPr/>
          <p:nvPr/>
        </p:nvSpPr>
        <p:spPr>
          <a:xfrm>
            <a:off x="640080" y="4050792"/>
            <a:ext cx="6035040" cy="566928"/>
          </a:xfrm>
          <a:prstGeom prst="roundRect">
            <a:avLst>
              <a:gd name="adj" fmla="val 9677"/>
            </a:avLst>
          </a:prstGeom>
          <a:solidFill>
            <a:srgbClr val="F7F9FD"/>
          </a:solidFill>
          <a:ln w="12700">
            <a:solidFill>
              <a:srgbClr val="CADCFC"/>
            </a:solidFill>
            <a:prstDash val="solid"/>
          </a:ln>
        </p:spPr>
      </p:sp>
      <p:sp>
        <p:nvSpPr>
          <p:cNvPr id="14" name="Text 12"/>
          <p:cNvSpPr/>
          <p:nvPr/>
        </p:nvSpPr>
        <p:spPr>
          <a:xfrm>
            <a:off x="640080" y="4050792"/>
            <a:ext cx="6035040" cy="566928"/>
          </a:xfrm>
          <a:prstGeom prst="rect">
            <a:avLst/>
          </a:prstGeom>
          <a:noFill/>
          <a:ln/>
        </p:spPr>
        <p:txBody>
          <a:bodyPr wrap="square" lIns="0" tIns="0" rIns="0" bIns="0" rtlCol="0" anchor="ctr"/>
          <a:lstStyle/>
          <a:p>
            <a:pPr marL="0" indent="0" algn="ctr">
              <a:buNone/>
            </a:pPr>
            <a:r>
              <a:rPr lang="en-US" sz="1300" b="1" dirty="0">
                <a:solidFill>
                  <a:srgbClr val="1E2761"/>
                </a:solidFill>
                <a:latin typeface="Calibri" pitchFamily="34" charset="0"/>
                <a:ea typeface="Calibri" pitchFamily="34" charset="-122"/>
                <a:cs typeface="Calibri" pitchFamily="34" charset="-120"/>
              </a:rPr>
              <a:t>Detectors read</a:t>
            </a:r>
            <a:endParaRPr lang="en-US" sz="1300" dirty="0"/>
          </a:p>
          <a:p>
            <a:pPr marL="0" indent="0" algn="ctr">
              <a:buNone/>
            </a:pPr>
            <a:r>
              <a:rPr lang="en-US" sz="1300" b="1" dirty="0">
                <a:solidFill>
                  <a:srgbClr val="1E2761"/>
                </a:solidFill>
                <a:latin typeface="Calibri" pitchFamily="34" charset="0"/>
                <a:ea typeface="Calibri" pitchFamily="34" charset="-122"/>
                <a:cs typeface="Calibri" pitchFamily="34" charset="-120"/>
              </a:rPr>
              <a:t>across all documents</a:t>
            </a:r>
            <a:endParaRPr lang="en-US" sz="1300" dirty="0"/>
          </a:p>
        </p:txBody>
      </p:sp>
      <p:sp>
        <p:nvSpPr>
          <p:cNvPr id="15" name="Text 13"/>
          <p:cNvSpPr/>
          <p:nvPr/>
        </p:nvSpPr>
        <p:spPr>
          <a:xfrm>
            <a:off x="3383280" y="4617720"/>
            <a:ext cx="548640" cy="219456"/>
          </a:xfrm>
          <a:prstGeom prst="rect">
            <a:avLst/>
          </a:prstGeom>
          <a:noFill/>
          <a:ln/>
        </p:spPr>
        <p:txBody>
          <a:bodyPr wrap="square" lIns="0" tIns="0" rIns="0" bIns="0" rtlCol="0" anchor="ctr"/>
          <a:lstStyle/>
          <a:p>
            <a:pPr marL="0" indent="0" algn="ctr">
              <a:buNone/>
            </a:pPr>
            <a:r>
              <a:rPr lang="en-US" sz="1300" dirty="0">
                <a:solidFill>
                  <a:srgbClr val="5A6280"/>
                </a:solidFill>
                <a:latin typeface="Calibri" pitchFamily="34" charset="0"/>
                <a:ea typeface="Calibri" pitchFamily="34" charset="-122"/>
                <a:cs typeface="Calibri" pitchFamily="34" charset="-120"/>
              </a:rPr>
              <a:t>↓</a:t>
            </a:r>
            <a:endParaRPr lang="en-US" sz="1300" dirty="0"/>
          </a:p>
        </p:txBody>
      </p:sp>
      <p:sp>
        <p:nvSpPr>
          <p:cNvPr id="16" name="Shape 14"/>
          <p:cNvSpPr/>
          <p:nvPr/>
        </p:nvSpPr>
        <p:spPr>
          <a:xfrm>
            <a:off x="640080" y="4837176"/>
            <a:ext cx="6035040" cy="566928"/>
          </a:xfrm>
          <a:prstGeom prst="roundRect">
            <a:avLst>
              <a:gd name="adj" fmla="val 9677"/>
            </a:avLst>
          </a:prstGeom>
          <a:solidFill>
            <a:srgbClr val="F7F9FD"/>
          </a:solidFill>
          <a:ln w="12700">
            <a:solidFill>
              <a:srgbClr val="CADCFC"/>
            </a:solidFill>
            <a:prstDash val="solid"/>
          </a:ln>
        </p:spPr>
      </p:sp>
      <p:sp>
        <p:nvSpPr>
          <p:cNvPr id="17" name="Text 15"/>
          <p:cNvSpPr/>
          <p:nvPr/>
        </p:nvSpPr>
        <p:spPr>
          <a:xfrm>
            <a:off x="640080" y="4837176"/>
            <a:ext cx="6035040" cy="566928"/>
          </a:xfrm>
          <a:prstGeom prst="rect">
            <a:avLst/>
          </a:prstGeom>
          <a:noFill/>
          <a:ln/>
        </p:spPr>
        <p:txBody>
          <a:bodyPr wrap="square" lIns="0" tIns="0" rIns="0" bIns="0" rtlCol="0" anchor="ctr"/>
          <a:lstStyle/>
          <a:p>
            <a:pPr marL="0" indent="0" algn="ctr">
              <a:buNone/>
            </a:pPr>
            <a:r>
              <a:rPr lang="en-US" sz="1300" b="1" dirty="0">
                <a:solidFill>
                  <a:srgbClr val="1E2761"/>
                </a:solidFill>
                <a:latin typeface="Calibri" pitchFamily="34" charset="0"/>
                <a:ea typeface="Calibri" pitchFamily="34" charset="-122"/>
                <a:cs typeface="Calibri" pitchFamily="34" charset="-120"/>
              </a:rPr>
              <a:t>Adversarial review</a:t>
            </a:r>
            <a:endParaRPr lang="en-US" sz="1300" dirty="0"/>
          </a:p>
        </p:txBody>
      </p:sp>
      <p:sp>
        <p:nvSpPr>
          <p:cNvPr id="18" name="Text 16"/>
          <p:cNvSpPr/>
          <p:nvPr/>
        </p:nvSpPr>
        <p:spPr>
          <a:xfrm>
            <a:off x="3383280" y="5404104"/>
            <a:ext cx="548640" cy="219456"/>
          </a:xfrm>
          <a:prstGeom prst="rect">
            <a:avLst/>
          </a:prstGeom>
          <a:noFill/>
          <a:ln/>
        </p:spPr>
        <p:txBody>
          <a:bodyPr wrap="square" lIns="0" tIns="0" rIns="0" bIns="0" rtlCol="0" anchor="ctr"/>
          <a:lstStyle/>
          <a:p>
            <a:pPr marL="0" indent="0" algn="ctr">
              <a:buNone/>
            </a:pPr>
            <a:r>
              <a:rPr lang="en-US" sz="1300" dirty="0">
                <a:solidFill>
                  <a:srgbClr val="5A6280"/>
                </a:solidFill>
                <a:latin typeface="Calibri" pitchFamily="34" charset="0"/>
                <a:ea typeface="Calibri" pitchFamily="34" charset="-122"/>
                <a:cs typeface="Calibri" pitchFamily="34" charset="-120"/>
              </a:rPr>
              <a:t>↓</a:t>
            </a:r>
            <a:endParaRPr lang="en-US" sz="1300" dirty="0"/>
          </a:p>
        </p:txBody>
      </p:sp>
      <p:sp>
        <p:nvSpPr>
          <p:cNvPr id="19" name="Shape 17"/>
          <p:cNvSpPr/>
          <p:nvPr/>
        </p:nvSpPr>
        <p:spPr>
          <a:xfrm>
            <a:off x="640080" y="5623560"/>
            <a:ext cx="6035040" cy="566928"/>
          </a:xfrm>
          <a:prstGeom prst="roundRect">
            <a:avLst>
              <a:gd name="adj" fmla="val 9677"/>
            </a:avLst>
          </a:prstGeom>
          <a:solidFill>
            <a:srgbClr val="1E2761"/>
          </a:solidFill>
          <a:ln w="12700">
            <a:solidFill>
              <a:srgbClr val="1E2761"/>
            </a:solidFill>
            <a:prstDash val="solid"/>
          </a:ln>
        </p:spPr>
      </p:sp>
      <p:sp>
        <p:nvSpPr>
          <p:cNvPr id="20" name="Text 18"/>
          <p:cNvSpPr/>
          <p:nvPr/>
        </p:nvSpPr>
        <p:spPr>
          <a:xfrm>
            <a:off x="640080" y="5623560"/>
            <a:ext cx="6035040" cy="56692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Cited memo</a:t>
            </a:r>
            <a:endParaRPr lang="en-US" sz="1300" dirty="0"/>
          </a:p>
        </p:txBody>
      </p:sp>
      <p:sp>
        <p:nvSpPr>
          <p:cNvPr id="21" name="Text 19"/>
          <p:cNvSpPr/>
          <p:nvPr/>
        </p:nvSpPr>
        <p:spPr>
          <a:xfrm>
            <a:off x="7132320" y="2103120"/>
            <a:ext cx="4389120" cy="411480"/>
          </a:xfrm>
          <a:prstGeom prst="rect">
            <a:avLst/>
          </a:prstGeom>
          <a:noFill/>
          <a:ln/>
        </p:spPr>
        <p:txBody>
          <a:bodyPr wrap="square" lIns="0" tIns="0" rIns="0" bIns="0" rtlCol="0" anchor="ctr"/>
          <a:lstStyle/>
          <a:p>
            <a:pPr marL="0" indent="0">
              <a:buNone/>
            </a:pPr>
            <a:r>
              <a:rPr lang="en-US" sz="2200" b="1" dirty="0">
                <a:solidFill>
                  <a:srgbClr val="1E2761"/>
                </a:solidFill>
                <a:latin typeface="Cambria" pitchFamily="34" charset="0"/>
                <a:ea typeface="Cambria" pitchFamily="34" charset="-122"/>
                <a:cs typeface="Cambria" pitchFamily="34" charset="-120"/>
              </a:rPr>
              <a:t>Not owners of a folder.</a:t>
            </a:r>
            <a:endParaRPr lang="en-US" sz="2200" dirty="0"/>
          </a:p>
        </p:txBody>
      </p:sp>
      <p:sp>
        <p:nvSpPr>
          <p:cNvPr id="22" name="Text 20"/>
          <p:cNvSpPr/>
          <p:nvPr/>
        </p:nvSpPr>
        <p:spPr>
          <a:xfrm>
            <a:off x="7132320" y="2697480"/>
            <a:ext cx="4389120" cy="2926080"/>
          </a:xfrm>
          <a:prstGeom prst="rect">
            <a:avLst/>
          </a:prstGeom>
          <a:noFill/>
          <a:ln/>
        </p:spPr>
        <p:txBody>
          <a:bodyPr wrap="square" lIns="0" tIns="0" rIns="0" bIns="0" rtlCol="0" anchor="ctr"/>
          <a:lstStyle/>
          <a:p>
            <a:pPr marL="0" indent="0">
              <a:buNone/>
            </a:pPr>
            <a:r>
              <a:rPr lang="en-US" sz="1400" dirty="0">
                <a:solidFill>
                  <a:srgbClr val="1A1A2E"/>
                </a:solidFill>
                <a:latin typeface="Calibri" pitchFamily="34" charset="0"/>
                <a:ea typeface="Calibri" pitchFamily="34" charset="-122"/>
                <a:cs typeface="Calibri" pitchFamily="34" charset="-120"/>
              </a:rPr>
              <a:t>Every agent writes typed claims into one place. The tension detector then reads every claim about one company — whichever document it came from — and asks what conflicts.</a:t>
            </a:r>
            <a:endParaRPr lang="en-US" sz="1400" dirty="0"/>
          </a:p>
          <a:p>
            <a:pPr marL="0" indent="0">
              <a:buNone/>
            </a:pPr>
            <a:endParaRPr lang="en-US" sz="1400" dirty="0"/>
          </a:p>
          <a:p>
            <a:pPr marL="0" indent="0">
              <a:buNone/>
            </a:pPr>
            <a:r>
              <a:rPr lang="en-US" sz="1400" dirty="0">
                <a:solidFill>
                  <a:srgbClr val="1A1A2E"/>
                </a:solidFill>
                <a:latin typeface="Calibri" pitchFamily="34" charset="0"/>
                <a:ea typeface="Calibri" pitchFamily="34" charset="-122"/>
                <a:cs typeface="Calibri" pitchFamily="34" charset="-120"/>
              </a:rPr>
              <a:t>An agent can reason about documents it never read.</a:t>
            </a:r>
            <a:endParaRPr lang="en-US" sz="1400" dirty="0"/>
          </a:p>
          <a:p>
            <a:pPr marL="0" indent="0">
              <a:buNone/>
            </a:pPr>
            <a:endParaRPr lang="en-US" sz="1400" dirty="0"/>
          </a:p>
          <a:p>
            <a:pPr marL="0" indent="0">
              <a:buNone/>
            </a:pPr>
            <a:r>
              <a:rPr lang="en-US" sz="1400" dirty="0">
                <a:solidFill>
                  <a:srgbClr val="1A1A2E"/>
                </a:solidFill>
                <a:latin typeface="Calibri" pitchFamily="34" charset="0"/>
                <a:ea typeface="Calibri" pitchFamily="34" charset="-122"/>
                <a:cs typeface="Calibri" pitchFamily="34" charset="-120"/>
              </a:rPr>
              <a:t>That inversion is the architecture.</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84048"/>
            <a:ext cx="7315200" cy="274320"/>
          </a:xfrm>
          <a:prstGeom prst="rect">
            <a:avLst/>
          </a:prstGeom>
          <a:noFill/>
          <a:ln/>
        </p:spPr>
        <p:txBody>
          <a:bodyPr wrap="square" lIns="0" tIns="0" rIns="0" bIns="0" rtlCol="0" anchor="ctr"/>
          <a:lstStyle/>
          <a:p>
            <a:pPr marL="0" indent="0">
              <a:buNone/>
            </a:pPr>
            <a:r>
              <a:rPr lang="en-US" sz="1100" b="1" kern="0" spc="200" dirty="0">
                <a:solidFill>
                  <a:srgbClr val="5A6280"/>
                </a:solidFill>
                <a:latin typeface="Calibri" pitchFamily="34" charset="0"/>
                <a:ea typeface="Calibri" pitchFamily="34" charset="-122"/>
                <a:cs typeface="Calibri" pitchFamily="34" charset="-120"/>
              </a:rPr>
              <a:t>THE TEAM</a:t>
            </a:r>
            <a:endParaRPr lang="en-US" sz="1100" dirty="0"/>
          </a:p>
        </p:txBody>
      </p:sp>
      <p:sp>
        <p:nvSpPr>
          <p:cNvPr id="3" name="Text 1"/>
          <p:cNvSpPr/>
          <p:nvPr/>
        </p:nvSpPr>
        <p:spPr>
          <a:xfrm>
            <a:off x="640080" y="685800"/>
            <a:ext cx="10881360" cy="777240"/>
          </a:xfrm>
          <a:prstGeom prst="rect">
            <a:avLst/>
          </a:prstGeom>
          <a:noFill/>
          <a:ln/>
        </p:spPr>
        <p:txBody>
          <a:bodyPr wrap="square" lIns="0" tIns="0" rIns="0" bIns="0" rtlCol="0" anchor="ctr"/>
          <a:lstStyle/>
          <a:p>
            <a:pPr marL="0" indent="0">
              <a:buNone/>
            </a:pPr>
            <a:r>
              <a:rPr lang="en-US" sz="3400" b="1" dirty="0">
                <a:solidFill>
                  <a:srgbClr val="1E2761"/>
                </a:solidFill>
                <a:latin typeface="Cambria" pitchFamily="34" charset="0"/>
                <a:ea typeface="Cambria" pitchFamily="34" charset="-122"/>
                <a:cs typeface="Cambria" pitchFamily="34" charset="-120"/>
              </a:rPr>
              <a:t>Ten agents. Five use a model.</a:t>
            </a:r>
            <a:endParaRPr lang="en-US" sz="3400" dirty="0"/>
          </a:p>
        </p:txBody>
      </p:sp>
      <p:sp>
        <p:nvSpPr>
          <p:cNvPr id="4" name="Text 2"/>
          <p:cNvSpPr/>
          <p:nvPr/>
        </p:nvSpPr>
        <p:spPr>
          <a:xfrm>
            <a:off x="640080" y="1691640"/>
            <a:ext cx="5120640" cy="274320"/>
          </a:xfrm>
          <a:prstGeom prst="rect">
            <a:avLst/>
          </a:prstGeom>
          <a:noFill/>
          <a:ln/>
        </p:spPr>
        <p:txBody>
          <a:bodyPr wrap="square" lIns="0" tIns="0" rIns="0" bIns="0" rtlCol="0" anchor="ctr"/>
          <a:lstStyle/>
          <a:p>
            <a:pPr marL="0" indent="0">
              <a:buNone/>
            </a:pPr>
            <a:r>
              <a:rPr lang="en-US" sz="1100" b="1" kern="0" spc="150" dirty="0">
                <a:solidFill>
                  <a:srgbClr val="1E2761"/>
                </a:solidFill>
                <a:latin typeface="Calibri" pitchFamily="34" charset="0"/>
                <a:ea typeface="Calibri" pitchFamily="34" charset="-122"/>
                <a:cs typeface="Calibri" pitchFamily="34" charset="-120"/>
              </a:rPr>
              <a:t>USING A LANGUAGE MODEL</a:t>
            </a:r>
            <a:endParaRPr lang="en-US" sz="1100" dirty="0"/>
          </a:p>
        </p:txBody>
      </p:sp>
      <p:sp>
        <p:nvSpPr>
          <p:cNvPr id="5" name="Shape 3"/>
          <p:cNvSpPr/>
          <p:nvPr/>
        </p:nvSpPr>
        <p:spPr>
          <a:xfrm>
            <a:off x="640080" y="2185416"/>
            <a:ext cx="146304" cy="146304"/>
          </a:xfrm>
          <a:prstGeom prst="ellipse">
            <a:avLst/>
          </a:prstGeom>
          <a:solidFill>
            <a:srgbClr val="E8A33D"/>
          </a:solidFill>
          <a:ln/>
        </p:spPr>
      </p:sp>
      <p:sp>
        <p:nvSpPr>
          <p:cNvPr id="6" name="Text 4"/>
          <p:cNvSpPr/>
          <p:nvPr/>
        </p:nvSpPr>
        <p:spPr>
          <a:xfrm>
            <a:off x="950976" y="2103120"/>
            <a:ext cx="4846320" cy="274320"/>
          </a:xfrm>
          <a:prstGeom prst="rect">
            <a:avLst/>
          </a:prstGeom>
          <a:noFill/>
          <a:ln/>
        </p:spPr>
        <p:txBody>
          <a:bodyPr wrap="square" lIns="0" tIns="0" rIns="0" bIns="0" rtlCol="0" anchor="ctr"/>
          <a:lstStyle/>
          <a:p>
            <a:pPr marL="0" indent="0">
              <a:buNone/>
            </a:pPr>
            <a:r>
              <a:rPr lang="en-US" sz="1500" b="1" dirty="0">
                <a:solidFill>
                  <a:srgbClr val="1A1A2E"/>
                </a:solidFill>
                <a:latin typeface="Calibri" pitchFamily="34" charset="0"/>
                <a:ea typeface="Calibri" pitchFamily="34" charset="-122"/>
                <a:cs typeface="Calibri" pitchFamily="34" charset="-120"/>
              </a:rPr>
              <a:t>Document Classifier</a:t>
            </a:r>
            <a:endParaRPr lang="en-US" sz="1500" dirty="0"/>
          </a:p>
        </p:txBody>
      </p:sp>
      <p:sp>
        <p:nvSpPr>
          <p:cNvPr id="7" name="Text 5"/>
          <p:cNvSpPr/>
          <p:nvPr/>
        </p:nvSpPr>
        <p:spPr>
          <a:xfrm>
            <a:off x="950976" y="2386584"/>
            <a:ext cx="4846320" cy="274320"/>
          </a:xfrm>
          <a:prstGeom prst="rect">
            <a:avLst/>
          </a:prstGeom>
          <a:noFill/>
          <a:ln/>
        </p:spPr>
        <p:txBody>
          <a:bodyPr wrap="square" lIns="0" tIns="0" rIns="0" bIns="0" rtlCol="0" anchor="ctr"/>
          <a:lstStyle/>
          <a:p>
            <a:pPr marL="0" indent="0">
              <a:buNone/>
            </a:pPr>
            <a:r>
              <a:rPr lang="en-US" sz="1200" dirty="0">
                <a:solidFill>
                  <a:srgbClr val="5A6280"/>
                </a:solidFill>
                <a:latin typeface="Calibri" pitchFamily="34" charset="0"/>
                <a:ea typeface="Calibri" pitchFamily="34" charset="-122"/>
                <a:cs typeface="Calibri" pitchFamily="34" charset="-120"/>
              </a:rPr>
              <a:t>Reads the text, not the filename</a:t>
            </a:r>
            <a:endParaRPr lang="en-US" sz="1200" dirty="0"/>
          </a:p>
        </p:txBody>
      </p:sp>
      <p:sp>
        <p:nvSpPr>
          <p:cNvPr id="8" name="Shape 6"/>
          <p:cNvSpPr/>
          <p:nvPr/>
        </p:nvSpPr>
        <p:spPr>
          <a:xfrm>
            <a:off x="640080" y="2898648"/>
            <a:ext cx="146304" cy="146304"/>
          </a:xfrm>
          <a:prstGeom prst="ellipse">
            <a:avLst/>
          </a:prstGeom>
          <a:solidFill>
            <a:srgbClr val="E8A33D"/>
          </a:solidFill>
          <a:ln/>
        </p:spPr>
      </p:sp>
      <p:sp>
        <p:nvSpPr>
          <p:cNvPr id="9" name="Text 7"/>
          <p:cNvSpPr/>
          <p:nvPr/>
        </p:nvSpPr>
        <p:spPr>
          <a:xfrm>
            <a:off x="950976" y="2816352"/>
            <a:ext cx="4846320" cy="274320"/>
          </a:xfrm>
          <a:prstGeom prst="rect">
            <a:avLst/>
          </a:prstGeom>
          <a:noFill/>
          <a:ln/>
        </p:spPr>
        <p:txBody>
          <a:bodyPr wrap="square" lIns="0" tIns="0" rIns="0" bIns="0" rtlCol="0" anchor="ctr"/>
          <a:lstStyle/>
          <a:p>
            <a:pPr marL="0" indent="0">
              <a:buNone/>
            </a:pPr>
            <a:r>
              <a:rPr lang="en-US" sz="1500" b="1" dirty="0">
                <a:solidFill>
                  <a:srgbClr val="1A1A2E"/>
                </a:solidFill>
                <a:latin typeface="Calibri" pitchFamily="34" charset="0"/>
                <a:ea typeface="Calibri" pitchFamily="34" charset="-122"/>
                <a:cs typeface="Calibri" pitchFamily="34" charset="-120"/>
              </a:rPr>
              <a:t>Claim Extractor</a:t>
            </a:r>
            <a:endParaRPr lang="en-US" sz="1500" dirty="0"/>
          </a:p>
        </p:txBody>
      </p:sp>
      <p:sp>
        <p:nvSpPr>
          <p:cNvPr id="10" name="Text 8"/>
          <p:cNvSpPr/>
          <p:nvPr/>
        </p:nvSpPr>
        <p:spPr>
          <a:xfrm>
            <a:off x="950976" y="3099816"/>
            <a:ext cx="4846320" cy="274320"/>
          </a:xfrm>
          <a:prstGeom prst="rect">
            <a:avLst/>
          </a:prstGeom>
          <a:noFill/>
          <a:ln/>
        </p:spPr>
        <p:txBody>
          <a:bodyPr wrap="square" lIns="0" tIns="0" rIns="0" bIns="0" rtlCol="0" anchor="ctr"/>
          <a:lstStyle/>
          <a:p>
            <a:pPr marL="0" indent="0">
              <a:buNone/>
            </a:pPr>
            <a:r>
              <a:rPr lang="en-US" sz="1200" dirty="0">
                <a:solidFill>
                  <a:srgbClr val="5A6280"/>
                </a:solidFill>
                <a:latin typeface="Calibri" pitchFamily="34" charset="0"/>
                <a:ea typeface="Calibri" pitchFamily="34" charset="-122"/>
                <a:cs typeface="Calibri" pitchFamily="34" charset="-120"/>
              </a:rPr>
              <a:t>Typed claims, parallel per document</a:t>
            </a:r>
            <a:endParaRPr lang="en-US" sz="1200" dirty="0"/>
          </a:p>
        </p:txBody>
      </p:sp>
      <p:sp>
        <p:nvSpPr>
          <p:cNvPr id="11" name="Shape 9"/>
          <p:cNvSpPr/>
          <p:nvPr/>
        </p:nvSpPr>
        <p:spPr>
          <a:xfrm>
            <a:off x="640080" y="3611880"/>
            <a:ext cx="146304" cy="146304"/>
          </a:xfrm>
          <a:prstGeom prst="ellipse">
            <a:avLst/>
          </a:prstGeom>
          <a:solidFill>
            <a:srgbClr val="E8A33D"/>
          </a:solidFill>
          <a:ln/>
        </p:spPr>
      </p:sp>
      <p:sp>
        <p:nvSpPr>
          <p:cNvPr id="12" name="Text 10"/>
          <p:cNvSpPr/>
          <p:nvPr/>
        </p:nvSpPr>
        <p:spPr>
          <a:xfrm>
            <a:off x="950976" y="3529584"/>
            <a:ext cx="4846320" cy="274320"/>
          </a:xfrm>
          <a:prstGeom prst="rect">
            <a:avLst/>
          </a:prstGeom>
          <a:noFill/>
          <a:ln/>
        </p:spPr>
        <p:txBody>
          <a:bodyPr wrap="square" lIns="0" tIns="0" rIns="0" bIns="0" rtlCol="0" anchor="ctr"/>
          <a:lstStyle/>
          <a:p>
            <a:pPr marL="0" indent="0">
              <a:buNone/>
            </a:pPr>
            <a:r>
              <a:rPr lang="en-US" sz="1500" b="1" dirty="0">
                <a:solidFill>
                  <a:srgbClr val="1A1A2E"/>
                </a:solidFill>
                <a:latin typeface="Calibri" pitchFamily="34" charset="0"/>
                <a:ea typeface="Calibri" pitchFamily="34" charset="-122"/>
                <a:cs typeface="Calibri" pitchFamily="34" charset="-120"/>
              </a:rPr>
              <a:t>Tension Detector</a:t>
            </a:r>
            <a:endParaRPr lang="en-US" sz="1500" dirty="0"/>
          </a:p>
        </p:txBody>
      </p:sp>
      <p:sp>
        <p:nvSpPr>
          <p:cNvPr id="13" name="Text 11"/>
          <p:cNvSpPr/>
          <p:nvPr/>
        </p:nvSpPr>
        <p:spPr>
          <a:xfrm>
            <a:off x="950976" y="3813048"/>
            <a:ext cx="4846320" cy="274320"/>
          </a:xfrm>
          <a:prstGeom prst="rect">
            <a:avLst/>
          </a:prstGeom>
          <a:noFill/>
          <a:ln/>
        </p:spPr>
        <p:txBody>
          <a:bodyPr wrap="square" lIns="0" tIns="0" rIns="0" bIns="0" rtlCol="0" anchor="ctr"/>
          <a:lstStyle/>
          <a:p>
            <a:pPr marL="0" indent="0">
              <a:buNone/>
            </a:pPr>
            <a:r>
              <a:rPr lang="en-US" sz="1200" dirty="0">
                <a:solidFill>
                  <a:srgbClr val="5A6280"/>
                </a:solidFill>
                <a:latin typeface="Calibri" pitchFamily="34" charset="0"/>
                <a:ea typeface="Calibri" pitchFamily="34" charset="-122"/>
                <a:cs typeface="Calibri" pitchFamily="34" charset="-120"/>
              </a:rPr>
              <a:t>Contradictions across documents</a:t>
            </a:r>
            <a:endParaRPr lang="en-US" sz="1200" dirty="0"/>
          </a:p>
        </p:txBody>
      </p:sp>
      <p:sp>
        <p:nvSpPr>
          <p:cNvPr id="14" name="Shape 12"/>
          <p:cNvSpPr/>
          <p:nvPr/>
        </p:nvSpPr>
        <p:spPr>
          <a:xfrm>
            <a:off x="640080" y="4325112"/>
            <a:ext cx="146304" cy="146304"/>
          </a:xfrm>
          <a:prstGeom prst="ellipse">
            <a:avLst/>
          </a:prstGeom>
          <a:solidFill>
            <a:srgbClr val="E8A33D"/>
          </a:solidFill>
          <a:ln/>
        </p:spPr>
      </p:sp>
      <p:sp>
        <p:nvSpPr>
          <p:cNvPr id="15" name="Text 13"/>
          <p:cNvSpPr/>
          <p:nvPr/>
        </p:nvSpPr>
        <p:spPr>
          <a:xfrm>
            <a:off x="950976" y="4242816"/>
            <a:ext cx="4846320" cy="274320"/>
          </a:xfrm>
          <a:prstGeom prst="rect">
            <a:avLst/>
          </a:prstGeom>
          <a:noFill/>
          <a:ln/>
        </p:spPr>
        <p:txBody>
          <a:bodyPr wrap="square" lIns="0" tIns="0" rIns="0" bIns="0" rtlCol="0" anchor="ctr"/>
          <a:lstStyle/>
          <a:p>
            <a:pPr marL="0" indent="0">
              <a:buNone/>
            </a:pPr>
            <a:r>
              <a:rPr lang="en-US" sz="1500" b="1" dirty="0">
                <a:solidFill>
                  <a:srgbClr val="1A1A2E"/>
                </a:solidFill>
                <a:latin typeface="Calibri" pitchFamily="34" charset="0"/>
                <a:ea typeface="Calibri" pitchFamily="34" charset="-122"/>
                <a:cs typeface="Calibri" pitchFamily="34" charset="-120"/>
              </a:rPr>
              <a:t>Red Team Critic</a:t>
            </a:r>
            <a:endParaRPr lang="en-US" sz="1500" dirty="0"/>
          </a:p>
        </p:txBody>
      </p:sp>
      <p:sp>
        <p:nvSpPr>
          <p:cNvPr id="16" name="Text 14"/>
          <p:cNvSpPr/>
          <p:nvPr/>
        </p:nvSpPr>
        <p:spPr>
          <a:xfrm>
            <a:off x="950976" y="4526280"/>
            <a:ext cx="4846320" cy="274320"/>
          </a:xfrm>
          <a:prstGeom prst="rect">
            <a:avLst/>
          </a:prstGeom>
          <a:noFill/>
          <a:ln/>
        </p:spPr>
        <p:txBody>
          <a:bodyPr wrap="square" lIns="0" tIns="0" rIns="0" bIns="0" rtlCol="0" anchor="ctr"/>
          <a:lstStyle/>
          <a:p>
            <a:pPr marL="0" indent="0">
              <a:buNone/>
            </a:pPr>
            <a:r>
              <a:rPr lang="en-US" sz="1200" dirty="0">
                <a:solidFill>
                  <a:srgbClr val="5A6280"/>
                </a:solidFill>
                <a:latin typeface="Calibri" pitchFamily="34" charset="0"/>
                <a:ea typeface="Calibri" pitchFamily="34" charset="-122"/>
                <a:cs typeface="Calibri" pitchFamily="34" charset="-120"/>
              </a:rPr>
              <a:t>Tries to destroy every finding</a:t>
            </a:r>
            <a:endParaRPr lang="en-US" sz="1200" dirty="0"/>
          </a:p>
        </p:txBody>
      </p:sp>
      <p:sp>
        <p:nvSpPr>
          <p:cNvPr id="17" name="Shape 15"/>
          <p:cNvSpPr/>
          <p:nvPr/>
        </p:nvSpPr>
        <p:spPr>
          <a:xfrm>
            <a:off x="640080" y="5038344"/>
            <a:ext cx="146304" cy="146304"/>
          </a:xfrm>
          <a:prstGeom prst="ellipse">
            <a:avLst/>
          </a:prstGeom>
          <a:solidFill>
            <a:srgbClr val="E8A33D"/>
          </a:solidFill>
          <a:ln/>
        </p:spPr>
      </p:sp>
      <p:sp>
        <p:nvSpPr>
          <p:cNvPr id="18" name="Text 16"/>
          <p:cNvSpPr/>
          <p:nvPr/>
        </p:nvSpPr>
        <p:spPr>
          <a:xfrm>
            <a:off x="950976" y="4956048"/>
            <a:ext cx="4846320" cy="274320"/>
          </a:xfrm>
          <a:prstGeom prst="rect">
            <a:avLst/>
          </a:prstGeom>
          <a:noFill/>
          <a:ln/>
        </p:spPr>
        <p:txBody>
          <a:bodyPr wrap="square" lIns="0" tIns="0" rIns="0" bIns="0" rtlCol="0" anchor="ctr"/>
          <a:lstStyle/>
          <a:p>
            <a:pPr marL="0" indent="0">
              <a:buNone/>
            </a:pPr>
            <a:r>
              <a:rPr lang="en-US" sz="1500" b="1" dirty="0">
                <a:solidFill>
                  <a:srgbClr val="1A1A2E"/>
                </a:solidFill>
                <a:latin typeface="Calibri" pitchFamily="34" charset="0"/>
                <a:ea typeface="Calibri" pitchFamily="34" charset="-122"/>
                <a:cs typeface="Calibri" pitchFamily="34" charset="-120"/>
              </a:rPr>
              <a:t>Materiality Scorer</a:t>
            </a:r>
            <a:endParaRPr lang="en-US" sz="1500" dirty="0"/>
          </a:p>
        </p:txBody>
      </p:sp>
      <p:sp>
        <p:nvSpPr>
          <p:cNvPr id="19" name="Text 17"/>
          <p:cNvSpPr/>
          <p:nvPr/>
        </p:nvSpPr>
        <p:spPr>
          <a:xfrm>
            <a:off x="950976" y="5239512"/>
            <a:ext cx="4846320" cy="274320"/>
          </a:xfrm>
          <a:prstGeom prst="rect">
            <a:avLst/>
          </a:prstGeom>
          <a:noFill/>
          <a:ln/>
        </p:spPr>
        <p:txBody>
          <a:bodyPr wrap="square" lIns="0" tIns="0" rIns="0" bIns="0" rtlCol="0" anchor="ctr"/>
          <a:lstStyle/>
          <a:p>
            <a:pPr marL="0" indent="0">
              <a:buNone/>
            </a:pPr>
            <a:r>
              <a:rPr lang="en-US" sz="1200" dirty="0">
                <a:solidFill>
                  <a:srgbClr val="5A6280"/>
                </a:solidFill>
                <a:latin typeface="Calibri" pitchFamily="34" charset="0"/>
                <a:ea typeface="Calibri" pitchFamily="34" charset="-122"/>
                <a:cs typeface="Calibri" pitchFamily="34" charset="-120"/>
              </a:rPr>
              <a:t>Impact against deal size</a:t>
            </a:r>
            <a:endParaRPr lang="en-US" sz="1200" dirty="0"/>
          </a:p>
        </p:txBody>
      </p:sp>
      <p:sp>
        <p:nvSpPr>
          <p:cNvPr id="20" name="Text 18"/>
          <p:cNvSpPr/>
          <p:nvPr/>
        </p:nvSpPr>
        <p:spPr>
          <a:xfrm>
            <a:off x="6400800" y="1691640"/>
            <a:ext cx="5120640" cy="274320"/>
          </a:xfrm>
          <a:prstGeom prst="rect">
            <a:avLst/>
          </a:prstGeom>
          <a:noFill/>
          <a:ln/>
        </p:spPr>
        <p:txBody>
          <a:bodyPr wrap="square" lIns="0" tIns="0" rIns="0" bIns="0" rtlCol="0" anchor="ctr"/>
          <a:lstStyle/>
          <a:p>
            <a:pPr marL="0" indent="0">
              <a:buNone/>
            </a:pPr>
            <a:r>
              <a:rPr lang="en-US" sz="1100" b="1" kern="0" spc="150" dirty="0">
                <a:solidFill>
                  <a:srgbClr val="2E7D5B"/>
                </a:solidFill>
                <a:latin typeface="Calibri" pitchFamily="34" charset="0"/>
                <a:ea typeface="Calibri" pitchFamily="34" charset="-122"/>
                <a:cs typeface="Calibri" pitchFamily="34" charset="-120"/>
              </a:rPr>
              <a:t>DETERMINISTIC — NO MODEL</a:t>
            </a:r>
            <a:endParaRPr lang="en-US" sz="1100" dirty="0"/>
          </a:p>
        </p:txBody>
      </p:sp>
      <p:sp>
        <p:nvSpPr>
          <p:cNvPr id="21" name="Shape 19"/>
          <p:cNvSpPr/>
          <p:nvPr/>
        </p:nvSpPr>
        <p:spPr>
          <a:xfrm>
            <a:off x="6400800" y="2185416"/>
            <a:ext cx="146304" cy="146304"/>
          </a:xfrm>
          <a:prstGeom prst="ellipse">
            <a:avLst/>
          </a:prstGeom>
          <a:solidFill>
            <a:srgbClr val="2E7D5B"/>
          </a:solidFill>
          <a:ln/>
        </p:spPr>
      </p:sp>
      <p:sp>
        <p:nvSpPr>
          <p:cNvPr id="22" name="Text 20"/>
          <p:cNvSpPr/>
          <p:nvPr/>
        </p:nvSpPr>
        <p:spPr>
          <a:xfrm>
            <a:off x="6711696" y="2103120"/>
            <a:ext cx="4846320" cy="274320"/>
          </a:xfrm>
          <a:prstGeom prst="rect">
            <a:avLst/>
          </a:prstGeom>
          <a:noFill/>
          <a:ln/>
        </p:spPr>
        <p:txBody>
          <a:bodyPr wrap="square" lIns="0" tIns="0" rIns="0" bIns="0" rtlCol="0" anchor="ctr"/>
          <a:lstStyle/>
          <a:p>
            <a:pPr marL="0" indent="0">
              <a:buNone/>
            </a:pPr>
            <a:r>
              <a:rPr lang="en-US" sz="1500" b="1" dirty="0">
                <a:solidFill>
                  <a:srgbClr val="1A1A2E"/>
                </a:solidFill>
                <a:latin typeface="Calibri" pitchFamily="34" charset="0"/>
                <a:ea typeface="Calibri" pitchFamily="34" charset="-122"/>
                <a:cs typeface="Calibri" pitchFamily="34" charset="-120"/>
              </a:rPr>
              <a:t>Entity Resolver</a:t>
            </a:r>
            <a:endParaRPr lang="en-US" sz="1500" dirty="0"/>
          </a:p>
        </p:txBody>
      </p:sp>
      <p:sp>
        <p:nvSpPr>
          <p:cNvPr id="23" name="Text 21"/>
          <p:cNvSpPr/>
          <p:nvPr/>
        </p:nvSpPr>
        <p:spPr>
          <a:xfrm>
            <a:off x="6711696" y="2386584"/>
            <a:ext cx="4846320" cy="274320"/>
          </a:xfrm>
          <a:prstGeom prst="rect">
            <a:avLst/>
          </a:prstGeom>
          <a:noFill/>
          <a:ln/>
        </p:spPr>
        <p:txBody>
          <a:bodyPr wrap="square" lIns="0" tIns="0" rIns="0" bIns="0" rtlCol="0" anchor="ctr"/>
          <a:lstStyle/>
          <a:p>
            <a:pPr marL="0" indent="0">
              <a:buNone/>
            </a:pPr>
            <a:r>
              <a:rPr lang="en-US" sz="1200" dirty="0">
                <a:solidFill>
                  <a:srgbClr val="5A6280"/>
                </a:solidFill>
                <a:latin typeface="Calibri" pitchFamily="34" charset="0"/>
                <a:ea typeface="Calibri" pitchFamily="34" charset="-122"/>
                <a:cs typeface="Calibri" pitchFamily="34" charset="-120"/>
              </a:rPr>
              <a:t>Merges company name variants</a:t>
            </a:r>
            <a:endParaRPr lang="en-US" sz="1200" dirty="0"/>
          </a:p>
        </p:txBody>
      </p:sp>
      <p:sp>
        <p:nvSpPr>
          <p:cNvPr id="24" name="Shape 22"/>
          <p:cNvSpPr/>
          <p:nvPr/>
        </p:nvSpPr>
        <p:spPr>
          <a:xfrm>
            <a:off x="6400800" y="2898648"/>
            <a:ext cx="146304" cy="146304"/>
          </a:xfrm>
          <a:prstGeom prst="ellipse">
            <a:avLst/>
          </a:prstGeom>
          <a:solidFill>
            <a:srgbClr val="2E7D5B"/>
          </a:solidFill>
          <a:ln/>
        </p:spPr>
      </p:sp>
      <p:sp>
        <p:nvSpPr>
          <p:cNvPr id="25" name="Text 23"/>
          <p:cNvSpPr/>
          <p:nvPr/>
        </p:nvSpPr>
        <p:spPr>
          <a:xfrm>
            <a:off x="6711696" y="2816352"/>
            <a:ext cx="4846320" cy="274320"/>
          </a:xfrm>
          <a:prstGeom prst="rect">
            <a:avLst/>
          </a:prstGeom>
          <a:noFill/>
          <a:ln/>
        </p:spPr>
        <p:txBody>
          <a:bodyPr wrap="square" lIns="0" tIns="0" rIns="0" bIns="0" rtlCol="0" anchor="ctr"/>
          <a:lstStyle/>
          <a:p>
            <a:pPr marL="0" indent="0">
              <a:buNone/>
            </a:pPr>
            <a:r>
              <a:rPr lang="en-US" sz="1500" b="1" dirty="0">
                <a:solidFill>
                  <a:srgbClr val="1A1A2E"/>
                </a:solidFill>
                <a:latin typeface="Calibri" pitchFamily="34" charset="0"/>
                <a:ea typeface="Calibri" pitchFamily="34" charset="-122"/>
                <a:cs typeface="Calibri" pitchFamily="34" charset="-120"/>
              </a:rPr>
              <a:t>Arithmetic Detector</a:t>
            </a:r>
            <a:endParaRPr lang="en-US" sz="1500" dirty="0"/>
          </a:p>
        </p:txBody>
      </p:sp>
      <p:sp>
        <p:nvSpPr>
          <p:cNvPr id="26" name="Text 24"/>
          <p:cNvSpPr/>
          <p:nvPr/>
        </p:nvSpPr>
        <p:spPr>
          <a:xfrm>
            <a:off x="6711696" y="3099816"/>
            <a:ext cx="4846320" cy="274320"/>
          </a:xfrm>
          <a:prstGeom prst="rect">
            <a:avLst/>
          </a:prstGeom>
          <a:noFill/>
          <a:ln/>
        </p:spPr>
        <p:txBody>
          <a:bodyPr wrap="square" lIns="0" tIns="0" rIns="0" bIns="0" rtlCol="0" anchor="ctr"/>
          <a:lstStyle/>
          <a:p>
            <a:pPr marL="0" indent="0">
              <a:buNone/>
            </a:pPr>
            <a:r>
              <a:rPr lang="en-US" sz="1200" dirty="0">
                <a:solidFill>
                  <a:srgbClr val="5A6280"/>
                </a:solidFill>
                <a:latin typeface="Calibri" pitchFamily="34" charset="0"/>
                <a:ea typeface="Calibri" pitchFamily="34" charset="-122"/>
                <a:cs typeface="Calibri" pitchFamily="34" charset="-120"/>
              </a:rPr>
              <a:t>Reconciles totals to components</a:t>
            </a:r>
            <a:endParaRPr lang="en-US" sz="1200" dirty="0"/>
          </a:p>
        </p:txBody>
      </p:sp>
      <p:sp>
        <p:nvSpPr>
          <p:cNvPr id="27" name="Shape 25"/>
          <p:cNvSpPr/>
          <p:nvPr/>
        </p:nvSpPr>
        <p:spPr>
          <a:xfrm>
            <a:off x="6400800" y="3611880"/>
            <a:ext cx="146304" cy="146304"/>
          </a:xfrm>
          <a:prstGeom prst="ellipse">
            <a:avLst/>
          </a:prstGeom>
          <a:solidFill>
            <a:srgbClr val="2E7D5B"/>
          </a:solidFill>
          <a:ln/>
        </p:spPr>
      </p:sp>
      <p:sp>
        <p:nvSpPr>
          <p:cNvPr id="28" name="Text 26"/>
          <p:cNvSpPr/>
          <p:nvPr/>
        </p:nvSpPr>
        <p:spPr>
          <a:xfrm>
            <a:off x="6711696" y="3529584"/>
            <a:ext cx="4846320" cy="274320"/>
          </a:xfrm>
          <a:prstGeom prst="rect">
            <a:avLst/>
          </a:prstGeom>
          <a:noFill/>
          <a:ln/>
        </p:spPr>
        <p:txBody>
          <a:bodyPr wrap="square" lIns="0" tIns="0" rIns="0" bIns="0" rtlCol="0" anchor="ctr"/>
          <a:lstStyle/>
          <a:p>
            <a:pPr marL="0" indent="0">
              <a:buNone/>
            </a:pPr>
            <a:r>
              <a:rPr lang="en-US" sz="1500" b="1" dirty="0">
                <a:solidFill>
                  <a:srgbClr val="1A1A2E"/>
                </a:solidFill>
                <a:latin typeface="Calibri" pitchFamily="34" charset="0"/>
                <a:ea typeface="Calibri" pitchFamily="34" charset="-122"/>
                <a:cs typeface="Calibri" pitchFamily="34" charset="-120"/>
              </a:rPr>
              <a:t>Temporal Detector</a:t>
            </a:r>
            <a:endParaRPr lang="en-US" sz="1500" dirty="0"/>
          </a:p>
        </p:txBody>
      </p:sp>
      <p:sp>
        <p:nvSpPr>
          <p:cNvPr id="29" name="Text 27"/>
          <p:cNvSpPr/>
          <p:nvPr/>
        </p:nvSpPr>
        <p:spPr>
          <a:xfrm>
            <a:off x="6711696" y="3813048"/>
            <a:ext cx="4846320" cy="274320"/>
          </a:xfrm>
          <a:prstGeom prst="rect">
            <a:avLst/>
          </a:prstGeom>
          <a:noFill/>
          <a:ln/>
        </p:spPr>
        <p:txBody>
          <a:bodyPr wrap="square" lIns="0" tIns="0" rIns="0" bIns="0" rtlCol="0" anchor="ctr"/>
          <a:lstStyle/>
          <a:p>
            <a:pPr marL="0" indent="0">
              <a:buNone/>
            </a:pPr>
            <a:r>
              <a:rPr lang="en-US" sz="1200" dirty="0">
                <a:solidFill>
                  <a:srgbClr val="5A6280"/>
                </a:solidFill>
                <a:latin typeface="Calibri" pitchFamily="34" charset="0"/>
                <a:ea typeface="Calibri" pitchFamily="34" charset="-122"/>
                <a:cs typeface="Calibri" pitchFamily="34" charset="-120"/>
              </a:rPr>
              <a:t>Impossible date orderings</a:t>
            </a:r>
            <a:endParaRPr lang="en-US" sz="1200" dirty="0"/>
          </a:p>
        </p:txBody>
      </p:sp>
      <p:sp>
        <p:nvSpPr>
          <p:cNvPr id="30" name="Shape 28"/>
          <p:cNvSpPr/>
          <p:nvPr/>
        </p:nvSpPr>
        <p:spPr>
          <a:xfrm>
            <a:off x="6400800" y="4325112"/>
            <a:ext cx="146304" cy="146304"/>
          </a:xfrm>
          <a:prstGeom prst="ellipse">
            <a:avLst/>
          </a:prstGeom>
          <a:solidFill>
            <a:srgbClr val="2E7D5B"/>
          </a:solidFill>
          <a:ln/>
        </p:spPr>
      </p:sp>
      <p:sp>
        <p:nvSpPr>
          <p:cNvPr id="31" name="Text 29"/>
          <p:cNvSpPr/>
          <p:nvPr/>
        </p:nvSpPr>
        <p:spPr>
          <a:xfrm>
            <a:off x="6711696" y="4242816"/>
            <a:ext cx="4846320" cy="274320"/>
          </a:xfrm>
          <a:prstGeom prst="rect">
            <a:avLst/>
          </a:prstGeom>
          <a:noFill/>
          <a:ln/>
        </p:spPr>
        <p:txBody>
          <a:bodyPr wrap="square" lIns="0" tIns="0" rIns="0" bIns="0" rtlCol="0" anchor="ctr"/>
          <a:lstStyle/>
          <a:p>
            <a:pPr marL="0" indent="0">
              <a:buNone/>
            </a:pPr>
            <a:r>
              <a:rPr lang="en-US" sz="1500" b="1" dirty="0">
                <a:solidFill>
                  <a:srgbClr val="1A1A2E"/>
                </a:solidFill>
                <a:latin typeface="Calibri" pitchFamily="34" charset="0"/>
                <a:ea typeface="Calibri" pitchFamily="34" charset="-122"/>
                <a:cs typeface="Calibri" pitchFamily="34" charset="-120"/>
              </a:rPr>
              <a:t>Gap Auditor</a:t>
            </a:r>
            <a:endParaRPr lang="en-US" sz="1500" dirty="0"/>
          </a:p>
        </p:txBody>
      </p:sp>
      <p:sp>
        <p:nvSpPr>
          <p:cNvPr id="32" name="Text 30"/>
          <p:cNvSpPr/>
          <p:nvPr/>
        </p:nvSpPr>
        <p:spPr>
          <a:xfrm>
            <a:off x="6711696" y="4526280"/>
            <a:ext cx="4846320" cy="274320"/>
          </a:xfrm>
          <a:prstGeom prst="rect">
            <a:avLst/>
          </a:prstGeom>
          <a:noFill/>
          <a:ln/>
        </p:spPr>
        <p:txBody>
          <a:bodyPr wrap="square" lIns="0" tIns="0" rIns="0" bIns="0" rtlCol="0" anchor="ctr"/>
          <a:lstStyle/>
          <a:p>
            <a:pPr marL="0" indent="0">
              <a:buNone/>
            </a:pPr>
            <a:r>
              <a:rPr lang="en-US" sz="1200" dirty="0">
                <a:solidFill>
                  <a:srgbClr val="5A6280"/>
                </a:solidFill>
                <a:latin typeface="Calibri" pitchFamily="34" charset="0"/>
                <a:ea typeface="Calibri" pitchFamily="34" charset="-122"/>
                <a:cs typeface="Calibri" pitchFamily="34" charset="-120"/>
              </a:rPr>
              <a:t>Reports what is absent</a:t>
            </a:r>
            <a:endParaRPr lang="en-US" sz="1200" dirty="0"/>
          </a:p>
        </p:txBody>
      </p:sp>
      <p:sp>
        <p:nvSpPr>
          <p:cNvPr id="33" name="Shape 31"/>
          <p:cNvSpPr/>
          <p:nvPr/>
        </p:nvSpPr>
        <p:spPr>
          <a:xfrm>
            <a:off x="6400800" y="5038344"/>
            <a:ext cx="146304" cy="146304"/>
          </a:xfrm>
          <a:prstGeom prst="ellipse">
            <a:avLst/>
          </a:prstGeom>
          <a:solidFill>
            <a:srgbClr val="2E7D5B"/>
          </a:solidFill>
          <a:ln/>
        </p:spPr>
      </p:sp>
      <p:sp>
        <p:nvSpPr>
          <p:cNvPr id="34" name="Text 32"/>
          <p:cNvSpPr/>
          <p:nvPr/>
        </p:nvSpPr>
        <p:spPr>
          <a:xfrm>
            <a:off x="6711696" y="4956048"/>
            <a:ext cx="4846320" cy="274320"/>
          </a:xfrm>
          <a:prstGeom prst="rect">
            <a:avLst/>
          </a:prstGeom>
          <a:noFill/>
          <a:ln/>
        </p:spPr>
        <p:txBody>
          <a:bodyPr wrap="square" lIns="0" tIns="0" rIns="0" bIns="0" rtlCol="0" anchor="ctr"/>
          <a:lstStyle/>
          <a:p>
            <a:pPr marL="0" indent="0">
              <a:buNone/>
            </a:pPr>
            <a:r>
              <a:rPr lang="en-US" sz="1500" b="1" dirty="0">
                <a:solidFill>
                  <a:srgbClr val="1A1A2E"/>
                </a:solidFill>
                <a:latin typeface="Calibri" pitchFamily="34" charset="0"/>
                <a:ea typeface="Calibri" pitchFamily="34" charset="-122"/>
                <a:cs typeface="Calibri" pitchFamily="34" charset="-120"/>
              </a:rPr>
              <a:t>Memo Composer</a:t>
            </a:r>
            <a:endParaRPr lang="en-US" sz="1500" dirty="0"/>
          </a:p>
        </p:txBody>
      </p:sp>
      <p:sp>
        <p:nvSpPr>
          <p:cNvPr id="35" name="Text 33"/>
          <p:cNvSpPr/>
          <p:nvPr/>
        </p:nvSpPr>
        <p:spPr>
          <a:xfrm>
            <a:off x="6711696" y="5239512"/>
            <a:ext cx="4846320" cy="274320"/>
          </a:xfrm>
          <a:prstGeom prst="rect">
            <a:avLst/>
          </a:prstGeom>
          <a:noFill/>
          <a:ln/>
        </p:spPr>
        <p:txBody>
          <a:bodyPr wrap="square" lIns="0" tIns="0" rIns="0" bIns="0" rtlCol="0" anchor="ctr"/>
          <a:lstStyle/>
          <a:p>
            <a:pPr marL="0" indent="0">
              <a:buNone/>
            </a:pPr>
            <a:r>
              <a:rPr lang="en-US" sz="1200" dirty="0">
                <a:solidFill>
                  <a:srgbClr val="5A6280"/>
                </a:solidFill>
                <a:latin typeface="Calibri" pitchFamily="34" charset="0"/>
                <a:ea typeface="Calibri" pitchFamily="34" charset="-122"/>
                <a:cs typeface="Calibri" pitchFamily="34" charset="-120"/>
              </a:rPr>
              <a:t>Renders the ledger, adds nothing</a:t>
            </a:r>
            <a:endParaRPr lang="en-US" sz="1200" dirty="0"/>
          </a:p>
        </p:txBody>
      </p:sp>
      <p:sp>
        <p:nvSpPr>
          <p:cNvPr id="36" name="Text 34"/>
          <p:cNvSpPr/>
          <p:nvPr/>
        </p:nvSpPr>
        <p:spPr>
          <a:xfrm>
            <a:off x="640080" y="5852160"/>
            <a:ext cx="10881360" cy="365760"/>
          </a:xfrm>
          <a:prstGeom prst="rect">
            <a:avLst/>
          </a:prstGeom>
          <a:noFill/>
          <a:ln/>
        </p:spPr>
        <p:txBody>
          <a:bodyPr wrap="square" lIns="0" tIns="0" rIns="0" bIns="0" rtlCol="0" anchor="ctr"/>
          <a:lstStyle/>
          <a:p>
            <a:pPr marL="0" indent="0">
              <a:buNone/>
            </a:pPr>
            <a:r>
              <a:rPr lang="en-US" sz="1500" i="1" dirty="0">
                <a:solidFill>
                  <a:srgbClr val="1E2761"/>
                </a:solidFill>
                <a:latin typeface="Calibri" pitchFamily="34" charset="0"/>
                <a:ea typeface="Calibri" pitchFamily="34" charset="-122"/>
                <a:cs typeface="Calibri" pitchFamily="34" charset="-120"/>
              </a:rPr>
              <a:t>Adding numbers is not judgement. Python is faster, free, and right every time.</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84048"/>
            <a:ext cx="7315200" cy="274320"/>
          </a:xfrm>
          <a:prstGeom prst="rect">
            <a:avLst/>
          </a:prstGeom>
          <a:noFill/>
          <a:ln/>
        </p:spPr>
        <p:txBody>
          <a:bodyPr wrap="square" lIns="0" tIns="0" rIns="0" bIns="0" rtlCol="0" anchor="ctr"/>
          <a:lstStyle/>
          <a:p>
            <a:pPr marL="0" indent="0">
              <a:buNone/>
            </a:pPr>
            <a:r>
              <a:rPr lang="en-US" sz="1100" b="1" kern="0" spc="200" dirty="0">
                <a:solidFill>
                  <a:srgbClr val="5A6280"/>
                </a:solidFill>
                <a:latin typeface="Calibri" pitchFamily="34" charset="0"/>
                <a:ea typeface="Calibri" pitchFamily="34" charset="-122"/>
                <a:cs typeface="Calibri" pitchFamily="34" charset="-120"/>
              </a:rPr>
              <a:t>PROVENANCE</a:t>
            </a:r>
            <a:endParaRPr lang="en-US" sz="1100" dirty="0"/>
          </a:p>
        </p:txBody>
      </p:sp>
      <p:sp>
        <p:nvSpPr>
          <p:cNvPr id="3" name="Text 1"/>
          <p:cNvSpPr/>
          <p:nvPr/>
        </p:nvSpPr>
        <p:spPr>
          <a:xfrm>
            <a:off x="640080" y="685800"/>
            <a:ext cx="10881360" cy="777240"/>
          </a:xfrm>
          <a:prstGeom prst="rect">
            <a:avLst/>
          </a:prstGeom>
          <a:noFill/>
          <a:ln/>
        </p:spPr>
        <p:txBody>
          <a:bodyPr wrap="square" lIns="0" tIns="0" rIns="0" bIns="0" rtlCol="0" anchor="ctr"/>
          <a:lstStyle/>
          <a:p>
            <a:pPr marL="0" indent="0">
              <a:buNone/>
            </a:pPr>
            <a:r>
              <a:rPr lang="en-US" sz="3400" b="1" dirty="0">
                <a:solidFill>
                  <a:srgbClr val="1E2761"/>
                </a:solidFill>
                <a:latin typeface="Cambria" pitchFamily="34" charset="0"/>
                <a:ea typeface="Cambria" pitchFamily="34" charset="-122"/>
                <a:cs typeface="Cambria" pitchFamily="34" charset="-120"/>
              </a:rPr>
              <a:t>The model never gets to invent a citation</a:t>
            </a:r>
            <a:endParaRPr lang="en-US" sz="3400" dirty="0"/>
          </a:p>
        </p:txBody>
      </p:sp>
      <p:sp>
        <p:nvSpPr>
          <p:cNvPr id="4" name="Shape 2"/>
          <p:cNvSpPr/>
          <p:nvPr/>
        </p:nvSpPr>
        <p:spPr>
          <a:xfrm>
            <a:off x="640080" y="1828800"/>
            <a:ext cx="5852160" cy="2651760"/>
          </a:xfrm>
          <a:prstGeom prst="roundRect">
            <a:avLst>
              <a:gd name="adj" fmla="val 2759"/>
            </a:avLst>
          </a:prstGeom>
          <a:solidFill>
            <a:srgbClr val="F7F9FD"/>
          </a:solidFill>
          <a:ln/>
        </p:spPr>
      </p:sp>
      <p:sp>
        <p:nvSpPr>
          <p:cNvPr id="5" name="Text 3"/>
          <p:cNvSpPr/>
          <p:nvPr/>
        </p:nvSpPr>
        <p:spPr>
          <a:xfrm>
            <a:off x="1005840" y="2148840"/>
            <a:ext cx="5120640" cy="2011680"/>
          </a:xfrm>
          <a:prstGeom prst="rect">
            <a:avLst/>
          </a:prstGeom>
          <a:noFill/>
          <a:ln/>
        </p:spPr>
        <p:txBody>
          <a:bodyPr wrap="square" lIns="0" tIns="0" rIns="0" bIns="0" rtlCol="0" anchor="ctr"/>
          <a:lstStyle/>
          <a:p>
            <a:pPr marL="0" indent="0">
              <a:buNone/>
            </a:pPr>
            <a:r>
              <a:rPr lang="en-US" sz="1500" dirty="0">
                <a:solidFill>
                  <a:srgbClr val="5A6280"/>
                </a:solidFill>
                <a:latin typeface="Courier New" pitchFamily="34" charset="0"/>
                <a:ea typeface="Courier New" pitchFamily="34" charset="-122"/>
                <a:cs typeface="Courier New" pitchFamily="34" charset="-120"/>
              </a:rPr>
              <a:t>Model returns:  </a:t>
            </a:r>
            <a:r>
              <a:rPr lang="en-US" sz="1500" b="1" dirty="0">
                <a:solidFill>
                  <a:srgbClr val="1E2761"/>
                </a:solidFill>
                <a:latin typeface="Courier New" pitchFamily="34" charset="0"/>
                <a:ea typeface="Courier New" pitchFamily="34" charset="-122"/>
                <a:cs typeface="Courier New" pitchFamily="34" charset="-120"/>
              </a:rPr>
              <a:t>"4,250,000"</a:t>
            </a:r>
            <a:endParaRPr lang="en-US" sz="1500" dirty="0"/>
          </a:p>
          <a:p>
            <a:pPr marL="0" indent="0">
              <a:buNone/>
            </a:pPr>
            <a:endParaRPr lang="en-US" sz="1500" dirty="0"/>
          </a:p>
          <a:p>
            <a:pPr marL="0" indent="0">
              <a:buNone/>
            </a:pPr>
            <a:r>
              <a:rPr lang="en-US" sz="1500" dirty="0">
                <a:solidFill>
                  <a:srgbClr val="5A6280"/>
                </a:solidFill>
                <a:latin typeface="Courier New" pitchFamily="34" charset="0"/>
                <a:ea typeface="Courier New" pitchFamily="34" charset="-122"/>
                <a:cs typeface="Courier New" pitchFamily="34" charset="-120"/>
              </a:rPr>
              <a:t>System runs:  </a:t>
            </a:r>
            <a:endParaRPr lang="en-US" sz="1500" dirty="0"/>
          </a:p>
          <a:p>
            <a:pPr marL="0" indent="0">
              <a:buNone/>
            </a:pPr>
            <a:r>
              <a:rPr lang="en-US" sz="1500" b="1" dirty="0">
                <a:solidFill>
                  <a:srgbClr val="1E2761"/>
                </a:solidFill>
                <a:latin typeface="Courier New" pitchFamily="34" charset="0"/>
                <a:ea typeface="Courier New" pitchFamily="34" charset="-122"/>
                <a:cs typeface="Courier New" pitchFamily="34" charset="-120"/>
              </a:rPr>
              <a:t>document.find("4,250,000")</a:t>
            </a:r>
            <a:endParaRPr lang="en-US" sz="1500" dirty="0"/>
          </a:p>
          <a:p>
            <a:pPr marL="0" indent="0">
              <a:buNone/>
            </a:pPr>
            <a:endParaRPr lang="en-US" sz="1500" dirty="0"/>
          </a:p>
          <a:p>
            <a:pPr marL="0" indent="0">
              <a:buNone/>
            </a:pPr>
            <a:r>
              <a:rPr lang="en-US" sz="1500" dirty="0">
                <a:solidFill>
                  <a:srgbClr val="5A6280"/>
                </a:solidFill>
                <a:latin typeface="Courier New" pitchFamily="34" charset="0"/>
                <a:ea typeface="Courier New" pitchFamily="34" charset="-122"/>
                <a:cs typeface="Courier New" pitchFamily="34" charset="-120"/>
              </a:rPr>
              <a:t>Not found?  </a:t>
            </a:r>
            <a:endParaRPr lang="en-US" sz="1500" dirty="0"/>
          </a:p>
          <a:p>
            <a:pPr marL="0" indent="0">
              <a:buNone/>
            </a:pPr>
            <a:r>
              <a:rPr lang="en-US" sz="1500" b="1" dirty="0">
                <a:solidFill>
                  <a:srgbClr val="B03A3A"/>
                </a:solidFill>
                <a:latin typeface="Courier New" pitchFamily="34" charset="0"/>
                <a:ea typeface="Courier New" pitchFamily="34" charset="-122"/>
                <a:cs typeface="Courier New" pitchFamily="34" charset="-120"/>
              </a:rPr>
              <a:t>claim discarded</a:t>
            </a:r>
            <a:endParaRPr lang="en-US" sz="1500" dirty="0"/>
          </a:p>
        </p:txBody>
      </p:sp>
      <p:sp>
        <p:nvSpPr>
          <p:cNvPr id="6" name="Text 4"/>
          <p:cNvSpPr/>
          <p:nvPr/>
        </p:nvSpPr>
        <p:spPr>
          <a:xfrm>
            <a:off x="6766560" y="1920240"/>
            <a:ext cx="4754880" cy="731520"/>
          </a:xfrm>
          <a:prstGeom prst="rect">
            <a:avLst/>
          </a:prstGeom>
          <a:noFill/>
          <a:ln/>
        </p:spPr>
        <p:txBody>
          <a:bodyPr wrap="square" lIns="0" tIns="0" rIns="0" bIns="0" rtlCol="0" anchor="ctr"/>
          <a:lstStyle/>
          <a:p>
            <a:pPr marL="0" indent="0">
              <a:buNone/>
            </a:pPr>
            <a:r>
              <a:rPr lang="en-US" sz="2100" b="1" dirty="0">
                <a:solidFill>
                  <a:srgbClr val="1E2761"/>
                </a:solidFill>
                <a:latin typeface="Cambria" pitchFamily="34" charset="0"/>
                <a:ea typeface="Cambria" pitchFamily="34" charset="-122"/>
                <a:cs typeface="Cambria" pitchFamily="34" charset="-120"/>
              </a:rPr>
              <a:t>The model is never asked for character positions.</a:t>
            </a:r>
            <a:endParaRPr lang="en-US" sz="2100" dirty="0"/>
          </a:p>
        </p:txBody>
      </p:sp>
      <p:sp>
        <p:nvSpPr>
          <p:cNvPr id="7" name="Text 5"/>
          <p:cNvSpPr/>
          <p:nvPr/>
        </p:nvSpPr>
        <p:spPr>
          <a:xfrm>
            <a:off x="6766560" y="2743200"/>
            <a:ext cx="4754880" cy="2377440"/>
          </a:xfrm>
          <a:prstGeom prst="rect">
            <a:avLst/>
          </a:prstGeom>
          <a:noFill/>
          <a:ln/>
        </p:spPr>
        <p:txBody>
          <a:bodyPr wrap="square" lIns="0" tIns="0" rIns="0" bIns="0" rtlCol="0" anchor="ctr"/>
          <a:lstStyle/>
          <a:p>
            <a:pPr marL="0" indent="0">
              <a:buNone/>
            </a:pPr>
            <a:r>
              <a:rPr lang="en-US" sz="1400" dirty="0">
                <a:solidFill>
                  <a:srgbClr val="1A1A2E"/>
                </a:solidFill>
                <a:latin typeface="Calibri" pitchFamily="34" charset="0"/>
                <a:ea typeface="Calibri" pitchFamily="34" charset="-122"/>
                <a:cs typeface="Calibri" pitchFamily="34" charset="-120"/>
              </a:rPr>
              <a:t>It returns the exact text it is quoting. The system locates that text itself.</a:t>
            </a:r>
            <a:endParaRPr lang="en-US" sz="1400" dirty="0"/>
          </a:p>
          <a:p>
            <a:pPr marL="0" indent="0">
              <a:buNone/>
            </a:pPr>
            <a:endParaRPr lang="en-US" sz="1400" dirty="0"/>
          </a:p>
          <a:p>
            <a:pPr marL="0" indent="0">
              <a:buNone/>
            </a:pPr>
            <a:r>
              <a:rPr lang="en-US" sz="1400" dirty="0">
                <a:solidFill>
                  <a:srgbClr val="1A1A2E"/>
                </a:solidFill>
                <a:latin typeface="Calibri" pitchFamily="34" charset="0"/>
                <a:ea typeface="Calibri" pitchFamily="34" charset="-122"/>
                <a:cs typeface="Calibri" pitchFamily="34" charset="-120"/>
              </a:rPr>
              <a:t>A model asked for offsets returns plausible wrong numbers — citations that look right and point at nothing.</a:t>
            </a:r>
            <a:endParaRPr lang="en-US" sz="1400" dirty="0"/>
          </a:p>
          <a:p>
            <a:pPr marL="0" indent="0">
              <a:buNone/>
            </a:pPr>
            <a:endParaRPr lang="en-US" sz="1400" dirty="0"/>
          </a:p>
          <a:p>
            <a:pPr marL="0" indent="0">
              <a:buNone/>
            </a:pPr>
            <a:r>
              <a:rPr lang="en-US" sz="1400" dirty="0">
                <a:solidFill>
                  <a:srgbClr val="1A1A2E"/>
                </a:solidFill>
                <a:latin typeface="Calibri" pitchFamily="34" charset="0"/>
                <a:ea typeface="Calibri" pitchFamily="34" charset="-122"/>
                <a:cs typeface="Calibri" pitchFamily="34" charset="-120"/>
              </a:rPr>
              <a:t>Every citation is re-checked against the source before it reaches the memo.</a:t>
            </a:r>
            <a:endParaRPr lang="en-US" sz="1400" dirty="0"/>
          </a:p>
        </p:txBody>
      </p:sp>
      <p:sp>
        <p:nvSpPr>
          <p:cNvPr id="8" name="Text 6"/>
          <p:cNvSpPr/>
          <p:nvPr/>
        </p:nvSpPr>
        <p:spPr>
          <a:xfrm>
            <a:off x="640080" y="5029200"/>
            <a:ext cx="10881360" cy="365760"/>
          </a:xfrm>
          <a:prstGeom prst="rect">
            <a:avLst/>
          </a:prstGeom>
          <a:noFill/>
          <a:ln/>
        </p:spPr>
        <p:txBody>
          <a:bodyPr wrap="square" lIns="0" tIns="0" rIns="0" bIns="0" rtlCol="0" anchor="ctr"/>
          <a:lstStyle/>
          <a:p>
            <a:pPr marL="0" indent="0">
              <a:buNone/>
            </a:pPr>
            <a:r>
              <a:rPr lang="en-US" sz="1500" i="1" dirty="0">
                <a:solidFill>
                  <a:srgbClr val="1E2761"/>
                </a:solidFill>
                <a:latin typeface="Calibri" pitchFamily="34" charset="0"/>
                <a:ea typeface="Calibri" pitchFamily="34" charset="-122"/>
                <a:cs typeface="Calibri" pitchFamily="34" charset="-120"/>
              </a:rPr>
              <a:t>One hallucinated citation and an analyst never trusts the tool again.</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84048"/>
            <a:ext cx="7315200" cy="274320"/>
          </a:xfrm>
          <a:prstGeom prst="rect">
            <a:avLst/>
          </a:prstGeom>
          <a:noFill/>
          <a:ln/>
        </p:spPr>
        <p:txBody>
          <a:bodyPr wrap="square" lIns="0" tIns="0" rIns="0" bIns="0" rtlCol="0" anchor="ctr"/>
          <a:lstStyle/>
          <a:p>
            <a:pPr marL="0" indent="0">
              <a:buNone/>
            </a:pPr>
            <a:r>
              <a:rPr lang="en-US" sz="1100" b="1" kern="0" spc="200" dirty="0">
                <a:solidFill>
                  <a:srgbClr val="5A6280"/>
                </a:solidFill>
                <a:latin typeface="Calibri" pitchFamily="34" charset="0"/>
                <a:ea typeface="Calibri" pitchFamily="34" charset="-122"/>
                <a:cs typeface="Calibri" pitchFamily="34" charset="-120"/>
              </a:rPr>
              <a:t>NEGATIVE SPACE</a:t>
            </a:r>
            <a:endParaRPr lang="en-US" sz="1100" dirty="0"/>
          </a:p>
        </p:txBody>
      </p:sp>
      <p:sp>
        <p:nvSpPr>
          <p:cNvPr id="3" name="Text 1"/>
          <p:cNvSpPr/>
          <p:nvPr/>
        </p:nvSpPr>
        <p:spPr>
          <a:xfrm>
            <a:off x="640080" y="685800"/>
            <a:ext cx="10881360" cy="777240"/>
          </a:xfrm>
          <a:prstGeom prst="rect">
            <a:avLst/>
          </a:prstGeom>
          <a:noFill/>
          <a:ln/>
        </p:spPr>
        <p:txBody>
          <a:bodyPr wrap="square" lIns="0" tIns="0" rIns="0" bIns="0" rtlCol="0" anchor="ctr"/>
          <a:lstStyle/>
          <a:p>
            <a:pPr marL="0" indent="0">
              <a:buNone/>
            </a:pPr>
            <a:r>
              <a:rPr lang="en-US" sz="3400" b="1" dirty="0">
                <a:solidFill>
                  <a:srgbClr val="1E2761"/>
                </a:solidFill>
                <a:latin typeface="Cambria" pitchFamily="34" charset="0"/>
                <a:ea typeface="Cambria" pitchFamily="34" charset="-122"/>
                <a:cs typeface="Cambria" pitchFamily="34" charset="-120"/>
              </a:rPr>
              <a:t>Reporting what isn't there</a:t>
            </a:r>
            <a:endParaRPr lang="en-US" sz="3400" dirty="0"/>
          </a:p>
        </p:txBody>
      </p:sp>
      <p:sp>
        <p:nvSpPr>
          <p:cNvPr id="4" name="Shape 2"/>
          <p:cNvSpPr/>
          <p:nvPr/>
        </p:nvSpPr>
        <p:spPr>
          <a:xfrm>
            <a:off x="640080" y="1783080"/>
            <a:ext cx="10881360" cy="1188720"/>
          </a:xfrm>
          <a:prstGeom prst="roundRect">
            <a:avLst>
              <a:gd name="adj" fmla="val 6154"/>
            </a:avLst>
          </a:prstGeom>
          <a:solidFill>
            <a:srgbClr val="F7F9FD"/>
          </a:solidFill>
          <a:ln/>
        </p:spPr>
      </p:sp>
      <p:sp>
        <p:nvSpPr>
          <p:cNvPr id="5" name="Text 3"/>
          <p:cNvSpPr/>
          <p:nvPr/>
        </p:nvSpPr>
        <p:spPr>
          <a:xfrm>
            <a:off x="1005840" y="1783080"/>
            <a:ext cx="10149840" cy="1188720"/>
          </a:xfrm>
          <a:prstGeom prst="rect">
            <a:avLst/>
          </a:prstGeom>
          <a:noFill/>
          <a:ln/>
        </p:spPr>
        <p:txBody>
          <a:bodyPr wrap="square" lIns="0" tIns="0" rIns="0" bIns="0" rtlCol="0" anchor="ctr"/>
          <a:lstStyle/>
          <a:p>
            <a:pPr marL="0" indent="0">
              <a:buNone/>
            </a:pPr>
            <a:r>
              <a:rPr lang="en-US" sz="1700" i="1" dirty="0">
                <a:solidFill>
                  <a:srgbClr val="1A1A2E"/>
                </a:solidFill>
                <a:latin typeface="Calibri" pitchFamily="34" charset="0"/>
                <a:ea typeface="Calibri" pitchFamily="34" charset="-122"/>
                <a:cs typeface="Calibri" pitchFamily="34" charset="-120"/>
              </a:rPr>
              <a:t>"410,000 options have been granted to employees under the company equity incentive plan."</a:t>
            </a:r>
            <a:endParaRPr lang="en-US" sz="1700" dirty="0"/>
          </a:p>
        </p:txBody>
      </p:sp>
      <p:sp>
        <p:nvSpPr>
          <p:cNvPr id="6" name="Text 4"/>
          <p:cNvSpPr/>
          <p:nvPr/>
        </p:nvSpPr>
        <p:spPr>
          <a:xfrm>
            <a:off x="1005840" y="3017520"/>
            <a:ext cx="5486400" cy="274320"/>
          </a:xfrm>
          <a:prstGeom prst="rect">
            <a:avLst/>
          </a:prstGeom>
          <a:noFill/>
          <a:ln/>
        </p:spPr>
        <p:txBody>
          <a:bodyPr wrap="square" lIns="0" tIns="0" rIns="0" bIns="0" rtlCol="0" anchor="ctr"/>
          <a:lstStyle/>
          <a:p>
            <a:pPr marL="0" indent="0">
              <a:buNone/>
            </a:pPr>
            <a:r>
              <a:rPr lang="en-US" sz="1200" dirty="0">
                <a:solidFill>
                  <a:srgbClr val="5A6280"/>
                </a:solidFill>
                <a:latin typeface="Calibri" pitchFamily="34" charset="0"/>
                <a:ea typeface="Calibri" pitchFamily="34" charset="-122"/>
                <a:cs typeface="Calibri" pitchFamily="34" charset="-120"/>
              </a:rPr>
              <a:t>— the cap table</a:t>
            </a:r>
            <a:endParaRPr lang="en-US" sz="1200" dirty="0"/>
          </a:p>
        </p:txBody>
      </p:sp>
      <p:sp>
        <p:nvSpPr>
          <p:cNvPr id="7" name="Text 5"/>
          <p:cNvSpPr/>
          <p:nvPr/>
        </p:nvSpPr>
        <p:spPr>
          <a:xfrm>
            <a:off x="640080" y="3611880"/>
            <a:ext cx="10881360" cy="502920"/>
          </a:xfrm>
          <a:prstGeom prst="rect">
            <a:avLst/>
          </a:prstGeom>
          <a:noFill/>
          <a:ln/>
        </p:spPr>
        <p:txBody>
          <a:bodyPr wrap="square" lIns="0" tIns="0" rIns="0" bIns="0" rtlCol="0" anchor="ctr"/>
          <a:lstStyle/>
          <a:p>
            <a:pPr marL="0" indent="0">
              <a:buNone/>
            </a:pPr>
            <a:r>
              <a:rPr lang="en-US" sz="2800" b="1" dirty="0">
                <a:solidFill>
                  <a:srgbClr val="B03A3A"/>
                </a:solidFill>
                <a:latin typeface="Cambria" pitchFamily="34" charset="0"/>
                <a:ea typeface="Cambria" pitchFamily="34" charset="-122"/>
                <a:cs typeface="Cambria" pitchFamily="34" charset="-120"/>
              </a:rPr>
              <a:t>There is no plan document in the data room.</a:t>
            </a:r>
            <a:endParaRPr lang="en-US" sz="2800" dirty="0"/>
          </a:p>
        </p:txBody>
      </p:sp>
      <p:sp>
        <p:nvSpPr>
          <p:cNvPr id="8" name="Text 6"/>
          <p:cNvSpPr/>
          <p:nvPr/>
        </p:nvSpPr>
        <p:spPr>
          <a:xfrm>
            <a:off x="640080" y="4251960"/>
            <a:ext cx="10881360" cy="411480"/>
          </a:xfrm>
          <a:prstGeom prst="rect">
            <a:avLst/>
          </a:prstGeom>
          <a:noFill/>
          <a:ln/>
        </p:spPr>
        <p:txBody>
          <a:bodyPr wrap="square" lIns="0" tIns="0" rIns="0" bIns="0" rtlCol="0" anchor="ctr"/>
          <a:lstStyle/>
          <a:p>
            <a:pPr marL="0" indent="0">
              <a:buNone/>
            </a:pPr>
            <a:r>
              <a:rPr lang="en-US" sz="1700" dirty="0">
                <a:solidFill>
                  <a:srgbClr val="1E2761"/>
                </a:solidFill>
                <a:latin typeface="Calibri" pitchFamily="34" charset="0"/>
                <a:ea typeface="Calibri" pitchFamily="34" charset="-122"/>
                <a:cs typeface="Calibri" pitchFamily="34" charset="-120"/>
              </a:rPr>
              <a:t>A mention is not a presence. The reference is the defect.</a:t>
            </a:r>
            <a:endParaRPr lang="en-US" sz="1700" dirty="0"/>
          </a:p>
        </p:txBody>
      </p:sp>
      <p:sp>
        <p:nvSpPr>
          <p:cNvPr id="9" name="Text 7"/>
          <p:cNvSpPr/>
          <p:nvPr/>
        </p:nvSpPr>
        <p:spPr>
          <a:xfrm>
            <a:off x="640080" y="4846320"/>
            <a:ext cx="10515600" cy="914400"/>
          </a:xfrm>
          <a:prstGeom prst="rect">
            <a:avLst/>
          </a:prstGeom>
          <a:noFill/>
          <a:ln/>
        </p:spPr>
        <p:txBody>
          <a:bodyPr wrap="square" lIns="0" tIns="0" rIns="0" bIns="0" rtlCol="0" anchor="ctr"/>
          <a:lstStyle/>
          <a:p>
            <a:pPr marL="0" indent="0">
              <a:buNone/>
            </a:pPr>
            <a:r>
              <a:rPr lang="en-US" sz="1400" dirty="0">
                <a:solidFill>
                  <a:srgbClr val="5A6280"/>
                </a:solidFill>
                <a:latin typeface="Calibri" pitchFamily="34" charset="0"/>
                <a:ea typeface="Calibri" pitchFamily="34" charset="-122"/>
                <a:cs typeface="Calibri" pitchFamily="34" charset="-120"/>
              </a:rPr>
              <a:t>My first version searched document text for the phrase, found it, and concluded the plan existed. That bug hid the exact defect it was built to find. Presence is now matched on filenames only.</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84048"/>
            <a:ext cx="7315200" cy="274320"/>
          </a:xfrm>
          <a:prstGeom prst="rect">
            <a:avLst/>
          </a:prstGeom>
          <a:noFill/>
          <a:ln/>
        </p:spPr>
        <p:txBody>
          <a:bodyPr wrap="square" lIns="0" tIns="0" rIns="0" bIns="0" rtlCol="0" anchor="ctr"/>
          <a:lstStyle/>
          <a:p>
            <a:pPr marL="0" indent="0">
              <a:buNone/>
            </a:pPr>
            <a:r>
              <a:rPr lang="en-US" sz="1100" b="1" kern="0" spc="200" dirty="0">
                <a:solidFill>
                  <a:srgbClr val="5A6280"/>
                </a:solidFill>
                <a:latin typeface="Calibri" pitchFamily="34" charset="0"/>
                <a:ea typeface="Calibri" pitchFamily="34" charset="-122"/>
                <a:cs typeface="Calibri" pitchFamily="34" charset="-120"/>
              </a:rPr>
              <a:t>REFLECTION</a:t>
            </a:r>
            <a:endParaRPr lang="en-US" sz="1100" dirty="0"/>
          </a:p>
        </p:txBody>
      </p:sp>
      <p:sp>
        <p:nvSpPr>
          <p:cNvPr id="3" name="Text 1"/>
          <p:cNvSpPr/>
          <p:nvPr/>
        </p:nvSpPr>
        <p:spPr>
          <a:xfrm>
            <a:off x="640080" y="685800"/>
            <a:ext cx="10881360" cy="777240"/>
          </a:xfrm>
          <a:prstGeom prst="rect">
            <a:avLst/>
          </a:prstGeom>
          <a:noFill/>
          <a:ln/>
        </p:spPr>
        <p:txBody>
          <a:bodyPr wrap="square" lIns="0" tIns="0" rIns="0" bIns="0" rtlCol="0" anchor="ctr"/>
          <a:lstStyle/>
          <a:p>
            <a:pPr marL="0" indent="0">
              <a:buNone/>
            </a:pPr>
            <a:r>
              <a:rPr lang="en-US" sz="3400" b="1" dirty="0">
                <a:solidFill>
                  <a:srgbClr val="1E2761"/>
                </a:solidFill>
                <a:latin typeface="Cambria" pitchFamily="34" charset="0"/>
                <a:ea typeface="Cambria" pitchFamily="34" charset="-122"/>
                <a:cs typeface="Cambria" pitchFamily="34" charset="-120"/>
              </a:rPr>
              <a:t>One agent tries to destroy the others' work</a:t>
            </a:r>
            <a:endParaRPr lang="en-US" sz="3400" dirty="0"/>
          </a:p>
        </p:txBody>
      </p:sp>
      <p:sp>
        <p:nvSpPr>
          <p:cNvPr id="4" name="Shape 2"/>
          <p:cNvSpPr/>
          <p:nvPr/>
        </p:nvSpPr>
        <p:spPr>
          <a:xfrm>
            <a:off x="640080" y="1874520"/>
            <a:ext cx="2286000" cy="777240"/>
          </a:xfrm>
          <a:prstGeom prst="roundRect">
            <a:avLst>
              <a:gd name="adj" fmla="val 9412"/>
            </a:avLst>
          </a:prstGeom>
          <a:solidFill>
            <a:srgbClr val="CADCFC"/>
          </a:solidFill>
          <a:ln/>
        </p:spPr>
      </p:sp>
      <p:sp>
        <p:nvSpPr>
          <p:cNvPr id="5" name="Text 3"/>
          <p:cNvSpPr/>
          <p:nvPr/>
        </p:nvSpPr>
        <p:spPr>
          <a:xfrm>
            <a:off x="640080" y="1874520"/>
            <a:ext cx="2286000" cy="777240"/>
          </a:xfrm>
          <a:prstGeom prst="rect">
            <a:avLst/>
          </a:prstGeom>
          <a:noFill/>
          <a:ln/>
        </p:spPr>
        <p:txBody>
          <a:bodyPr wrap="square" lIns="0" tIns="0" rIns="0" bIns="0" rtlCol="0" anchor="ctr"/>
          <a:lstStyle/>
          <a:p>
            <a:pPr marL="0" indent="0" algn="ctr">
              <a:buNone/>
            </a:pPr>
            <a:r>
              <a:rPr lang="en-US" sz="1500" b="1" dirty="0">
                <a:solidFill>
                  <a:srgbClr val="1E2761"/>
                </a:solidFill>
                <a:latin typeface="Calibri" pitchFamily="34" charset="0"/>
                <a:ea typeface="Calibri" pitchFamily="34" charset="-122"/>
                <a:cs typeface="Calibri" pitchFamily="34" charset="-120"/>
              </a:rPr>
              <a:t>Proposed</a:t>
            </a:r>
            <a:endParaRPr lang="en-US" sz="1500" dirty="0"/>
          </a:p>
        </p:txBody>
      </p:sp>
      <p:sp>
        <p:nvSpPr>
          <p:cNvPr id="6" name="Text 4"/>
          <p:cNvSpPr/>
          <p:nvPr/>
        </p:nvSpPr>
        <p:spPr>
          <a:xfrm>
            <a:off x="2926080" y="1874520"/>
            <a:ext cx="685800" cy="777240"/>
          </a:xfrm>
          <a:prstGeom prst="rect">
            <a:avLst/>
          </a:prstGeom>
          <a:noFill/>
          <a:ln/>
        </p:spPr>
        <p:txBody>
          <a:bodyPr wrap="square" lIns="0" tIns="0" rIns="0" bIns="0" rtlCol="0" anchor="ctr"/>
          <a:lstStyle/>
          <a:p>
            <a:pPr marL="0" indent="0" algn="ctr">
              <a:buNone/>
            </a:pPr>
            <a:r>
              <a:rPr lang="en-US" sz="1800" dirty="0">
                <a:solidFill>
                  <a:srgbClr val="5A6280"/>
                </a:solidFill>
                <a:latin typeface="Calibri" pitchFamily="34" charset="0"/>
                <a:ea typeface="Calibri" pitchFamily="34" charset="-122"/>
                <a:cs typeface="Calibri" pitchFamily="34" charset="-120"/>
              </a:rPr>
              <a:t>→</a:t>
            </a:r>
            <a:endParaRPr lang="en-US" sz="1800" dirty="0"/>
          </a:p>
        </p:txBody>
      </p:sp>
      <p:sp>
        <p:nvSpPr>
          <p:cNvPr id="7" name="Shape 5"/>
          <p:cNvSpPr/>
          <p:nvPr/>
        </p:nvSpPr>
        <p:spPr>
          <a:xfrm>
            <a:off x="3611880" y="1874520"/>
            <a:ext cx="2286000" cy="777240"/>
          </a:xfrm>
          <a:prstGeom prst="roundRect">
            <a:avLst>
              <a:gd name="adj" fmla="val 9412"/>
            </a:avLst>
          </a:prstGeom>
          <a:solidFill>
            <a:srgbClr val="E8A33D"/>
          </a:solidFill>
          <a:ln/>
        </p:spPr>
      </p:sp>
      <p:sp>
        <p:nvSpPr>
          <p:cNvPr id="8" name="Text 6"/>
          <p:cNvSpPr/>
          <p:nvPr/>
        </p:nvSpPr>
        <p:spPr>
          <a:xfrm>
            <a:off x="3611880" y="1874520"/>
            <a:ext cx="2286000" cy="777240"/>
          </a:xfrm>
          <a:prstGeom prst="rect">
            <a:avLst/>
          </a:prstGeom>
          <a:noFill/>
          <a:ln/>
        </p:spPr>
        <p:txBody>
          <a:bodyPr wrap="square" lIns="0" tIns="0" rIns="0" bIns="0" rtlCol="0" anchor="ctr"/>
          <a:lstStyle/>
          <a:p>
            <a:pPr marL="0" indent="0" algn="ctr">
              <a:buNone/>
            </a:pPr>
            <a:r>
              <a:rPr lang="en-US" sz="1500" b="1" dirty="0">
                <a:solidFill>
                  <a:srgbClr val="141A45"/>
                </a:solidFill>
                <a:latin typeface="Calibri" pitchFamily="34" charset="0"/>
                <a:ea typeface="Calibri" pitchFamily="34" charset="-122"/>
                <a:cs typeface="Calibri" pitchFamily="34" charset="-120"/>
              </a:rPr>
              <a:t>Challenged</a:t>
            </a:r>
            <a:endParaRPr lang="en-US" sz="1500" dirty="0"/>
          </a:p>
        </p:txBody>
      </p:sp>
      <p:sp>
        <p:nvSpPr>
          <p:cNvPr id="9" name="Text 7"/>
          <p:cNvSpPr/>
          <p:nvPr/>
        </p:nvSpPr>
        <p:spPr>
          <a:xfrm>
            <a:off x="5897880" y="1874520"/>
            <a:ext cx="685800" cy="777240"/>
          </a:xfrm>
          <a:prstGeom prst="rect">
            <a:avLst/>
          </a:prstGeom>
          <a:noFill/>
          <a:ln/>
        </p:spPr>
        <p:txBody>
          <a:bodyPr wrap="square" lIns="0" tIns="0" rIns="0" bIns="0" rtlCol="0" anchor="ctr"/>
          <a:lstStyle/>
          <a:p>
            <a:pPr marL="0" indent="0" algn="ctr">
              <a:buNone/>
            </a:pPr>
            <a:r>
              <a:rPr lang="en-US" sz="1800" dirty="0">
                <a:solidFill>
                  <a:srgbClr val="5A6280"/>
                </a:solidFill>
                <a:latin typeface="Calibri" pitchFamily="34" charset="0"/>
                <a:ea typeface="Calibri" pitchFamily="34" charset="-122"/>
                <a:cs typeface="Calibri" pitchFamily="34" charset="-120"/>
              </a:rPr>
              <a:t>→</a:t>
            </a:r>
            <a:endParaRPr lang="en-US" sz="1800" dirty="0"/>
          </a:p>
        </p:txBody>
      </p:sp>
      <p:sp>
        <p:nvSpPr>
          <p:cNvPr id="10" name="Shape 8"/>
          <p:cNvSpPr/>
          <p:nvPr/>
        </p:nvSpPr>
        <p:spPr>
          <a:xfrm>
            <a:off x="6583680" y="1874520"/>
            <a:ext cx="2286000" cy="777240"/>
          </a:xfrm>
          <a:prstGeom prst="roundRect">
            <a:avLst>
              <a:gd name="adj" fmla="val 9412"/>
            </a:avLst>
          </a:prstGeom>
          <a:solidFill>
            <a:srgbClr val="2E7D5B"/>
          </a:solidFill>
          <a:ln/>
        </p:spPr>
      </p:sp>
      <p:sp>
        <p:nvSpPr>
          <p:cNvPr id="11" name="Text 9"/>
          <p:cNvSpPr/>
          <p:nvPr/>
        </p:nvSpPr>
        <p:spPr>
          <a:xfrm>
            <a:off x="6583680" y="1874520"/>
            <a:ext cx="2286000" cy="777240"/>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Confirmed</a:t>
            </a:r>
            <a:endParaRPr lang="en-US" sz="1500" dirty="0"/>
          </a:p>
        </p:txBody>
      </p:sp>
      <p:sp>
        <p:nvSpPr>
          <p:cNvPr id="12" name="Shape 10"/>
          <p:cNvSpPr/>
          <p:nvPr/>
        </p:nvSpPr>
        <p:spPr>
          <a:xfrm>
            <a:off x="3611880" y="2880360"/>
            <a:ext cx="2286000" cy="640080"/>
          </a:xfrm>
          <a:prstGeom prst="roundRect">
            <a:avLst>
              <a:gd name="adj" fmla="val 11429"/>
            </a:avLst>
          </a:prstGeom>
          <a:solidFill>
            <a:srgbClr val="FFFFFF"/>
          </a:solidFill>
          <a:ln w="19050">
            <a:solidFill>
              <a:srgbClr val="B03A3A"/>
            </a:solidFill>
            <a:prstDash val="solid"/>
          </a:ln>
        </p:spPr>
      </p:sp>
      <p:sp>
        <p:nvSpPr>
          <p:cNvPr id="13" name="Text 11"/>
          <p:cNvSpPr/>
          <p:nvPr/>
        </p:nvSpPr>
        <p:spPr>
          <a:xfrm>
            <a:off x="3611880" y="2880360"/>
            <a:ext cx="2286000" cy="640080"/>
          </a:xfrm>
          <a:prstGeom prst="rect">
            <a:avLst/>
          </a:prstGeom>
          <a:noFill/>
          <a:ln/>
        </p:spPr>
        <p:txBody>
          <a:bodyPr wrap="square" lIns="0" tIns="0" rIns="0" bIns="0" rtlCol="0" anchor="ctr"/>
          <a:lstStyle/>
          <a:p>
            <a:pPr marL="0" indent="0" algn="ctr">
              <a:buNone/>
            </a:pPr>
            <a:r>
              <a:rPr lang="en-US" sz="1400" b="1" dirty="0">
                <a:solidFill>
                  <a:srgbClr val="B03A3A"/>
                </a:solidFill>
                <a:latin typeface="Calibri" pitchFamily="34" charset="0"/>
                <a:ea typeface="Calibri" pitchFamily="34" charset="-122"/>
                <a:cs typeface="Calibri" pitchFamily="34" charset="-120"/>
              </a:rPr>
              <a:t>Retracted</a:t>
            </a:r>
            <a:endParaRPr lang="en-US" sz="1400" dirty="0"/>
          </a:p>
        </p:txBody>
      </p:sp>
      <p:sp>
        <p:nvSpPr>
          <p:cNvPr id="14" name="Text 12"/>
          <p:cNvSpPr/>
          <p:nvPr/>
        </p:nvSpPr>
        <p:spPr>
          <a:xfrm>
            <a:off x="640080" y="3886200"/>
            <a:ext cx="6583680" cy="914400"/>
          </a:xfrm>
          <a:prstGeom prst="rect">
            <a:avLst/>
          </a:prstGeom>
          <a:noFill/>
          <a:ln/>
        </p:spPr>
        <p:txBody>
          <a:bodyPr wrap="square" lIns="0" tIns="0" rIns="0" bIns="0" rtlCol="0" anchor="ctr"/>
          <a:lstStyle/>
          <a:p>
            <a:pPr marL="0" indent="0">
              <a:buNone/>
            </a:pPr>
            <a:r>
              <a:rPr lang="en-US" sz="1600" dirty="0">
                <a:solidFill>
                  <a:srgbClr val="1A1A2E"/>
                </a:solidFill>
                <a:latin typeface="Calibri" pitchFamily="34" charset="0"/>
                <a:ea typeface="Calibri" pitchFamily="34" charset="-122"/>
                <a:cs typeface="Calibri" pitchFamily="34" charset="-120"/>
              </a:rPr>
              <a:t>The critic is not asked to review a finding. It is asked to construct the strongest case that the finding is wrong.</a:t>
            </a:r>
            <a:endParaRPr lang="en-US" sz="1600" dirty="0"/>
          </a:p>
        </p:txBody>
      </p:sp>
      <p:sp>
        <p:nvSpPr>
          <p:cNvPr id="15" name="Text 13"/>
          <p:cNvSpPr/>
          <p:nvPr/>
        </p:nvSpPr>
        <p:spPr>
          <a:xfrm>
            <a:off x="640080" y="4846320"/>
            <a:ext cx="6583680" cy="822960"/>
          </a:xfrm>
          <a:prstGeom prst="rect">
            <a:avLst/>
          </a:prstGeom>
          <a:noFill/>
          <a:ln/>
        </p:spPr>
        <p:txBody>
          <a:bodyPr wrap="square" lIns="0" tIns="0" rIns="0" bIns="0" rtlCol="0" anchor="ctr"/>
          <a:lstStyle/>
          <a:p>
            <a:pPr marL="0" indent="0">
              <a:buNone/>
            </a:pPr>
            <a:r>
              <a:rPr lang="en-US" sz="1400" dirty="0">
                <a:solidFill>
                  <a:srgbClr val="5A6280"/>
                </a:solidFill>
                <a:latin typeface="Calibri" pitchFamily="34" charset="0"/>
                <a:ea typeface="Calibri" pitchFamily="34" charset="-122"/>
                <a:cs typeface="Calibri" pitchFamily="34" charset="-120"/>
              </a:rPr>
              <a:t>Finding.confirm() raises if the finding was never challenged. Review cannot be skipped by accident.</a:t>
            </a:r>
            <a:endParaRPr lang="en-US" sz="1400" dirty="0"/>
          </a:p>
        </p:txBody>
      </p:sp>
      <p:sp>
        <p:nvSpPr>
          <p:cNvPr id="16" name="Shape 14"/>
          <p:cNvSpPr/>
          <p:nvPr/>
        </p:nvSpPr>
        <p:spPr>
          <a:xfrm>
            <a:off x="7863840" y="3794760"/>
            <a:ext cx="3657600" cy="1920240"/>
          </a:xfrm>
          <a:prstGeom prst="roundRect">
            <a:avLst>
              <a:gd name="adj" fmla="val 3810"/>
            </a:avLst>
          </a:prstGeom>
          <a:solidFill>
            <a:srgbClr val="F7F9FD"/>
          </a:solidFill>
          <a:ln/>
        </p:spPr>
      </p:sp>
      <p:sp>
        <p:nvSpPr>
          <p:cNvPr id="17" name="Text 15"/>
          <p:cNvSpPr/>
          <p:nvPr/>
        </p:nvSpPr>
        <p:spPr>
          <a:xfrm>
            <a:off x="7863840" y="3977640"/>
            <a:ext cx="3657600" cy="777240"/>
          </a:xfrm>
          <a:prstGeom prst="rect">
            <a:avLst/>
          </a:prstGeom>
          <a:noFill/>
          <a:ln/>
        </p:spPr>
        <p:txBody>
          <a:bodyPr wrap="square" lIns="0" tIns="0" rIns="0" bIns="0" rtlCol="0" anchor="ctr"/>
          <a:lstStyle/>
          <a:p>
            <a:pPr marL="0" indent="0" algn="ctr">
              <a:buNone/>
            </a:pPr>
            <a:r>
              <a:rPr lang="en-US" sz="4400" b="1" dirty="0">
                <a:solidFill>
                  <a:srgbClr val="1E2761"/>
                </a:solidFill>
                <a:latin typeface="Cambria" pitchFamily="34" charset="0"/>
                <a:ea typeface="Cambria" pitchFamily="34" charset="-122"/>
                <a:cs typeface="Cambria" pitchFamily="34" charset="-120"/>
              </a:rPr>
              <a:t>2 of 8</a:t>
            </a:r>
            <a:endParaRPr lang="en-US" sz="4400" dirty="0"/>
          </a:p>
        </p:txBody>
      </p:sp>
      <p:sp>
        <p:nvSpPr>
          <p:cNvPr id="18" name="Text 16"/>
          <p:cNvSpPr/>
          <p:nvPr/>
        </p:nvSpPr>
        <p:spPr>
          <a:xfrm>
            <a:off x="7863840" y="4800600"/>
            <a:ext cx="3657600" cy="731520"/>
          </a:xfrm>
          <a:prstGeom prst="rect">
            <a:avLst/>
          </a:prstGeom>
          <a:noFill/>
          <a:ln/>
        </p:spPr>
        <p:txBody>
          <a:bodyPr wrap="square" lIns="0" tIns="0" rIns="0" bIns="0" rtlCol="0" anchor="ctr"/>
          <a:lstStyle/>
          <a:p>
            <a:pPr marL="0" indent="0" algn="ctr">
              <a:buNone/>
            </a:pPr>
            <a:r>
              <a:rPr lang="en-US" sz="1400" dirty="0">
                <a:solidFill>
                  <a:srgbClr val="5A6280"/>
                </a:solidFill>
                <a:latin typeface="Calibri" pitchFamily="34" charset="0"/>
                <a:ea typeface="Calibri" pitchFamily="34" charset="-122"/>
                <a:cs typeface="Calibri" pitchFamily="34" charset="-120"/>
              </a:rPr>
              <a:t>findings retracted</a:t>
            </a:r>
            <a:endParaRPr lang="en-US" sz="1400" dirty="0"/>
          </a:p>
          <a:p>
            <a:pPr marL="0" indent="0" algn="ctr">
              <a:buNone/>
            </a:pPr>
            <a:r>
              <a:rPr lang="en-US" sz="1400" dirty="0">
                <a:solidFill>
                  <a:srgbClr val="5A6280"/>
                </a:solidFill>
                <a:latin typeface="Calibri" pitchFamily="34" charset="0"/>
                <a:ea typeface="Calibri" pitchFamily="34" charset="-122"/>
                <a:cs typeface="Calibri" pitchFamily="34" charset="-120"/>
              </a:rPr>
              <a:t>2 severities revised</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E2761"/>
        </a:solidFill>
        <a:effectLst/>
      </p:bgPr>
    </p:bg>
    <p:spTree>
      <p:nvGrpSpPr>
        <p:cNvPr id="1" name=""/>
        <p:cNvGrpSpPr/>
        <p:nvPr/>
      </p:nvGrpSpPr>
      <p:grpSpPr>
        <a:xfrm>
          <a:off x="0" y="0"/>
          <a:ext cx="0" cy="0"/>
          <a:chOff x="0" y="0"/>
          <a:chExt cx="0" cy="0"/>
        </a:xfrm>
      </p:grpSpPr>
      <p:sp>
        <p:nvSpPr>
          <p:cNvPr id="2" name="Text 0"/>
          <p:cNvSpPr/>
          <p:nvPr/>
        </p:nvSpPr>
        <p:spPr>
          <a:xfrm>
            <a:off x="640080" y="502920"/>
            <a:ext cx="10881360" cy="640080"/>
          </a:xfrm>
          <a:prstGeom prst="rect">
            <a:avLst/>
          </a:prstGeom>
          <a:noFill/>
          <a:ln/>
        </p:spPr>
        <p:txBody>
          <a:bodyPr wrap="square" lIns="0" tIns="0" rIns="0" bIns="0" rtlCol="0" anchor="ctr"/>
          <a:lstStyle/>
          <a:p>
            <a:pPr marL="0" indent="0">
              <a:buNone/>
            </a:pPr>
            <a:r>
              <a:rPr lang="en-US" sz="3400" b="1" dirty="0">
                <a:solidFill>
                  <a:srgbClr val="FFFFFF"/>
                </a:solidFill>
                <a:latin typeface="Cambria" pitchFamily="34" charset="0"/>
                <a:ea typeface="Cambria" pitchFamily="34" charset="-122"/>
                <a:cs typeface="Cambria" pitchFamily="34" charset="-120"/>
              </a:rPr>
              <a:t>The critic caught my mistake</a:t>
            </a:r>
            <a:endParaRPr lang="en-US" sz="3400" dirty="0"/>
          </a:p>
        </p:txBody>
      </p:sp>
      <p:sp>
        <p:nvSpPr>
          <p:cNvPr id="3" name="Text 1"/>
          <p:cNvSpPr/>
          <p:nvPr/>
        </p:nvSpPr>
        <p:spPr>
          <a:xfrm>
            <a:off x="640080" y="1417320"/>
            <a:ext cx="10515600" cy="685800"/>
          </a:xfrm>
          <a:prstGeom prst="rect">
            <a:avLst/>
          </a:prstGeom>
          <a:noFill/>
          <a:ln/>
        </p:spPr>
        <p:txBody>
          <a:bodyPr wrap="square" lIns="0" tIns="0" rIns="0" bIns="0" rtlCol="0" anchor="ctr"/>
          <a:lstStyle/>
          <a:p>
            <a:pPr marL="0" indent="0">
              <a:buNone/>
            </a:pPr>
            <a:r>
              <a:rPr lang="en-US" sz="1700" dirty="0">
                <a:solidFill>
                  <a:srgbClr val="CADCFC"/>
                </a:solidFill>
                <a:latin typeface="Calibri" pitchFamily="34" charset="0"/>
                <a:ea typeface="Calibri" pitchFamily="34" charset="-122"/>
                <a:cs typeface="Calibri" pitchFamily="34" charset="-120"/>
              </a:rPr>
              <a:t>My arithmetic detector summed founder shares, preferred shares, and employee options against the cap table total.</a:t>
            </a:r>
            <a:endParaRPr lang="en-US" sz="1700" dirty="0"/>
          </a:p>
        </p:txBody>
      </p:sp>
      <p:sp>
        <p:nvSpPr>
          <p:cNvPr id="4" name="Text 2"/>
          <p:cNvSpPr/>
          <p:nvPr/>
        </p:nvSpPr>
        <p:spPr>
          <a:xfrm>
            <a:off x="640080" y="2148840"/>
            <a:ext cx="10515600" cy="365760"/>
          </a:xfrm>
          <a:prstGeom prst="rect">
            <a:avLst/>
          </a:prstGeom>
          <a:noFill/>
          <a:ln/>
        </p:spPr>
        <p:txBody>
          <a:bodyPr wrap="square" lIns="0" tIns="0" rIns="0" bIns="0" rtlCol="0" anchor="ctr"/>
          <a:lstStyle/>
          <a:p>
            <a:pPr marL="0" indent="0">
              <a:buNone/>
            </a:pPr>
            <a:r>
              <a:rPr lang="en-US" sz="1700" b="1" dirty="0">
                <a:solidFill>
                  <a:srgbClr val="FFFFFF"/>
                </a:solidFill>
                <a:latin typeface="Calibri" pitchFamily="34" charset="0"/>
                <a:ea typeface="Calibri" pitchFamily="34" charset="-122"/>
                <a:cs typeface="Calibri" pitchFamily="34" charset="-120"/>
              </a:rPr>
              <a:t>All tests passed. Three days of green.</a:t>
            </a:r>
            <a:endParaRPr lang="en-US" sz="1700" dirty="0"/>
          </a:p>
        </p:txBody>
      </p:sp>
      <p:sp>
        <p:nvSpPr>
          <p:cNvPr id="5" name="Shape 3"/>
          <p:cNvSpPr/>
          <p:nvPr/>
        </p:nvSpPr>
        <p:spPr>
          <a:xfrm>
            <a:off x="640080" y="2788920"/>
            <a:ext cx="10881360" cy="1417320"/>
          </a:xfrm>
          <a:prstGeom prst="roundRect">
            <a:avLst>
              <a:gd name="adj" fmla="val 5161"/>
            </a:avLst>
          </a:prstGeom>
          <a:solidFill>
            <a:srgbClr val="141A45"/>
          </a:solidFill>
          <a:ln/>
        </p:spPr>
      </p:sp>
      <p:sp>
        <p:nvSpPr>
          <p:cNvPr id="6" name="Text 4"/>
          <p:cNvSpPr/>
          <p:nvPr/>
        </p:nvSpPr>
        <p:spPr>
          <a:xfrm>
            <a:off x="1051560" y="2788920"/>
            <a:ext cx="10058400" cy="1417320"/>
          </a:xfrm>
          <a:prstGeom prst="rect">
            <a:avLst/>
          </a:prstGeom>
          <a:noFill/>
          <a:ln/>
        </p:spPr>
        <p:txBody>
          <a:bodyPr wrap="square" lIns="0" tIns="0" rIns="0" bIns="0" rtlCol="0" anchor="ctr"/>
          <a:lstStyle/>
          <a:p>
            <a:pPr marL="0" indent="0">
              <a:buNone/>
            </a:pPr>
            <a:r>
              <a:rPr lang="en-US" sz="1900" i="1" dirty="0">
                <a:solidFill>
                  <a:srgbClr val="E8A33D"/>
                </a:solidFill>
                <a:latin typeface="Calibri" pitchFamily="34" charset="0"/>
                <a:ea typeface="Calibri" pitchFamily="34" charset="-122"/>
                <a:cs typeface="Calibri" pitchFamily="34" charset="-120"/>
              </a:rPr>
              <a:t>"Adding unexercised employee options to issued and outstanding shares is a definitional error."</a:t>
            </a:r>
            <a:endParaRPr lang="en-US" sz="1900" dirty="0"/>
          </a:p>
        </p:txBody>
      </p:sp>
      <p:sp>
        <p:nvSpPr>
          <p:cNvPr id="7" name="Text 5"/>
          <p:cNvSpPr/>
          <p:nvPr/>
        </p:nvSpPr>
        <p:spPr>
          <a:xfrm>
            <a:off x="640080" y="4434840"/>
            <a:ext cx="10881360" cy="457200"/>
          </a:xfrm>
          <a:prstGeom prst="rect">
            <a:avLst/>
          </a:prstGeom>
          <a:noFill/>
          <a:ln/>
        </p:spPr>
        <p:txBody>
          <a:bodyPr wrap="square" lIns="0" tIns="0" rIns="0" bIns="0" rtlCol="0" anchor="ctr"/>
          <a:lstStyle/>
          <a:p>
            <a:pPr marL="0" indent="0">
              <a:buNone/>
            </a:pPr>
            <a:r>
              <a:rPr lang="en-US" sz="2800" b="1" dirty="0">
                <a:solidFill>
                  <a:srgbClr val="FFFFFF"/>
                </a:solidFill>
                <a:latin typeface="Cambria" pitchFamily="34" charset="0"/>
                <a:ea typeface="Cambria" pitchFamily="34" charset="-122"/>
                <a:cs typeface="Cambria" pitchFamily="34" charset="-120"/>
              </a:rPr>
              <a:t>It was right.</a:t>
            </a:r>
            <a:endParaRPr lang="en-US" sz="2800" dirty="0"/>
          </a:p>
        </p:txBody>
      </p:sp>
      <p:sp>
        <p:nvSpPr>
          <p:cNvPr id="8" name="Text 6"/>
          <p:cNvSpPr/>
          <p:nvPr/>
        </p:nvSpPr>
        <p:spPr>
          <a:xfrm>
            <a:off x="640080" y="4983480"/>
            <a:ext cx="10515600" cy="1005840"/>
          </a:xfrm>
          <a:prstGeom prst="rect">
            <a:avLst/>
          </a:prstGeom>
          <a:noFill/>
          <a:ln/>
        </p:spPr>
        <p:txBody>
          <a:bodyPr wrap="square" lIns="0" tIns="0" rIns="0" bIns="0" rtlCol="0" anchor="ctr"/>
          <a:lstStyle/>
          <a:p>
            <a:pPr marL="0" indent="0">
              <a:buNone/>
            </a:pPr>
            <a:r>
              <a:rPr lang="en-US" sz="1500" dirty="0">
                <a:solidFill>
                  <a:srgbClr val="CADCFC"/>
                </a:solidFill>
                <a:latin typeface="Calibri" pitchFamily="34" charset="0"/>
                <a:ea typeface="Calibri" pitchFamily="34" charset="-122"/>
                <a:cs typeface="Calibri" pitchFamily="34" charset="-120"/>
              </a:rPr>
              <a:t>Options are not issued shares until exercised. The detector, the corpus, and the test were all wrong in the same way — so the tests could never catch it. Corrected: 350,000 shares outstanding with no identified holder.</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84048"/>
            <a:ext cx="7315200" cy="274320"/>
          </a:xfrm>
          <a:prstGeom prst="rect">
            <a:avLst/>
          </a:prstGeom>
          <a:noFill/>
          <a:ln/>
        </p:spPr>
        <p:txBody>
          <a:bodyPr wrap="square" lIns="0" tIns="0" rIns="0" bIns="0" rtlCol="0" anchor="ctr"/>
          <a:lstStyle/>
          <a:p>
            <a:pPr marL="0" indent="0">
              <a:buNone/>
            </a:pPr>
            <a:r>
              <a:rPr lang="en-US" sz="1100" b="1" kern="0" spc="200" dirty="0">
                <a:solidFill>
                  <a:srgbClr val="5A6280"/>
                </a:solidFill>
                <a:latin typeface="Calibri" pitchFamily="34" charset="0"/>
                <a:ea typeface="Calibri" pitchFamily="34" charset="-122"/>
                <a:cs typeface="Calibri" pitchFamily="34" charset="-120"/>
              </a:rPr>
              <a:t>RESULTS</a:t>
            </a:r>
            <a:endParaRPr lang="en-US" sz="1100" dirty="0"/>
          </a:p>
        </p:txBody>
      </p:sp>
      <p:sp>
        <p:nvSpPr>
          <p:cNvPr id="3" name="Text 1"/>
          <p:cNvSpPr/>
          <p:nvPr/>
        </p:nvSpPr>
        <p:spPr>
          <a:xfrm>
            <a:off x="640080" y="685800"/>
            <a:ext cx="10881360" cy="777240"/>
          </a:xfrm>
          <a:prstGeom prst="rect">
            <a:avLst/>
          </a:prstGeom>
          <a:noFill/>
          <a:ln/>
        </p:spPr>
        <p:txBody>
          <a:bodyPr wrap="square" lIns="0" tIns="0" rIns="0" bIns="0" rtlCol="0" anchor="ctr"/>
          <a:lstStyle/>
          <a:p>
            <a:pPr marL="0" indent="0">
              <a:buNone/>
            </a:pPr>
            <a:r>
              <a:rPr lang="en-US" sz="3400" b="1" dirty="0">
                <a:solidFill>
                  <a:srgbClr val="1E2761"/>
                </a:solidFill>
                <a:latin typeface="Cambria" pitchFamily="34" charset="0"/>
                <a:ea typeface="Cambria" pitchFamily="34" charset="-122"/>
                <a:cs typeface="Cambria" pitchFamily="34" charset="-120"/>
              </a:rPr>
              <a:t>Measured, not asserted</a:t>
            </a:r>
            <a:endParaRPr lang="en-US" sz="3400" dirty="0"/>
          </a:p>
        </p:txBody>
      </p:sp>
      <p:sp>
        <p:nvSpPr>
          <p:cNvPr id="4" name="Shape 2"/>
          <p:cNvSpPr/>
          <p:nvPr/>
        </p:nvSpPr>
        <p:spPr>
          <a:xfrm>
            <a:off x="640080" y="1783080"/>
            <a:ext cx="2514600" cy="1737360"/>
          </a:xfrm>
          <a:prstGeom prst="roundRect">
            <a:avLst>
              <a:gd name="adj" fmla="val 4211"/>
            </a:avLst>
          </a:prstGeom>
          <a:solidFill>
            <a:srgbClr val="1E2761"/>
          </a:solidFill>
          <a:ln/>
        </p:spPr>
      </p:sp>
      <p:sp>
        <p:nvSpPr>
          <p:cNvPr id="5" name="Text 3"/>
          <p:cNvSpPr/>
          <p:nvPr/>
        </p:nvSpPr>
        <p:spPr>
          <a:xfrm>
            <a:off x="640080" y="1965960"/>
            <a:ext cx="2514600" cy="777240"/>
          </a:xfrm>
          <a:prstGeom prst="rect">
            <a:avLst/>
          </a:prstGeom>
          <a:noFill/>
          <a:ln/>
        </p:spPr>
        <p:txBody>
          <a:bodyPr wrap="square" lIns="0" tIns="0" rIns="0" bIns="0" rtlCol="0" anchor="ctr"/>
          <a:lstStyle/>
          <a:p>
            <a:pPr marL="0" indent="0" algn="ctr">
              <a:buNone/>
            </a:pPr>
            <a:r>
              <a:rPr lang="en-US" sz="4200" b="1" dirty="0">
                <a:solidFill>
                  <a:srgbClr val="FFFFFF"/>
                </a:solidFill>
                <a:latin typeface="Cambria" pitchFamily="34" charset="0"/>
                <a:ea typeface="Cambria" pitchFamily="34" charset="-122"/>
                <a:cs typeface="Cambria" pitchFamily="34" charset="-120"/>
              </a:rPr>
              <a:t>3/3</a:t>
            </a:r>
            <a:endParaRPr lang="en-US" sz="4200" dirty="0"/>
          </a:p>
        </p:txBody>
      </p:sp>
      <p:sp>
        <p:nvSpPr>
          <p:cNvPr id="6" name="Text 4"/>
          <p:cNvSpPr/>
          <p:nvPr/>
        </p:nvSpPr>
        <p:spPr>
          <a:xfrm>
            <a:off x="640080" y="2743200"/>
            <a:ext cx="2514600" cy="640080"/>
          </a:xfrm>
          <a:prstGeom prst="rect">
            <a:avLst/>
          </a:prstGeom>
          <a:noFill/>
          <a:ln/>
        </p:spPr>
        <p:txBody>
          <a:bodyPr wrap="square" lIns="0" tIns="0" rIns="0" bIns="0" rtlCol="0" anchor="ctr"/>
          <a:lstStyle/>
          <a:p>
            <a:pPr marL="0" indent="0" algn="ctr">
              <a:buNone/>
            </a:pPr>
            <a:r>
              <a:rPr lang="en-US" sz="1200" dirty="0">
                <a:solidFill>
                  <a:srgbClr val="CADCFC"/>
                </a:solidFill>
                <a:latin typeface="Calibri" pitchFamily="34" charset="0"/>
                <a:ea typeface="Calibri" pitchFamily="34" charset="-122"/>
                <a:cs typeface="Calibri" pitchFamily="34" charset="-120"/>
              </a:rPr>
              <a:t>planted defects</a:t>
            </a:r>
            <a:endParaRPr lang="en-US" sz="1200" dirty="0"/>
          </a:p>
          <a:p>
            <a:pPr marL="0" indent="0" algn="ctr">
              <a:buNone/>
            </a:pPr>
            <a:r>
              <a:rPr lang="en-US" sz="1200" dirty="0">
                <a:solidFill>
                  <a:srgbClr val="CADCFC"/>
                </a:solidFill>
                <a:latin typeface="Calibri" pitchFamily="34" charset="0"/>
                <a:ea typeface="Calibri" pitchFamily="34" charset="-122"/>
                <a:cs typeface="Calibri" pitchFamily="34" charset="-120"/>
              </a:rPr>
              <a:t>detected</a:t>
            </a:r>
            <a:endParaRPr lang="en-US" sz="1200" dirty="0"/>
          </a:p>
        </p:txBody>
      </p:sp>
      <p:sp>
        <p:nvSpPr>
          <p:cNvPr id="7" name="Shape 5"/>
          <p:cNvSpPr/>
          <p:nvPr/>
        </p:nvSpPr>
        <p:spPr>
          <a:xfrm>
            <a:off x="3429000" y="1783080"/>
            <a:ext cx="2514600" cy="1737360"/>
          </a:xfrm>
          <a:prstGeom prst="roundRect">
            <a:avLst>
              <a:gd name="adj" fmla="val 4211"/>
            </a:avLst>
          </a:prstGeom>
          <a:solidFill>
            <a:srgbClr val="F7F9FD"/>
          </a:solidFill>
          <a:ln/>
        </p:spPr>
      </p:sp>
      <p:sp>
        <p:nvSpPr>
          <p:cNvPr id="8" name="Text 6"/>
          <p:cNvSpPr/>
          <p:nvPr/>
        </p:nvSpPr>
        <p:spPr>
          <a:xfrm>
            <a:off x="3429000" y="1965960"/>
            <a:ext cx="2514600" cy="777240"/>
          </a:xfrm>
          <a:prstGeom prst="rect">
            <a:avLst/>
          </a:prstGeom>
          <a:noFill/>
          <a:ln/>
        </p:spPr>
        <p:txBody>
          <a:bodyPr wrap="square" lIns="0" tIns="0" rIns="0" bIns="0" rtlCol="0" anchor="ctr"/>
          <a:lstStyle/>
          <a:p>
            <a:pPr marL="0" indent="0" algn="ctr">
              <a:buNone/>
            </a:pPr>
            <a:r>
              <a:rPr lang="en-US" sz="4200" b="1" dirty="0">
                <a:solidFill>
                  <a:srgbClr val="1E2761"/>
                </a:solidFill>
                <a:latin typeface="Cambria" pitchFamily="34" charset="0"/>
                <a:ea typeface="Cambria" pitchFamily="34" charset="-122"/>
                <a:cs typeface="Cambria" pitchFamily="34" charset="-120"/>
              </a:rPr>
              <a:t>0/6</a:t>
            </a:r>
            <a:endParaRPr lang="en-US" sz="4200" dirty="0"/>
          </a:p>
        </p:txBody>
      </p:sp>
      <p:sp>
        <p:nvSpPr>
          <p:cNvPr id="9" name="Text 7"/>
          <p:cNvSpPr/>
          <p:nvPr/>
        </p:nvSpPr>
        <p:spPr>
          <a:xfrm>
            <a:off x="3429000" y="2743200"/>
            <a:ext cx="2514600" cy="640080"/>
          </a:xfrm>
          <a:prstGeom prst="rect">
            <a:avLst/>
          </a:prstGeom>
          <a:noFill/>
          <a:ln/>
        </p:spPr>
        <p:txBody>
          <a:bodyPr wrap="square" lIns="0" tIns="0" rIns="0" bIns="0" rtlCol="0" anchor="ctr"/>
          <a:lstStyle/>
          <a:p>
            <a:pPr marL="0" indent="0" algn="ctr">
              <a:buNone/>
            </a:pPr>
            <a:r>
              <a:rPr lang="en-US" sz="1200" dirty="0">
                <a:solidFill>
                  <a:srgbClr val="5A6280"/>
                </a:solidFill>
                <a:latin typeface="Calibri" pitchFamily="34" charset="0"/>
                <a:ea typeface="Calibri" pitchFamily="34" charset="-122"/>
                <a:cs typeface="Calibri" pitchFamily="34" charset="-120"/>
              </a:rPr>
              <a:t>findings matching</a:t>
            </a:r>
            <a:endParaRPr lang="en-US" sz="1200" dirty="0"/>
          </a:p>
          <a:p>
            <a:pPr marL="0" indent="0" algn="ctr">
              <a:buNone/>
            </a:pPr>
            <a:r>
              <a:rPr lang="en-US" sz="1200" dirty="0">
                <a:solidFill>
                  <a:srgbClr val="5A6280"/>
                </a:solidFill>
                <a:latin typeface="Calibri" pitchFamily="34" charset="0"/>
                <a:ea typeface="Calibri" pitchFamily="34" charset="-122"/>
                <a:cs typeface="Calibri" pitchFamily="34" charset="-120"/>
              </a:rPr>
              <a:t>nothing real</a:t>
            </a:r>
            <a:endParaRPr lang="en-US" sz="1200" dirty="0"/>
          </a:p>
        </p:txBody>
      </p:sp>
      <p:sp>
        <p:nvSpPr>
          <p:cNvPr id="10" name="Shape 8"/>
          <p:cNvSpPr/>
          <p:nvPr/>
        </p:nvSpPr>
        <p:spPr>
          <a:xfrm>
            <a:off x="6217920" y="1783080"/>
            <a:ext cx="2514600" cy="1737360"/>
          </a:xfrm>
          <a:prstGeom prst="roundRect">
            <a:avLst>
              <a:gd name="adj" fmla="val 4211"/>
            </a:avLst>
          </a:prstGeom>
          <a:solidFill>
            <a:srgbClr val="F7F9FD"/>
          </a:solidFill>
          <a:ln/>
        </p:spPr>
      </p:sp>
      <p:sp>
        <p:nvSpPr>
          <p:cNvPr id="11" name="Text 9"/>
          <p:cNvSpPr/>
          <p:nvPr/>
        </p:nvSpPr>
        <p:spPr>
          <a:xfrm>
            <a:off x="6217920" y="1965960"/>
            <a:ext cx="2514600" cy="777240"/>
          </a:xfrm>
          <a:prstGeom prst="rect">
            <a:avLst/>
          </a:prstGeom>
          <a:noFill/>
          <a:ln/>
        </p:spPr>
        <p:txBody>
          <a:bodyPr wrap="square" lIns="0" tIns="0" rIns="0" bIns="0" rtlCol="0" anchor="ctr"/>
          <a:lstStyle/>
          <a:p>
            <a:pPr marL="0" indent="0" algn="ctr">
              <a:buNone/>
            </a:pPr>
            <a:r>
              <a:rPr lang="en-US" sz="4200" b="1" dirty="0">
                <a:solidFill>
                  <a:srgbClr val="1E2761"/>
                </a:solidFill>
                <a:latin typeface="Cambria" pitchFamily="34" charset="0"/>
                <a:ea typeface="Cambria" pitchFamily="34" charset="-122"/>
                <a:cs typeface="Cambria" pitchFamily="34" charset="-120"/>
              </a:rPr>
              <a:t>176</a:t>
            </a:r>
            <a:endParaRPr lang="en-US" sz="4200" dirty="0"/>
          </a:p>
        </p:txBody>
      </p:sp>
      <p:sp>
        <p:nvSpPr>
          <p:cNvPr id="12" name="Text 10"/>
          <p:cNvSpPr/>
          <p:nvPr/>
        </p:nvSpPr>
        <p:spPr>
          <a:xfrm>
            <a:off x="6217920" y="2743200"/>
            <a:ext cx="2514600" cy="640080"/>
          </a:xfrm>
          <a:prstGeom prst="rect">
            <a:avLst/>
          </a:prstGeom>
          <a:noFill/>
          <a:ln/>
        </p:spPr>
        <p:txBody>
          <a:bodyPr wrap="square" lIns="0" tIns="0" rIns="0" bIns="0" rtlCol="0" anchor="ctr"/>
          <a:lstStyle/>
          <a:p>
            <a:pPr marL="0" indent="0" algn="ctr">
              <a:buNone/>
            </a:pPr>
            <a:r>
              <a:rPr lang="en-US" sz="1200" dirty="0">
                <a:solidFill>
                  <a:srgbClr val="5A6280"/>
                </a:solidFill>
                <a:latin typeface="Calibri" pitchFamily="34" charset="0"/>
                <a:ea typeface="Calibri" pitchFamily="34" charset="-122"/>
                <a:cs typeface="Calibri" pitchFamily="34" charset="-120"/>
              </a:rPr>
              <a:t>tests, all offline</a:t>
            </a:r>
            <a:endParaRPr lang="en-US" sz="1200" dirty="0"/>
          </a:p>
        </p:txBody>
      </p:sp>
      <p:sp>
        <p:nvSpPr>
          <p:cNvPr id="13" name="Shape 11"/>
          <p:cNvSpPr/>
          <p:nvPr/>
        </p:nvSpPr>
        <p:spPr>
          <a:xfrm>
            <a:off x="9006840" y="1783080"/>
            <a:ext cx="2514600" cy="1737360"/>
          </a:xfrm>
          <a:prstGeom prst="roundRect">
            <a:avLst>
              <a:gd name="adj" fmla="val 4211"/>
            </a:avLst>
          </a:prstGeom>
          <a:solidFill>
            <a:srgbClr val="F7F9FD"/>
          </a:solidFill>
          <a:ln/>
        </p:spPr>
      </p:sp>
      <p:sp>
        <p:nvSpPr>
          <p:cNvPr id="14" name="Text 12"/>
          <p:cNvSpPr/>
          <p:nvPr/>
        </p:nvSpPr>
        <p:spPr>
          <a:xfrm>
            <a:off x="9006840" y="1965960"/>
            <a:ext cx="2514600" cy="777240"/>
          </a:xfrm>
          <a:prstGeom prst="rect">
            <a:avLst/>
          </a:prstGeom>
          <a:noFill/>
          <a:ln/>
        </p:spPr>
        <p:txBody>
          <a:bodyPr wrap="square" lIns="0" tIns="0" rIns="0" bIns="0" rtlCol="0" anchor="ctr"/>
          <a:lstStyle/>
          <a:p>
            <a:pPr marL="0" indent="0" algn="ctr">
              <a:buNone/>
            </a:pPr>
            <a:r>
              <a:rPr lang="en-US" sz="4200" b="1" dirty="0">
                <a:solidFill>
                  <a:srgbClr val="1E2761"/>
                </a:solidFill>
                <a:latin typeface="Cambria" pitchFamily="34" charset="0"/>
                <a:ea typeface="Cambria" pitchFamily="34" charset="-122"/>
                <a:cs typeface="Cambria" pitchFamily="34" charset="-120"/>
              </a:rPr>
              <a:t>&lt;1s</a:t>
            </a:r>
            <a:endParaRPr lang="en-US" sz="4200" dirty="0"/>
          </a:p>
        </p:txBody>
      </p:sp>
      <p:sp>
        <p:nvSpPr>
          <p:cNvPr id="15" name="Text 13"/>
          <p:cNvSpPr/>
          <p:nvPr/>
        </p:nvSpPr>
        <p:spPr>
          <a:xfrm>
            <a:off x="9006840" y="2743200"/>
            <a:ext cx="2514600" cy="640080"/>
          </a:xfrm>
          <a:prstGeom prst="rect">
            <a:avLst/>
          </a:prstGeom>
          <a:noFill/>
          <a:ln/>
        </p:spPr>
        <p:txBody>
          <a:bodyPr wrap="square" lIns="0" tIns="0" rIns="0" bIns="0" rtlCol="0" anchor="ctr"/>
          <a:lstStyle/>
          <a:p>
            <a:pPr marL="0" indent="0" algn="ctr">
              <a:buNone/>
            </a:pPr>
            <a:r>
              <a:rPr lang="en-US" sz="1200" dirty="0">
                <a:solidFill>
                  <a:srgbClr val="5A6280"/>
                </a:solidFill>
                <a:latin typeface="Calibri" pitchFamily="34" charset="0"/>
                <a:ea typeface="Calibri" pitchFamily="34" charset="-122"/>
                <a:cs typeface="Calibri" pitchFamily="34" charset="-120"/>
              </a:rPr>
              <a:t>full cached</a:t>
            </a:r>
            <a:endParaRPr lang="en-US" sz="1200" dirty="0"/>
          </a:p>
          <a:p>
            <a:pPr marL="0" indent="0" algn="ctr">
              <a:buNone/>
            </a:pPr>
            <a:r>
              <a:rPr lang="en-US" sz="1200" dirty="0">
                <a:solidFill>
                  <a:srgbClr val="5A6280"/>
                </a:solidFill>
                <a:latin typeface="Calibri" pitchFamily="34" charset="0"/>
                <a:ea typeface="Calibri" pitchFamily="34" charset="-122"/>
                <a:cs typeface="Calibri" pitchFamily="34" charset="-120"/>
              </a:rPr>
              <a:t>pipeline run</a:t>
            </a:r>
            <a:endParaRPr lang="en-US" sz="1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40080" y="3886200"/>
          <a:ext cx="10881360" cy="1536192"/>
        </p:xfrm>
        <a:graphic>
          <a:graphicData uri="http://schemas.openxmlformats.org/drawingml/2006/table">
            <a:tbl>
              <a:tblPr/>
              <a:tblGrid>
                <a:gridCol w="1645920">
                  <a:extLst>
                    <a:ext uri="{9D8B030D-6E8A-4147-A177-3AD203B41FA5}">
                      <a16:colId xmlns:a16="http://schemas.microsoft.com/office/drawing/2014/main" val="20000"/>
                    </a:ext>
                  </a:extLst>
                </a:gridCol>
                <a:gridCol w="694944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tblGrid>
              <a:tr h="384048">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Defect</a:t>
                      </a:r>
                      <a:endParaRPr lang="en-US" sz="1400" dirty="0">
                        <a:latin typeface="Calibri" charset="0"/>
                        <a:ea typeface="Calibri" charset="0"/>
                        <a:cs typeface="Calibri" charset="0"/>
                      </a:endParaRPr>
                    </a:p>
                  </a:txBody>
                  <a:tcPr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Class</a:t>
                      </a:r>
                      <a:endParaRPr lang="en-US" sz="1400" dirty="0">
                        <a:latin typeface="Calibri" charset="0"/>
                        <a:ea typeface="Calibri" charset="0"/>
                        <a:cs typeface="Calibri" charset="0"/>
                      </a:endParaRPr>
                    </a:p>
                  </a:txBody>
                  <a:tcPr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Detected</a:t>
                      </a:r>
                      <a:endParaRPr lang="en-US" sz="1400" dirty="0">
                        <a:latin typeface="Calibri" charset="0"/>
                        <a:ea typeface="Calibri" charset="0"/>
                        <a:cs typeface="Calibri" charset="0"/>
                      </a:endParaRPr>
                    </a:p>
                  </a:txBody>
                  <a:tcPr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384048">
                <a:tc>
                  <a:txBody>
                    <a:bodyPr/>
                    <a:lstStyle/>
                    <a:p>
                      <a:pPr marL="0" indent="0">
                        <a:buNone/>
                      </a:pPr>
                      <a:r>
                        <a:rPr lang="en-US" sz="1400" dirty="0">
                          <a:solidFill>
                            <a:srgbClr val="1A1A2E"/>
                          </a:solidFill>
                          <a:latin typeface="Calibri" pitchFamily="34" charset="0"/>
                          <a:ea typeface="Calibri" pitchFamily="34" charset="-122"/>
                          <a:cs typeface="Calibri" pitchFamily="34" charset="-120"/>
                        </a:rPr>
                        <a:t>D-001</a:t>
                      </a:r>
                      <a:endParaRPr lang="en-US" sz="1400" dirty="0">
                        <a:latin typeface="Calibri" charset="0"/>
                        <a:ea typeface="Calibri" charset="0"/>
                        <a:cs typeface="Calibri" charset="0"/>
                      </a:endParaRPr>
                    </a:p>
                  </a:txBody>
                  <a:tcPr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marL="0" indent="0">
                        <a:buNone/>
                      </a:pPr>
                      <a:r>
                        <a:rPr lang="en-US" sz="1400" dirty="0">
                          <a:solidFill>
                            <a:srgbClr val="1A1A2E"/>
                          </a:solidFill>
                          <a:latin typeface="Calibri" pitchFamily="34" charset="0"/>
                          <a:ea typeface="Calibri" pitchFamily="34" charset="-122"/>
                          <a:cs typeface="Calibri" pitchFamily="34" charset="-120"/>
                        </a:rPr>
                        <a:t>Share total does not reconcile</a:t>
                      </a:r>
                      <a:endParaRPr lang="en-US" sz="1400" dirty="0">
                        <a:latin typeface="Calibri" charset="0"/>
                        <a:ea typeface="Calibri" charset="0"/>
                        <a:cs typeface="Calibri" charset="0"/>
                      </a:endParaRPr>
                    </a:p>
                  </a:txBody>
                  <a:tcPr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marL="0" indent="0">
                        <a:buNone/>
                      </a:pPr>
                      <a:r>
                        <a:rPr lang="en-US" sz="1400" dirty="0">
                          <a:solidFill>
                            <a:srgbClr val="1A1A2E"/>
                          </a:solidFill>
                          <a:latin typeface="Calibri" pitchFamily="34" charset="0"/>
                          <a:ea typeface="Calibri" pitchFamily="34" charset="-122"/>
                          <a:cs typeface="Calibri" pitchFamily="34" charset="-120"/>
                        </a:rPr>
                        <a:t>Yes</a:t>
                      </a:r>
                      <a:endParaRPr lang="en-US" sz="1400" dirty="0">
                        <a:latin typeface="Calibri" charset="0"/>
                        <a:ea typeface="Calibri" charset="0"/>
                        <a:cs typeface="Calibri" charset="0"/>
                      </a:endParaRPr>
                    </a:p>
                  </a:txBody>
                  <a:tcPr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buNone/>
                      </a:pPr>
                      <a:r>
                        <a:rPr lang="en-US" sz="1400" dirty="0">
                          <a:solidFill>
                            <a:srgbClr val="1A1A2E"/>
                          </a:solidFill>
                          <a:latin typeface="Calibri" pitchFamily="34" charset="0"/>
                          <a:ea typeface="Calibri" pitchFamily="34" charset="-122"/>
                          <a:cs typeface="Calibri" pitchFamily="34" charset="-120"/>
                        </a:rPr>
                        <a:t>D-002</a:t>
                      </a:r>
                      <a:endParaRPr lang="en-US" sz="1400" dirty="0">
                        <a:latin typeface="Calibri" charset="0"/>
                        <a:ea typeface="Calibri" charset="0"/>
                        <a:cs typeface="Calibri" charset="0"/>
                      </a:endParaRPr>
                    </a:p>
                  </a:txBody>
                  <a:tcPr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marL="0" indent="0">
                        <a:buNone/>
                      </a:pPr>
                      <a:r>
                        <a:rPr lang="en-US" sz="1400" dirty="0">
                          <a:solidFill>
                            <a:srgbClr val="1A1A2E"/>
                          </a:solidFill>
                          <a:latin typeface="Calibri" pitchFamily="34" charset="0"/>
                          <a:ea typeface="Calibri" pitchFamily="34" charset="-122"/>
                          <a:cs typeface="Calibri" pitchFamily="34" charset="-120"/>
                        </a:rPr>
                        <a:t>Cross-document latent liability</a:t>
                      </a:r>
                      <a:endParaRPr lang="en-US" sz="1400" dirty="0">
                        <a:latin typeface="Calibri" charset="0"/>
                        <a:ea typeface="Calibri" charset="0"/>
                        <a:cs typeface="Calibri" charset="0"/>
                      </a:endParaRPr>
                    </a:p>
                  </a:txBody>
                  <a:tcPr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marL="0" indent="0">
                        <a:buNone/>
                      </a:pPr>
                      <a:r>
                        <a:rPr lang="en-US" sz="1400" dirty="0">
                          <a:solidFill>
                            <a:srgbClr val="1A1A2E"/>
                          </a:solidFill>
                          <a:latin typeface="Calibri" pitchFamily="34" charset="0"/>
                          <a:ea typeface="Calibri" pitchFamily="34" charset="-122"/>
                          <a:cs typeface="Calibri" pitchFamily="34" charset="-120"/>
                        </a:rPr>
                        <a:t>Yes</a:t>
                      </a:r>
                      <a:endParaRPr lang="en-US" sz="1400" dirty="0">
                        <a:latin typeface="Calibri" charset="0"/>
                        <a:ea typeface="Calibri" charset="0"/>
                        <a:cs typeface="Calibri" charset="0"/>
                      </a:endParaRPr>
                    </a:p>
                  </a:txBody>
                  <a:tcPr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extLst>
                  <a:ext uri="{0D108BD9-81ED-4DB2-BD59-A6C34878D82A}">
                    <a16:rowId xmlns:a16="http://schemas.microsoft.com/office/drawing/2014/main" val="10002"/>
                  </a:ext>
                </a:extLst>
              </a:tr>
              <a:tr h="384048">
                <a:tc>
                  <a:txBody>
                    <a:bodyPr/>
                    <a:lstStyle/>
                    <a:p>
                      <a:pPr marL="0" indent="0">
                        <a:buNone/>
                      </a:pPr>
                      <a:r>
                        <a:rPr lang="en-US" sz="1400" dirty="0">
                          <a:solidFill>
                            <a:srgbClr val="1A1A2E"/>
                          </a:solidFill>
                          <a:latin typeface="Calibri" pitchFamily="34" charset="0"/>
                          <a:ea typeface="Calibri" pitchFamily="34" charset="-122"/>
                          <a:cs typeface="Calibri" pitchFamily="34" charset="-120"/>
                        </a:rPr>
                        <a:t>D-003</a:t>
                      </a:r>
                      <a:endParaRPr lang="en-US" sz="1400" dirty="0">
                        <a:latin typeface="Calibri" charset="0"/>
                        <a:ea typeface="Calibri" charset="0"/>
                        <a:cs typeface="Calibri" charset="0"/>
                      </a:endParaRPr>
                    </a:p>
                  </a:txBody>
                  <a:tcPr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marL="0" indent="0">
                        <a:buNone/>
                      </a:pPr>
                      <a:r>
                        <a:rPr lang="en-US" sz="1400" dirty="0">
                          <a:solidFill>
                            <a:srgbClr val="1A1A2E"/>
                          </a:solidFill>
                          <a:latin typeface="Calibri" pitchFamily="34" charset="0"/>
                          <a:ea typeface="Calibri" pitchFamily="34" charset="-122"/>
                          <a:cs typeface="Calibri" pitchFamily="34" charset="-120"/>
                        </a:rPr>
                        <a:t>Missing document</a:t>
                      </a:r>
                      <a:endParaRPr lang="en-US" sz="1400" dirty="0">
                        <a:latin typeface="Calibri" charset="0"/>
                        <a:ea typeface="Calibri" charset="0"/>
                        <a:cs typeface="Calibri" charset="0"/>
                      </a:endParaRPr>
                    </a:p>
                  </a:txBody>
                  <a:tcPr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marL="0" indent="0">
                        <a:buNone/>
                      </a:pPr>
                      <a:r>
                        <a:rPr lang="en-US" sz="1400" dirty="0">
                          <a:solidFill>
                            <a:srgbClr val="1A1A2E"/>
                          </a:solidFill>
                          <a:latin typeface="Calibri" pitchFamily="34" charset="0"/>
                          <a:ea typeface="Calibri" pitchFamily="34" charset="-122"/>
                          <a:cs typeface="Calibri" pitchFamily="34" charset="-120"/>
                        </a:rPr>
                        <a:t>Yes</a:t>
                      </a:r>
                      <a:endParaRPr lang="en-US" sz="1400" dirty="0">
                        <a:latin typeface="Calibri" charset="0"/>
                        <a:ea typeface="Calibri" charset="0"/>
                        <a:cs typeface="Calibri" charset="0"/>
                      </a:endParaRPr>
                    </a:p>
                  </a:txBody>
                  <a:tcPr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17" name="Text 14"/>
          <p:cNvSpPr/>
          <p:nvPr/>
        </p:nvSpPr>
        <p:spPr>
          <a:xfrm>
            <a:off x="640080" y="5806440"/>
            <a:ext cx="10881360" cy="365760"/>
          </a:xfrm>
          <a:prstGeom prst="rect">
            <a:avLst/>
          </a:prstGeom>
          <a:noFill/>
          <a:ln/>
        </p:spPr>
        <p:txBody>
          <a:bodyPr wrap="square" lIns="0" tIns="0" rIns="0" bIns="0" rtlCol="0" anchor="ctr"/>
          <a:lstStyle/>
          <a:p>
            <a:pPr marL="0" indent="0">
              <a:buNone/>
            </a:pPr>
            <a:r>
              <a:rPr lang="en-US" sz="1500" i="1" dirty="0">
                <a:solidFill>
                  <a:srgbClr val="1E2761"/>
                </a:solidFill>
                <a:latin typeface="Calibri" pitchFamily="34" charset="0"/>
                <a:ea typeface="Calibri" pitchFamily="34" charset="-122"/>
                <a:cs typeface="Calibri" pitchFamily="34" charset="-120"/>
              </a:rPr>
              <a:t>I wrote the corpus, so I know exactly what is wrong with it and where.</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E2761"/>
        </a:solidFill>
        <a:effectLst/>
      </p:bgPr>
    </p:bg>
    <p:spTree>
      <p:nvGrpSpPr>
        <p:cNvPr id="1" name=""/>
        <p:cNvGrpSpPr/>
        <p:nvPr/>
      </p:nvGrpSpPr>
      <p:grpSpPr>
        <a:xfrm>
          <a:off x="0" y="0"/>
          <a:ext cx="0" cy="0"/>
          <a:chOff x="0" y="0"/>
          <a:chExt cx="0" cy="0"/>
        </a:xfrm>
      </p:grpSpPr>
      <p:sp>
        <p:nvSpPr>
          <p:cNvPr id="3" name="Text 1"/>
          <p:cNvSpPr/>
          <p:nvPr/>
        </p:nvSpPr>
        <p:spPr>
          <a:xfrm>
            <a:off x="640080" y="640080"/>
            <a:ext cx="10881360" cy="685800"/>
          </a:xfrm>
          <a:prstGeom prst="rect">
            <a:avLst/>
          </a:prstGeom>
          <a:noFill/>
          <a:ln/>
        </p:spPr>
        <p:txBody>
          <a:bodyPr wrap="square" lIns="0" tIns="0" rIns="0" bIns="0" rtlCol="0" anchor="ctr"/>
          <a:lstStyle/>
          <a:p>
            <a:pPr marL="0" indent="0">
              <a:buNone/>
            </a:pPr>
            <a:r>
              <a:rPr lang="en-US" sz="3400" b="1" dirty="0">
                <a:solidFill>
                  <a:srgbClr val="FFFFFF"/>
                </a:solidFill>
                <a:latin typeface="Cambria" pitchFamily="34" charset="0"/>
                <a:ea typeface="Cambria" pitchFamily="34" charset="-122"/>
                <a:cs typeface="Cambria" pitchFamily="34" charset="-120"/>
              </a:rPr>
              <a:t>What I would build next</a:t>
            </a:r>
            <a:endParaRPr lang="en-US" sz="3400" dirty="0"/>
          </a:p>
        </p:txBody>
      </p:sp>
      <p:sp>
        <p:nvSpPr>
          <p:cNvPr id="4" name="Text 2"/>
          <p:cNvSpPr/>
          <p:nvPr/>
        </p:nvSpPr>
        <p:spPr>
          <a:xfrm>
            <a:off x="640080" y="1737360"/>
            <a:ext cx="4937760" cy="274320"/>
          </a:xfrm>
          <a:prstGeom prst="rect">
            <a:avLst/>
          </a:prstGeom>
          <a:noFill/>
          <a:ln/>
        </p:spPr>
        <p:txBody>
          <a:bodyPr wrap="square" lIns="0" tIns="0" rIns="0" bIns="0" rtlCol="0" anchor="ctr"/>
          <a:lstStyle/>
          <a:p>
            <a:pPr marL="0" indent="0">
              <a:buNone/>
            </a:pPr>
            <a:r>
              <a:rPr lang="en-US" sz="1100" b="1" kern="0" spc="200" dirty="0">
                <a:solidFill>
                  <a:srgbClr val="E8A33D"/>
                </a:solidFill>
                <a:latin typeface="Calibri" pitchFamily="34" charset="0"/>
                <a:ea typeface="Calibri" pitchFamily="34" charset="-122"/>
                <a:cs typeface="Calibri" pitchFamily="34" charset="-120"/>
              </a:rPr>
              <a:t>NEXT</a:t>
            </a:r>
            <a:endParaRPr lang="en-US" sz="1100" dirty="0"/>
          </a:p>
        </p:txBody>
      </p:sp>
      <p:sp>
        <p:nvSpPr>
          <p:cNvPr id="5" name="Text 3"/>
          <p:cNvSpPr/>
          <p:nvPr/>
        </p:nvSpPr>
        <p:spPr>
          <a:xfrm>
            <a:off x="640080" y="2148840"/>
            <a:ext cx="4937760" cy="1828800"/>
          </a:xfrm>
          <a:prstGeom prst="rect">
            <a:avLst/>
          </a:prstGeom>
          <a:noFill/>
          <a:ln/>
        </p:spPr>
        <p:txBody>
          <a:bodyPr wrap="square" lIns="0" tIns="0" rIns="0" bIns="0" rtlCol="0" anchor="ctr"/>
          <a:lstStyle/>
          <a:p>
            <a:pPr marL="342900" indent="-342900">
              <a:spcAft>
                <a:spcPts val="1000"/>
              </a:spcAft>
              <a:buSzPct val="100000"/>
              <a:buChar char="•"/>
            </a:pPr>
            <a:r>
              <a:rPr lang="en-US" sz="1500" dirty="0">
                <a:solidFill>
                  <a:srgbClr val="CADCFC"/>
                </a:solidFill>
                <a:latin typeface="Calibri" pitchFamily="34" charset="0"/>
                <a:ea typeface="Calibri" pitchFamily="34" charset="-122"/>
                <a:cs typeface="Calibri" pitchFamily="34" charset="-120"/>
              </a:rPr>
              <a:t>Coreference: "the Company" → Northwind</a:t>
            </a:r>
            <a:endParaRPr lang="en-US" sz="1500" dirty="0"/>
          </a:p>
          <a:p>
            <a:pPr marL="342900" indent="-342900">
              <a:spcAft>
                <a:spcPts val="1000"/>
              </a:spcAft>
              <a:buSzPct val="100000"/>
              <a:buChar char="•"/>
            </a:pPr>
            <a:r>
              <a:rPr lang="en-US" sz="1500" dirty="0">
                <a:solidFill>
                  <a:srgbClr val="CADCFC"/>
                </a:solidFill>
                <a:latin typeface="Calibri" pitchFamily="34" charset="0"/>
                <a:ea typeface="Calibri" pitchFamily="34" charset="-122"/>
                <a:cs typeface="Calibri" pitchFamily="34" charset="-120"/>
              </a:rPr>
              <a:t>Evidence spans covering the full clause</a:t>
            </a:r>
            <a:endParaRPr lang="en-US" sz="1500" dirty="0"/>
          </a:p>
          <a:p>
            <a:pPr marL="342900" indent="-342900">
              <a:spcAft>
                <a:spcPts val="1000"/>
              </a:spcAft>
              <a:buSzPct val="100000"/>
              <a:buChar char="•"/>
            </a:pPr>
            <a:r>
              <a:rPr lang="en-US" sz="1500" dirty="0">
                <a:solidFill>
                  <a:srgbClr val="CADCFC"/>
                </a:solidFill>
                <a:latin typeface="Calibri" pitchFamily="34" charset="0"/>
                <a:ea typeface="Calibri" pitchFamily="34" charset="-122"/>
                <a:cs typeface="Calibri" pitchFamily="34" charset="-120"/>
              </a:rPr>
              <a:t>A larger corpus, more defect classes</a:t>
            </a:r>
            <a:endParaRPr lang="en-US" sz="1500" dirty="0"/>
          </a:p>
        </p:txBody>
      </p:sp>
      <p:sp>
        <p:nvSpPr>
          <p:cNvPr id="6" name="Text 4"/>
          <p:cNvSpPr/>
          <p:nvPr/>
        </p:nvSpPr>
        <p:spPr>
          <a:xfrm>
            <a:off x="6035040" y="1737360"/>
            <a:ext cx="4937760" cy="274320"/>
          </a:xfrm>
          <a:prstGeom prst="rect">
            <a:avLst/>
          </a:prstGeom>
          <a:noFill/>
          <a:ln/>
        </p:spPr>
        <p:txBody>
          <a:bodyPr wrap="square" lIns="0" tIns="0" rIns="0" bIns="0" rtlCol="0" anchor="ctr"/>
          <a:lstStyle/>
          <a:p>
            <a:pPr marL="0" indent="0">
              <a:buNone/>
            </a:pPr>
            <a:r>
              <a:rPr lang="en-US" sz="1100" b="1" kern="0" spc="200" dirty="0">
                <a:solidFill>
                  <a:srgbClr val="E8A33D"/>
                </a:solidFill>
                <a:latin typeface="Calibri" pitchFamily="34" charset="0"/>
                <a:ea typeface="Calibri" pitchFamily="34" charset="-122"/>
                <a:cs typeface="Calibri" pitchFamily="34" charset="-120"/>
              </a:rPr>
              <a:t>LATER</a:t>
            </a:r>
            <a:endParaRPr lang="en-US" sz="1100" dirty="0"/>
          </a:p>
        </p:txBody>
      </p:sp>
      <p:sp>
        <p:nvSpPr>
          <p:cNvPr id="7" name="Text 5"/>
          <p:cNvSpPr/>
          <p:nvPr/>
        </p:nvSpPr>
        <p:spPr>
          <a:xfrm>
            <a:off x="6035040" y="2148840"/>
            <a:ext cx="4937760" cy="1828800"/>
          </a:xfrm>
          <a:prstGeom prst="rect">
            <a:avLst/>
          </a:prstGeom>
          <a:noFill/>
          <a:ln/>
        </p:spPr>
        <p:txBody>
          <a:bodyPr wrap="square" lIns="0" tIns="0" rIns="0" bIns="0" rtlCol="0" anchor="ctr"/>
          <a:lstStyle/>
          <a:p>
            <a:pPr marL="342900" indent="-342900">
              <a:spcAft>
                <a:spcPts val="1000"/>
              </a:spcAft>
              <a:buSzPct val="100000"/>
              <a:buChar char="•"/>
            </a:pPr>
            <a:r>
              <a:rPr lang="en-US" sz="1500" dirty="0">
                <a:solidFill>
                  <a:srgbClr val="CADCFC"/>
                </a:solidFill>
                <a:latin typeface="Calibri" pitchFamily="34" charset="0"/>
                <a:ea typeface="Calibri" pitchFamily="34" charset="-122"/>
                <a:cs typeface="Calibri" pitchFamily="34" charset="-120"/>
              </a:rPr>
              <a:t>Release the corpus as a public benchmark</a:t>
            </a:r>
            <a:endParaRPr lang="en-US" sz="1500" dirty="0"/>
          </a:p>
          <a:p>
            <a:pPr marL="342900" indent="-342900">
              <a:spcAft>
                <a:spcPts val="1000"/>
              </a:spcAft>
              <a:buSzPct val="100000"/>
              <a:buChar char="•"/>
            </a:pPr>
            <a:r>
              <a:rPr lang="en-US" sz="1500" dirty="0">
                <a:solidFill>
                  <a:srgbClr val="CADCFC"/>
                </a:solidFill>
                <a:latin typeface="Calibri" pitchFamily="34" charset="0"/>
                <a:ea typeface="Calibri" pitchFamily="34" charset="-122"/>
                <a:cs typeface="Calibri" pitchFamily="34" charset="-120"/>
              </a:rPr>
              <a:t>Same engine: vendor review, underwriting</a:t>
            </a:r>
            <a:endParaRPr lang="en-US" sz="1500" dirty="0"/>
          </a:p>
          <a:p>
            <a:pPr marL="342900" indent="-342900">
              <a:spcAft>
                <a:spcPts val="1000"/>
              </a:spcAft>
              <a:buSzPct val="100000"/>
              <a:buChar char="•"/>
            </a:pPr>
            <a:r>
              <a:rPr lang="en-US" sz="1500" dirty="0">
                <a:solidFill>
                  <a:srgbClr val="CADCFC"/>
                </a:solidFill>
                <a:latin typeface="Calibri" pitchFamily="34" charset="0"/>
                <a:ea typeface="Calibri" pitchFamily="34" charset="-122"/>
                <a:cs typeface="Calibri" pitchFamily="34" charset="-120"/>
              </a:rPr>
              <a:t>Grant compliance, audit preparation</a:t>
            </a:r>
            <a:endParaRPr lang="en-US" sz="1500" dirty="0"/>
          </a:p>
        </p:txBody>
      </p:sp>
      <p:sp>
        <p:nvSpPr>
          <p:cNvPr id="8" name="Text 6"/>
          <p:cNvSpPr/>
          <p:nvPr/>
        </p:nvSpPr>
        <p:spPr>
          <a:xfrm>
            <a:off x="640080" y="4480560"/>
            <a:ext cx="8412480" cy="822960"/>
          </a:xfrm>
          <a:prstGeom prst="rect">
            <a:avLst/>
          </a:prstGeom>
          <a:noFill/>
          <a:ln/>
        </p:spPr>
        <p:txBody>
          <a:bodyPr wrap="square" lIns="0" tIns="0" rIns="0" bIns="0" rtlCol="0" anchor="ctr"/>
          <a:lstStyle/>
          <a:p>
            <a:pPr marL="0" indent="0">
              <a:buNone/>
            </a:pPr>
            <a:r>
              <a:rPr lang="en-US" sz="1600" i="1" dirty="0">
                <a:solidFill>
                  <a:srgbClr val="FFFFFF"/>
                </a:solidFill>
                <a:latin typeface="Calibri" pitchFamily="34" charset="0"/>
                <a:ea typeface="Calibri" pitchFamily="34" charset="-122"/>
                <a:cs typeface="Calibri" pitchFamily="34" charset="-120"/>
              </a:rPr>
              <a:t>A benchmark with known planted defects would let anyone measure a diligence system honestly.</a:t>
            </a:r>
            <a:endParaRPr lang="en-US" sz="1600" dirty="0"/>
          </a:p>
        </p:txBody>
      </p:sp>
      <p:sp>
        <p:nvSpPr>
          <p:cNvPr id="9" name="Text 7"/>
          <p:cNvSpPr/>
          <p:nvPr/>
        </p:nvSpPr>
        <p:spPr>
          <a:xfrm>
            <a:off x="640080" y="5486400"/>
            <a:ext cx="4572000" cy="457200"/>
          </a:xfrm>
          <a:prstGeom prst="rect">
            <a:avLst/>
          </a:prstGeom>
          <a:noFill/>
          <a:ln/>
        </p:spPr>
        <p:txBody>
          <a:bodyPr wrap="square" lIns="0" tIns="0" rIns="0" bIns="0" rtlCol="0" anchor="ctr"/>
          <a:lstStyle/>
          <a:p>
            <a:pPr marL="0" indent="0">
              <a:buNone/>
            </a:pPr>
            <a:r>
              <a:rPr lang="en-US" sz="2400" b="1" dirty="0">
                <a:solidFill>
                  <a:srgbClr val="E8A33D"/>
                </a:solidFill>
                <a:latin typeface="Cambria" pitchFamily="34" charset="0"/>
                <a:ea typeface="Cambria" pitchFamily="34" charset="-122"/>
                <a:cs typeface="Cambria" pitchFamily="34" charset="-120"/>
              </a:rPr>
              <a:t>Thank you.</a:t>
            </a:r>
            <a:endParaRPr lang="en-US" sz="2400" dirty="0"/>
          </a:p>
        </p:txBody>
      </p:sp>
      <p:grpSp>
        <p:nvGrpSpPr>
          <p:cNvPr id="13" name="Group 12"/>
          <p:cNvGrpSpPr/>
          <p:nvPr/>
        </p:nvGrpSpPr>
        <p:grpSpPr>
          <a:xfrm>
            <a:off x="9609908" y="4345725"/>
            <a:ext cx="1639127" cy="1597875"/>
            <a:chOff x="7741344" y="4551578"/>
            <a:chExt cx="1928436" cy="1894942"/>
          </a:xfrm>
        </p:grpSpPr>
        <p:sp>
          <p:nvSpPr>
            <p:cNvPr id="10" name="Shape 0"/>
            <p:cNvSpPr/>
            <p:nvPr/>
          </p:nvSpPr>
          <p:spPr>
            <a:xfrm>
              <a:off x="7741344" y="4551578"/>
              <a:ext cx="1928436" cy="1894942"/>
            </a:xfrm>
            <a:prstGeom prst="ellipse">
              <a:avLst/>
            </a:prstGeom>
            <a:solidFill>
              <a:srgbClr val="1E2761"/>
            </a:solidFill>
            <a:ln w="25400">
              <a:solidFill>
                <a:srgbClr val="CADCFC"/>
              </a:solidFill>
              <a:prstDash val="solid"/>
            </a:ln>
          </p:spPr>
        </p:sp>
        <p:sp>
          <p:nvSpPr>
            <p:cNvPr id="11" name="Shape 1"/>
            <p:cNvSpPr/>
            <p:nvPr/>
          </p:nvSpPr>
          <p:spPr>
            <a:xfrm>
              <a:off x="8030653" y="4848645"/>
              <a:ext cx="1349818" cy="1300808"/>
            </a:xfrm>
            <a:prstGeom prst="ellipse">
              <a:avLst/>
            </a:prstGeom>
            <a:solidFill>
              <a:srgbClr val="141A45"/>
            </a:solidFill>
            <a:ln w="19050">
              <a:solidFill>
                <a:srgbClr val="E8A33D"/>
              </a:solidFill>
              <a:prstDash val="solid"/>
            </a:ln>
          </p:spPr>
        </p:sp>
        <p:sp>
          <p:nvSpPr>
            <p:cNvPr id="12" name="Text 2"/>
            <p:cNvSpPr/>
            <p:nvPr/>
          </p:nvSpPr>
          <p:spPr>
            <a:xfrm>
              <a:off x="8344907" y="5207484"/>
              <a:ext cx="721310" cy="583130"/>
            </a:xfrm>
            <a:prstGeom prst="rect">
              <a:avLst/>
            </a:prstGeom>
            <a:noFill/>
            <a:ln/>
          </p:spPr>
          <p:txBody>
            <a:bodyPr wrap="square" lIns="0" tIns="0" rIns="0" bIns="0" rtlCol="0" anchor="ctr"/>
            <a:lstStyle/>
            <a:p>
              <a:pPr marL="0" indent="0" algn="ctr">
                <a:buNone/>
              </a:pPr>
              <a:r>
                <a:rPr lang="en-US" sz="2800" b="1" dirty="0" smtClean="0">
                  <a:solidFill>
                    <a:srgbClr val="E8A33D"/>
                  </a:solidFill>
                  <a:latin typeface="Cambria" pitchFamily="34" charset="0"/>
                  <a:ea typeface="Cambria" pitchFamily="34" charset="-122"/>
                  <a:cs typeface="Cambria" pitchFamily="34" charset="-120"/>
                </a:rPr>
                <a:t>3/3</a:t>
              </a:r>
              <a:endParaRPr lang="en-US" sz="2800" dirty="0"/>
            </a:p>
          </p:txBody>
        </p:sp>
      </p:gr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TotalTime>
  <Words>1471</Words>
  <Application>Microsoft Office PowerPoint</Application>
  <PresentationFormat>Widescreen</PresentationFormat>
  <Paragraphs>188</Paragraphs>
  <Slides>12</Slides>
  <Notes>12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12</vt:i4>
      </vt:variant>
    </vt:vector>
  </HeadingPairs>
  <TitlesOfParts>
    <vt:vector size="17" baseType="lpstr">
      <vt:lpstr>Arial</vt:lpstr>
      <vt:lpstr>Calibri</vt:lpstr>
      <vt:lpstr>Cambria</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Loupe - Multi-Agent Due Diligence</dc:title>
  <dc:subject>PptxGenJS Presentation</dc:subject>
  <dc:creator>Loupe</dc:creator>
  <cp:lastModifiedBy>harseerat kaur</cp:lastModifiedBy>
  <cp:revision>3</cp:revision>
  <dcterms:created xsi:type="dcterms:W3CDTF">2026-08-13T11:12:56Z</dcterms:created>
  <dcterms:modified xsi:type="dcterms:W3CDTF">2026-08-13T11:36:47Z</dcterms:modified>
</cp:coreProperties>
</file>