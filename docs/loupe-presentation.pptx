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782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loupe is the magnifier a jeweller uses to inspect a stone for hidden flaws before someone buys it. That is what this does for a company acquisition. The 7/15 on screen is deliberate -- I'll explain why a number below 100% is the point rather than a shortfall.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domain up quickly, roughly forty seconds. The next slide is the one that lands, so do not linger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Pause after 'neither is alarming alone'. The legal reviewer sees a standard clause, the accountant sees customer concentration, they work in different rooms, nobody joins them. Take your time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Rejecting this design is the core decision of the project, and it was reached by measurement rather than intuition. The first build partitioned by entity and scored 3 of 15. Looking at the failures showed why: a total is filed under the company, its components under individual people.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claim, and slide 10 shows the ablation that supports it. Deciding which claims to compare is mechanical; deciding whether a comparison is a finding is 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agents use no model, and that is a design position rather than a shortcut. Reconciling a share total is arithmetic. Checking whether a file exists is a fact. There is also a human approval gate on critical findings, placed after adversarial review rather than before.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mechanism. An analyst's only way to check any finding is to follow the citation. If one is wrong they stop using the system, and they would be right to. So it is built so it structurally cannot emit an uncited claim.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systems can only report what they find. This one holds a checklist of what a complete data room should contain, and separately reads the corpus for documents it asserts exist. The second kind is the unusual one. Both negative-space classes score 100% on the benchmark.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favourite result and the most honest slide in the deck. An adversarial agent caught a domain error in my own reasoning that a full test suite could not, because the tests encoded the same misunderstanding. The corrected defect is subtler than the one I originally planted.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say out loud. First, the critic trade: an analyst who hits seven false findings stops reading, and then recall is zero regardless of what it measured. Second, the tension detector row -- removing it changes nothing. That is a component I built that earns no cost, and I am reporting it because it is exactly the result you do not go looking for in your own system.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caveats out loud. Thirty-five documents demonstrates the mechanism, it does not characterise performance. And the plus-or-minus one is real: three runs over the same corpus and cache gave six, seven, and eight, traced to a single critic call. That is what LLM pipelines do, and it is why the response cache exists.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backlog rather than the score. The benchmark is the interesting direction -- benchmarks attract more attention than applications, and a public corpus with known defects would let anyone measure a diligence system honestly. Offer to walk through the code or run the pipeline live.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3F"/>
        </a:solidFill>
        <a:effectLst/>
      </p:bgPr>
    </p:bg>
    <p:spTree>
      <p:nvGrpSpPr>
        <p:cNvPr id="1" name=""/>
        <p:cNvGrpSpPr/>
        <p:nvPr/>
      </p:nvGrpSpPr>
      <p:grpSpPr>
        <a:xfrm>
          <a:off x="0" y="0"/>
          <a:ext cx="0" cy="0"/>
          <a:chOff x="0" y="0"/>
          <a:chExt cx="0" cy="0"/>
        </a:xfrm>
      </p:grpSpPr>
      <p:sp>
        <p:nvSpPr>
          <p:cNvPr id="2" name="Shape 0"/>
          <p:cNvSpPr/>
          <p:nvPr/>
        </p:nvSpPr>
        <p:spPr>
          <a:xfrm>
            <a:off x="8686800" y="1600200"/>
            <a:ext cx="2743200" cy="2743200"/>
          </a:xfrm>
          <a:prstGeom prst="ellipse">
            <a:avLst/>
          </a:prstGeom>
          <a:solidFill>
            <a:srgbClr val="16203F"/>
          </a:solidFill>
          <a:ln w="22225">
            <a:solidFill>
              <a:srgbClr val="C9D6F2"/>
            </a:solidFill>
            <a:prstDash val="solid"/>
          </a:ln>
        </p:spPr>
      </p:sp>
      <p:sp>
        <p:nvSpPr>
          <p:cNvPr id="3" name="Shape 1"/>
          <p:cNvSpPr/>
          <p:nvPr/>
        </p:nvSpPr>
        <p:spPr>
          <a:xfrm>
            <a:off x="9326880" y="2240280"/>
            <a:ext cx="1463040" cy="1463040"/>
          </a:xfrm>
          <a:prstGeom prst="ellipse">
            <a:avLst/>
          </a:prstGeom>
          <a:solidFill>
            <a:srgbClr val="0D1329"/>
          </a:solidFill>
          <a:ln w="19050">
            <a:solidFill>
              <a:srgbClr val="D99441"/>
            </a:solidFill>
            <a:prstDash val="solid"/>
          </a:ln>
        </p:spPr>
      </p:sp>
      <p:sp>
        <p:nvSpPr>
          <p:cNvPr id="4" name="Text 2"/>
          <p:cNvSpPr/>
          <p:nvPr/>
        </p:nvSpPr>
        <p:spPr>
          <a:xfrm>
            <a:off x="9326880" y="2240280"/>
            <a:ext cx="1463040" cy="1463040"/>
          </a:xfrm>
          <a:prstGeom prst="rect">
            <a:avLst/>
          </a:prstGeom>
          <a:noFill/>
          <a:ln/>
        </p:spPr>
        <p:txBody>
          <a:bodyPr wrap="square" lIns="0" tIns="0" rIns="0" bIns="0" rtlCol="0" anchor="ctr"/>
          <a:lstStyle/>
          <a:p>
            <a:pPr marL="0" indent="0" algn="ctr">
              <a:buNone/>
            </a:pPr>
            <a:r>
              <a:rPr lang="en-US" sz="2600" b="1" dirty="0">
                <a:solidFill>
                  <a:srgbClr val="D99441"/>
                </a:solidFill>
                <a:latin typeface="Georgia" pitchFamily="34" charset="0"/>
                <a:ea typeface="Georgia" pitchFamily="34" charset="-122"/>
                <a:cs typeface="Georgia" pitchFamily="34" charset="-120"/>
              </a:rPr>
              <a:t>7/15</a:t>
            </a:r>
            <a:endParaRPr lang="en-US" sz="2600" dirty="0"/>
          </a:p>
        </p:txBody>
      </p:sp>
      <p:sp>
        <p:nvSpPr>
          <p:cNvPr id="5" name="Text 3"/>
          <p:cNvSpPr/>
          <p:nvPr/>
        </p:nvSpPr>
        <p:spPr>
          <a:xfrm>
            <a:off x="685800" y="1920240"/>
            <a:ext cx="7315200" cy="1051560"/>
          </a:xfrm>
          <a:prstGeom prst="rect">
            <a:avLst/>
          </a:prstGeom>
          <a:noFill/>
          <a:ln/>
        </p:spPr>
        <p:txBody>
          <a:bodyPr wrap="square" lIns="0" tIns="0" rIns="0" bIns="0" rtlCol="0" anchor="ctr"/>
          <a:lstStyle/>
          <a:p>
            <a:pPr marL="0" indent="0">
              <a:buNone/>
            </a:pPr>
            <a:r>
              <a:rPr lang="en-US" sz="5600" b="1" kern="0" spc="500" dirty="0">
                <a:solidFill>
                  <a:srgbClr val="FFFFFF"/>
                </a:solidFill>
                <a:latin typeface="Georgia" pitchFamily="34" charset="0"/>
                <a:ea typeface="Georgia" pitchFamily="34" charset="-122"/>
                <a:cs typeface="Georgia" pitchFamily="34" charset="-120"/>
              </a:rPr>
              <a:t>LOUPE</a:t>
            </a:r>
            <a:endParaRPr lang="en-US" sz="5600" dirty="0"/>
          </a:p>
        </p:txBody>
      </p:sp>
      <p:sp>
        <p:nvSpPr>
          <p:cNvPr id="6" name="Text 4"/>
          <p:cNvSpPr/>
          <p:nvPr/>
        </p:nvSpPr>
        <p:spPr>
          <a:xfrm>
            <a:off x="685800" y="2971800"/>
            <a:ext cx="7498080" cy="457200"/>
          </a:xfrm>
          <a:prstGeom prst="rect">
            <a:avLst/>
          </a:prstGeom>
          <a:noFill/>
          <a:ln/>
        </p:spPr>
        <p:txBody>
          <a:bodyPr wrap="square" lIns="0" tIns="0" rIns="0" bIns="0" rtlCol="0" anchor="ctr"/>
          <a:lstStyle/>
          <a:p>
            <a:pPr marL="0" indent="0">
              <a:buNone/>
            </a:pPr>
            <a:r>
              <a:rPr lang="en-US" sz="1900" i="1" dirty="0">
                <a:solidFill>
                  <a:srgbClr val="C9D6F2"/>
                </a:solidFill>
                <a:latin typeface="Calibri" pitchFamily="34" charset="0"/>
                <a:ea typeface="Calibri" pitchFamily="34" charset="-122"/>
                <a:cs typeface="Calibri" pitchFamily="34" charset="-120"/>
              </a:rPr>
              <a:t>The contradiction lives between two documents</a:t>
            </a:r>
            <a:endParaRPr lang="en-US" sz="1900" dirty="0"/>
          </a:p>
        </p:txBody>
      </p:sp>
      <p:sp>
        <p:nvSpPr>
          <p:cNvPr id="7" name="Text 5"/>
          <p:cNvSpPr/>
          <p:nvPr/>
        </p:nvSpPr>
        <p:spPr>
          <a:xfrm>
            <a:off x="685800" y="3566160"/>
            <a:ext cx="7498080" cy="365760"/>
          </a:xfrm>
          <a:prstGeom prst="rect">
            <a:avLst/>
          </a:prstGeom>
          <a:noFill/>
          <a:ln/>
        </p:spPr>
        <p:txBody>
          <a:bodyPr wrap="square" lIns="0" tIns="0" rIns="0" bIns="0" rtlCol="0" anchor="ctr"/>
          <a:lstStyle/>
          <a:p>
            <a:pPr marL="0" indent="0">
              <a:buNone/>
            </a:pPr>
            <a:r>
              <a:rPr lang="en-US" sz="1300" dirty="0">
                <a:solidFill>
                  <a:srgbClr val="6E7899"/>
                </a:solidFill>
                <a:latin typeface="Calibri" pitchFamily="34" charset="0"/>
                <a:ea typeface="Calibri" pitchFamily="34" charset="-122"/>
                <a:cs typeface="Calibri" pitchFamily="34" charset="-120"/>
              </a:rPr>
              <a:t>Multi-agent due diligence  ·  13 agents  ·  15 planted defects  ·  measured, not asserted</a:t>
            </a:r>
            <a:endParaRPr lang="en-US" sz="1300" dirty="0"/>
          </a:p>
        </p:txBody>
      </p:sp>
      <p:sp>
        <p:nvSpPr>
          <p:cNvPr id="8" name="Text 6"/>
          <p:cNvSpPr/>
          <p:nvPr/>
        </p:nvSpPr>
        <p:spPr>
          <a:xfrm>
            <a:off x="685800" y="5257800"/>
            <a:ext cx="7315200" cy="320040"/>
          </a:xfrm>
          <a:prstGeom prst="rect">
            <a:avLst/>
          </a:prstGeom>
          <a:noFill/>
          <a:ln/>
        </p:spPr>
        <p:txBody>
          <a:bodyPr wrap="square" lIns="0" tIns="0" rIns="0" bIns="0" rtlCol="0" anchor="ctr"/>
          <a:lstStyle/>
          <a:p>
            <a:pPr marL="0" indent="0">
              <a:buNone/>
            </a:pPr>
            <a:r>
              <a:rPr lang="en-US" sz="1450" b="1" kern="0" spc="100" dirty="0" err="1" smtClean="0">
                <a:solidFill>
                  <a:srgbClr val="FFFFFF"/>
                </a:solidFill>
                <a:latin typeface="Calibri" pitchFamily="34" charset="0"/>
                <a:ea typeface="Calibri" pitchFamily="34" charset="-122"/>
                <a:cs typeface="Calibri" pitchFamily="34" charset="-120"/>
              </a:rPr>
              <a:t>Harnoor</a:t>
            </a:r>
            <a:r>
              <a:rPr lang="en-US" sz="1450" b="1" kern="0" spc="100" dirty="0" smtClean="0">
                <a:solidFill>
                  <a:srgbClr val="FFFFFF"/>
                </a:solidFill>
                <a:latin typeface="Calibri" pitchFamily="34" charset="0"/>
                <a:ea typeface="Calibri" pitchFamily="34" charset="-122"/>
                <a:cs typeface="Calibri" pitchFamily="34" charset="-120"/>
              </a:rPr>
              <a:t> Kaur</a:t>
            </a:r>
            <a:endParaRPr lang="en-US" sz="1450" dirty="0"/>
          </a:p>
        </p:txBody>
      </p:sp>
      <p:sp>
        <p:nvSpPr>
          <p:cNvPr id="9" name="Text 7"/>
          <p:cNvSpPr/>
          <p:nvPr/>
        </p:nvSpPr>
        <p:spPr>
          <a:xfrm>
            <a:off x="685800" y="5623560"/>
            <a:ext cx="7315200" cy="320040"/>
          </a:xfrm>
          <a:prstGeom prst="rect">
            <a:avLst/>
          </a:prstGeom>
          <a:noFill/>
          <a:ln/>
        </p:spPr>
        <p:txBody>
          <a:bodyPr wrap="square" lIns="0" tIns="0" rIns="0" bIns="0" rtlCol="0" anchor="ctr"/>
          <a:lstStyle/>
          <a:p>
            <a:pPr marL="0" indent="0">
              <a:buNone/>
            </a:pPr>
            <a:r>
              <a:rPr lang="en-US" sz="1200" dirty="0">
                <a:solidFill>
                  <a:srgbClr val="C9D6F2"/>
                </a:solidFill>
                <a:latin typeface="Calibri" pitchFamily="34" charset="0"/>
                <a:ea typeface="Calibri" pitchFamily="34" charset="-122"/>
                <a:cs typeface="Calibri" pitchFamily="34" charset="-120"/>
              </a:rPr>
              <a:t>Summer School '26  ·  OpenAI Agents SDK  ·  Gemini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Two weeks. Several hundred documents.</a:t>
            </a:r>
            <a:endParaRPr lang="en-US" sz="3200" dirty="0"/>
          </a:p>
        </p:txBody>
      </p:sp>
      <p:sp>
        <p:nvSpPr>
          <p:cNvPr id="4" name="Shape 2"/>
          <p:cNvSpPr/>
          <p:nvPr/>
        </p:nvSpPr>
        <p:spPr>
          <a:xfrm>
            <a:off x="685800" y="2002536"/>
            <a:ext cx="365760" cy="365760"/>
          </a:xfrm>
          <a:prstGeom prst="ellipse">
            <a:avLst/>
          </a:prstGeom>
          <a:solidFill>
            <a:srgbClr val="16203F"/>
          </a:solidFill>
          <a:ln/>
        </p:spPr>
      </p:sp>
      <p:sp>
        <p:nvSpPr>
          <p:cNvPr id="5" name="Text 3"/>
          <p:cNvSpPr/>
          <p:nvPr/>
        </p:nvSpPr>
        <p:spPr>
          <a:xfrm>
            <a:off x="685800" y="2002536"/>
            <a:ext cx="36576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p:nvPr/>
        </p:nvSpPr>
        <p:spPr>
          <a:xfrm>
            <a:off x="1307592" y="1965960"/>
            <a:ext cx="9692640" cy="347472"/>
          </a:xfrm>
          <a:prstGeom prst="rect">
            <a:avLst/>
          </a:prstGeom>
          <a:noFill/>
          <a:ln/>
        </p:spPr>
        <p:txBody>
          <a:bodyPr wrap="square" lIns="0" tIns="0" rIns="0" bIns="0" rtlCol="0" anchor="ctr"/>
          <a:lstStyle/>
          <a:p>
            <a:pPr marL="0" indent="0">
              <a:buNone/>
            </a:pPr>
            <a:r>
              <a:rPr lang="en-US" sz="1850" b="1" dirty="0">
                <a:solidFill>
                  <a:srgbClr val="141830"/>
                </a:solidFill>
                <a:latin typeface="Calibri" pitchFamily="34" charset="0"/>
                <a:ea typeface="Calibri" pitchFamily="34" charset="-122"/>
                <a:cs typeface="Calibri" pitchFamily="34" charset="-120"/>
              </a:rPr>
              <a:t>Reviewers are split by speciality</a:t>
            </a:r>
            <a:endParaRPr lang="en-US" sz="1850" dirty="0"/>
          </a:p>
        </p:txBody>
      </p:sp>
      <p:sp>
        <p:nvSpPr>
          <p:cNvPr id="7" name="Text 5"/>
          <p:cNvSpPr/>
          <p:nvPr/>
        </p:nvSpPr>
        <p:spPr>
          <a:xfrm>
            <a:off x="1307592" y="2331720"/>
            <a:ext cx="9692640" cy="530352"/>
          </a:xfrm>
          <a:prstGeom prst="rect">
            <a:avLst/>
          </a:prstGeom>
          <a:noFill/>
          <a:ln/>
        </p:spPr>
        <p:txBody>
          <a:bodyPr wrap="square" lIns="0" tIns="0" rIns="0" bIns="0" rtlCol="0" anchor="ctr"/>
          <a:lstStyle/>
          <a:p>
            <a:pPr marL="0" indent="0">
              <a:buNone/>
            </a:pPr>
            <a:r>
              <a:rPr lang="en-US" sz="1400" dirty="0">
                <a:solidFill>
                  <a:srgbClr val="6E7899"/>
                </a:solidFill>
                <a:latin typeface="Calibri" pitchFamily="34" charset="0"/>
                <a:ea typeface="Calibri" pitchFamily="34" charset="-122"/>
                <a:cs typeface="Calibri" pitchFamily="34" charset="-120"/>
              </a:rPr>
              <a:t>Lawyers read contracts. Accountants read financials. Neither sees the other's evidence.</a:t>
            </a:r>
            <a:endParaRPr lang="en-US" sz="1400" dirty="0"/>
          </a:p>
        </p:txBody>
      </p:sp>
      <p:sp>
        <p:nvSpPr>
          <p:cNvPr id="8" name="Shape 6"/>
          <p:cNvSpPr/>
          <p:nvPr/>
        </p:nvSpPr>
        <p:spPr>
          <a:xfrm>
            <a:off x="685800" y="3209544"/>
            <a:ext cx="365760" cy="365760"/>
          </a:xfrm>
          <a:prstGeom prst="ellipse">
            <a:avLst/>
          </a:prstGeom>
          <a:solidFill>
            <a:srgbClr val="16203F"/>
          </a:solidFill>
          <a:ln/>
        </p:spPr>
      </p:sp>
      <p:sp>
        <p:nvSpPr>
          <p:cNvPr id="9" name="Text 7"/>
          <p:cNvSpPr/>
          <p:nvPr/>
        </p:nvSpPr>
        <p:spPr>
          <a:xfrm>
            <a:off x="685800" y="3209544"/>
            <a:ext cx="36576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p:nvPr/>
        </p:nvSpPr>
        <p:spPr>
          <a:xfrm>
            <a:off x="1307592" y="3172968"/>
            <a:ext cx="9692640" cy="347472"/>
          </a:xfrm>
          <a:prstGeom prst="rect">
            <a:avLst/>
          </a:prstGeom>
          <a:noFill/>
          <a:ln/>
        </p:spPr>
        <p:txBody>
          <a:bodyPr wrap="square" lIns="0" tIns="0" rIns="0" bIns="0" rtlCol="0" anchor="ctr"/>
          <a:lstStyle/>
          <a:p>
            <a:pPr marL="0" indent="0">
              <a:buNone/>
            </a:pPr>
            <a:r>
              <a:rPr lang="en-US" sz="1850" b="1" dirty="0">
                <a:solidFill>
                  <a:srgbClr val="141830"/>
                </a:solidFill>
                <a:latin typeface="Calibri" pitchFamily="34" charset="0"/>
                <a:ea typeface="Calibri" pitchFamily="34" charset="-122"/>
                <a:cs typeface="Calibri" pitchFamily="34" charset="-120"/>
              </a:rPr>
              <a:t>Nobody reads everything</a:t>
            </a:r>
            <a:endParaRPr lang="en-US" sz="1850" dirty="0"/>
          </a:p>
        </p:txBody>
      </p:sp>
      <p:sp>
        <p:nvSpPr>
          <p:cNvPr id="11" name="Text 9"/>
          <p:cNvSpPr/>
          <p:nvPr/>
        </p:nvSpPr>
        <p:spPr>
          <a:xfrm>
            <a:off x="1307592" y="3538728"/>
            <a:ext cx="9692640" cy="530352"/>
          </a:xfrm>
          <a:prstGeom prst="rect">
            <a:avLst/>
          </a:prstGeom>
          <a:noFill/>
          <a:ln/>
        </p:spPr>
        <p:txBody>
          <a:bodyPr wrap="square" lIns="0" tIns="0" rIns="0" bIns="0" rtlCol="0" anchor="ctr"/>
          <a:lstStyle/>
          <a:p>
            <a:pPr marL="0" indent="0">
              <a:buNone/>
            </a:pPr>
            <a:r>
              <a:rPr lang="en-US" sz="1400" dirty="0">
                <a:solidFill>
                  <a:srgbClr val="6E7899"/>
                </a:solidFill>
                <a:latin typeface="Calibri" pitchFamily="34" charset="0"/>
                <a:ea typeface="Calibri" pitchFamily="34" charset="-122"/>
                <a:cs typeface="Calibri" pitchFamily="34" charset="-120"/>
              </a:rPr>
              <a:t>Large contracts get read closely. The rest get skimmed -- and that is where problems survive.</a:t>
            </a:r>
            <a:endParaRPr lang="en-US" sz="1400" dirty="0"/>
          </a:p>
        </p:txBody>
      </p:sp>
      <p:sp>
        <p:nvSpPr>
          <p:cNvPr id="12" name="Shape 10"/>
          <p:cNvSpPr/>
          <p:nvPr/>
        </p:nvSpPr>
        <p:spPr>
          <a:xfrm>
            <a:off x="685800" y="4416552"/>
            <a:ext cx="365760" cy="365760"/>
          </a:xfrm>
          <a:prstGeom prst="ellipse">
            <a:avLst/>
          </a:prstGeom>
          <a:solidFill>
            <a:srgbClr val="16203F"/>
          </a:solidFill>
          <a:ln/>
        </p:spPr>
      </p:sp>
      <p:sp>
        <p:nvSpPr>
          <p:cNvPr id="13" name="Text 11"/>
          <p:cNvSpPr/>
          <p:nvPr/>
        </p:nvSpPr>
        <p:spPr>
          <a:xfrm>
            <a:off x="685800" y="4416552"/>
            <a:ext cx="36576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4" name="Text 12"/>
          <p:cNvSpPr/>
          <p:nvPr/>
        </p:nvSpPr>
        <p:spPr>
          <a:xfrm>
            <a:off x="1307592" y="4379976"/>
            <a:ext cx="9692640" cy="347472"/>
          </a:xfrm>
          <a:prstGeom prst="rect">
            <a:avLst/>
          </a:prstGeom>
          <a:noFill/>
          <a:ln/>
        </p:spPr>
        <p:txBody>
          <a:bodyPr wrap="square" lIns="0" tIns="0" rIns="0" bIns="0" rtlCol="0" anchor="ctr"/>
          <a:lstStyle/>
          <a:p>
            <a:pPr marL="0" indent="0">
              <a:buNone/>
            </a:pPr>
            <a:r>
              <a:rPr lang="en-US" sz="1850" b="1" dirty="0">
                <a:solidFill>
                  <a:srgbClr val="141830"/>
                </a:solidFill>
                <a:latin typeface="Calibri" pitchFamily="34" charset="0"/>
                <a:ea typeface="Calibri" pitchFamily="34" charset="-122"/>
                <a:cs typeface="Calibri" pitchFamily="34" charset="-120"/>
              </a:rPr>
              <a:t>Absence leaves no trace</a:t>
            </a:r>
            <a:endParaRPr lang="en-US" sz="1850" dirty="0"/>
          </a:p>
        </p:txBody>
      </p:sp>
      <p:sp>
        <p:nvSpPr>
          <p:cNvPr id="15" name="Text 13"/>
          <p:cNvSpPr/>
          <p:nvPr/>
        </p:nvSpPr>
        <p:spPr>
          <a:xfrm>
            <a:off x="1307592" y="4745736"/>
            <a:ext cx="9692640" cy="530352"/>
          </a:xfrm>
          <a:prstGeom prst="rect">
            <a:avLst/>
          </a:prstGeom>
          <a:noFill/>
          <a:ln/>
        </p:spPr>
        <p:txBody>
          <a:bodyPr wrap="square" lIns="0" tIns="0" rIns="0" bIns="0" rtlCol="0" anchor="ctr"/>
          <a:lstStyle/>
          <a:p>
            <a:pPr marL="0" indent="0">
              <a:buNone/>
            </a:pPr>
            <a:r>
              <a:rPr lang="en-US" sz="1400" dirty="0">
                <a:solidFill>
                  <a:srgbClr val="6E7899"/>
                </a:solidFill>
                <a:latin typeface="Calibri" pitchFamily="34" charset="0"/>
                <a:ea typeface="Calibri" pitchFamily="34" charset="-122"/>
                <a:cs typeface="Calibri" pitchFamily="34" charset="-120"/>
              </a:rPr>
              <a:t>A document that was never provided produces no artifact, so nothing represents it.</a:t>
            </a:r>
            <a:endParaRPr lang="en-US" sz="1400" dirty="0"/>
          </a:p>
        </p:txBody>
      </p:sp>
      <p:sp>
        <p:nvSpPr>
          <p:cNvPr id="16" name="Text 14"/>
          <p:cNvSpPr/>
          <p:nvPr/>
        </p:nvSpPr>
        <p:spPr>
          <a:xfrm>
            <a:off x="685800" y="5715000"/>
            <a:ext cx="10789920" cy="365760"/>
          </a:xfrm>
          <a:prstGeom prst="rect">
            <a:avLst/>
          </a:prstGeom>
          <a:noFill/>
          <a:ln/>
        </p:spPr>
        <p:txBody>
          <a:bodyPr wrap="square" lIns="0" tIns="0" rIns="0" bIns="0" rtlCol="0" anchor="ctr"/>
          <a:lstStyle/>
          <a:p>
            <a:pPr marL="0" indent="0">
              <a:buNone/>
            </a:pPr>
            <a:r>
              <a:rPr lang="en-US" sz="1500" i="1" dirty="0">
                <a:solidFill>
                  <a:srgbClr val="16203F"/>
                </a:solidFill>
                <a:latin typeface="Calibri" pitchFamily="34" charset="0"/>
                <a:ea typeface="Calibri" pitchFamily="34" charset="-122"/>
                <a:cs typeface="Calibri" pitchFamily="34" charset="-120"/>
              </a:rPr>
              <a:t>Diligence is slow, expensive, and incomplete in a predictable way.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3F"/>
        </a:solidFill>
        <a:effectLst/>
      </p:bgPr>
    </p:bg>
    <p:spTree>
      <p:nvGrpSpPr>
        <p:cNvPr id="1" name=""/>
        <p:cNvGrpSpPr/>
        <p:nvPr/>
      </p:nvGrpSpPr>
      <p:grpSpPr>
        <a:xfrm>
          <a:off x="0" y="0"/>
          <a:ext cx="0" cy="0"/>
          <a:chOff x="0" y="0"/>
          <a:chExt cx="0" cy="0"/>
        </a:xfrm>
      </p:grpSpPr>
      <p:sp>
        <p:nvSpPr>
          <p:cNvPr id="2" name="Text 0"/>
          <p:cNvSpPr/>
          <p:nvPr/>
        </p:nvSpPr>
        <p:spPr>
          <a:xfrm>
            <a:off x="685800" y="502920"/>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The finding nobody catches</a:t>
            </a:r>
            <a:endParaRPr lang="en-US" sz="3200" dirty="0"/>
          </a:p>
        </p:txBody>
      </p:sp>
      <p:sp>
        <p:nvSpPr>
          <p:cNvPr id="3" name="Shape 1"/>
          <p:cNvSpPr/>
          <p:nvPr/>
        </p:nvSpPr>
        <p:spPr>
          <a:xfrm>
            <a:off x="685800" y="1463040"/>
            <a:ext cx="5120640" cy="2103120"/>
          </a:xfrm>
          <a:prstGeom prst="roundRect">
            <a:avLst>
              <a:gd name="adj" fmla="val 3478"/>
            </a:avLst>
          </a:prstGeom>
          <a:solidFill>
            <a:srgbClr val="0D1329"/>
          </a:solidFill>
          <a:ln/>
        </p:spPr>
      </p:sp>
      <p:sp>
        <p:nvSpPr>
          <p:cNvPr id="4" name="Text 2"/>
          <p:cNvSpPr/>
          <p:nvPr/>
        </p:nvSpPr>
        <p:spPr>
          <a:xfrm>
            <a:off x="996696" y="1691640"/>
            <a:ext cx="4572000" cy="274320"/>
          </a:xfrm>
          <a:prstGeom prst="rect">
            <a:avLst/>
          </a:prstGeom>
          <a:noFill/>
          <a:ln/>
        </p:spPr>
        <p:txBody>
          <a:bodyPr wrap="square" lIns="0" tIns="0" rIns="0" bIns="0" rtlCol="0" anchor="ctr"/>
          <a:lstStyle/>
          <a:p>
            <a:pPr marL="0" indent="0">
              <a:buNone/>
            </a:pPr>
            <a:r>
              <a:rPr lang="en-US" sz="1050" b="1" kern="0" spc="160" dirty="0">
                <a:solidFill>
                  <a:srgbClr val="C9D6F2"/>
                </a:solidFill>
                <a:latin typeface="Calibri" pitchFamily="34" charset="0"/>
                <a:ea typeface="Calibri" pitchFamily="34" charset="-122"/>
                <a:cs typeface="Calibri" pitchFamily="34" charset="-120"/>
              </a:rPr>
              <a:t>IN THE LEGAL FOLDER</a:t>
            </a:r>
            <a:endParaRPr lang="en-US" sz="1050" dirty="0"/>
          </a:p>
        </p:txBody>
      </p:sp>
      <p:sp>
        <p:nvSpPr>
          <p:cNvPr id="5" name="Text 3"/>
          <p:cNvSpPr/>
          <p:nvPr/>
        </p:nvSpPr>
        <p:spPr>
          <a:xfrm>
            <a:off x="996696" y="2011680"/>
            <a:ext cx="4526280" cy="1371600"/>
          </a:xfrm>
          <a:prstGeom prst="rect">
            <a:avLst/>
          </a:prstGeom>
          <a:noFill/>
          <a:ln/>
        </p:spPr>
        <p:txBody>
          <a:bodyPr wrap="square" lIns="0" tIns="0" rIns="0" bIns="0" rtlCol="0" anchor="ctr"/>
          <a:lstStyle/>
          <a:p>
            <a:pPr marL="0" indent="0">
              <a:buNone/>
            </a:pPr>
            <a:r>
              <a:rPr lang="en-US" sz="1450" i="1" dirty="0">
                <a:solidFill>
                  <a:srgbClr val="FFFFFF"/>
                </a:solidFill>
                <a:latin typeface="Calibri" pitchFamily="34" charset="0"/>
                <a:ea typeface="Calibri" pitchFamily="34" charset="-122"/>
                <a:cs typeface="Calibri" pitchFamily="34" charset="-120"/>
              </a:rPr>
              <a:t>"Customer may terminate this Agreement upon thirty (30) days written notice" — on a change of control</a:t>
            </a:r>
            <a:endParaRPr lang="en-US" sz="1450" dirty="0"/>
          </a:p>
        </p:txBody>
      </p:sp>
      <p:sp>
        <p:nvSpPr>
          <p:cNvPr id="6" name="Shape 4"/>
          <p:cNvSpPr/>
          <p:nvPr/>
        </p:nvSpPr>
        <p:spPr>
          <a:xfrm>
            <a:off x="6309360" y="1463040"/>
            <a:ext cx="5166360" cy="2103120"/>
          </a:xfrm>
          <a:prstGeom prst="roundRect">
            <a:avLst>
              <a:gd name="adj" fmla="val 3478"/>
            </a:avLst>
          </a:prstGeom>
          <a:solidFill>
            <a:srgbClr val="0D1329"/>
          </a:solidFill>
          <a:ln/>
        </p:spPr>
      </p:sp>
      <p:sp>
        <p:nvSpPr>
          <p:cNvPr id="7" name="Text 5"/>
          <p:cNvSpPr/>
          <p:nvPr/>
        </p:nvSpPr>
        <p:spPr>
          <a:xfrm>
            <a:off x="6620256" y="1691640"/>
            <a:ext cx="4572000" cy="274320"/>
          </a:xfrm>
          <a:prstGeom prst="rect">
            <a:avLst/>
          </a:prstGeom>
          <a:noFill/>
          <a:ln/>
        </p:spPr>
        <p:txBody>
          <a:bodyPr wrap="square" lIns="0" tIns="0" rIns="0" bIns="0" rtlCol="0" anchor="ctr"/>
          <a:lstStyle/>
          <a:p>
            <a:pPr marL="0" indent="0">
              <a:buNone/>
            </a:pPr>
            <a:r>
              <a:rPr lang="en-US" sz="1050" b="1" kern="0" spc="160" dirty="0">
                <a:solidFill>
                  <a:srgbClr val="C9D6F2"/>
                </a:solidFill>
                <a:latin typeface="Calibri" pitchFamily="34" charset="0"/>
                <a:ea typeface="Calibri" pitchFamily="34" charset="-122"/>
                <a:cs typeface="Calibri" pitchFamily="34" charset="-120"/>
              </a:rPr>
              <a:t>IN THE FINANCIAL FOLDER</a:t>
            </a:r>
            <a:endParaRPr lang="en-US" sz="1050" dirty="0"/>
          </a:p>
        </p:txBody>
      </p:sp>
      <p:sp>
        <p:nvSpPr>
          <p:cNvPr id="8" name="Text 6"/>
          <p:cNvSpPr/>
          <p:nvPr/>
        </p:nvSpPr>
        <p:spPr>
          <a:xfrm>
            <a:off x="6620256" y="2011680"/>
            <a:ext cx="4526280" cy="1371600"/>
          </a:xfrm>
          <a:prstGeom prst="rect">
            <a:avLst/>
          </a:prstGeom>
          <a:noFill/>
          <a:ln/>
        </p:spPr>
        <p:txBody>
          <a:bodyPr wrap="square" lIns="0" tIns="0" rIns="0" bIns="0" rtlCol="0" anchor="ctr"/>
          <a:lstStyle/>
          <a:p>
            <a:pPr marL="0" indent="0">
              <a:buNone/>
            </a:pPr>
            <a:r>
              <a:rPr lang="en-US" sz="1450" i="1" dirty="0">
                <a:solidFill>
                  <a:srgbClr val="FFFFFF"/>
                </a:solidFill>
                <a:latin typeface="Calibri" pitchFamily="34" charset="0"/>
                <a:ea typeface="Calibri" pitchFamily="34" charset="-122"/>
                <a:cs typeface="Calibri" pitchFamily="34" charset="-120"/>
              </a:rPr>
              <a:t>"TitanRetail Group... representing 43% of total revenue"</a:t>
            </a:r>
            <a:endParaRPr lang="en-US" sz="1450" dirty="0"/>
          </a:p>
        </p:txBody>
      </p:sp>
      <p:sp>
        <p:nvSpPr>
          <p:cNvPr id="9" name="Text 7"/>
          <p:cNvSpPr/>
          <p:nvPr/>
        </p:nvSpPr>
        <p:spPr>
          <a:xfrm>
            <a:off x="685800" y="3931920"/>
            <a:ext cx="10789920" cy="384048"/>
          </a:xfrm>
          <a:prstGeom prst="rect">
            <a:avLst/>
          </a:prstGeom>
          <a:noFill/>
          <a:ln/>
        </p:spPr>
        <p:txBody>
          <a:bodyPr wrap="square" lIns="0" tIns="0" rIns="0" bIns="0" rtlCol="0" anchor="ctr"/>
          <a:lstStyle/>
          <a:p>
            <a:pPr marL="0" indent="0" algn="ctr">
              <a:buNone/>
            </a:pPr>
            <a:r>
              <a:rPr lang="en-US" sz="1750" dirty="0">
                <a:solidFill>
                  <a:srgbClr val="C9D6F2"/>
                </a:solidFill>
                <a:latin typeface="Calibri" pitchFamily="34" charset="0"/>
                <a:ea typeface="Calibri" pitchFamily="34" charset="-122"/>
                <a:cs typeface="Calibri" pitchFamily="34" charset="-120"/>
              </a:rPr>
              <a:t>Neither is alarming alone.</a:t>
            </a:r>
            <a:endParaRPr lang="en-US" sz="1750" dirty="0"/>
          </a:p>
        </p:txBody>
      </p:sp>
      <p:sp>
        <p:nvSpPr>
          <p:cNvPr id="10" name="Shape 8"/>
          <p:cNvSpPr/>
          <p:nvPr/>
        </p:nvSpPr>
        <p:spPr>
          <a:xfrm>
            <a:off x="1965960" y="4526280"/>
            <a:ext cx="8229600" cy="1234440"/>
          </a:xfrm>
          <a:prstGeom prst="roundRect">
            <a:avLst>
              <a:gd name="adj" fmla="val 5926"/>
            </a:avLst>
          </a:prstGeom>
          <a:solidFill>
            <a:srgbClr val="D99441"/>
          </a:solidFill>
          <a:ln/>
        </p:spPr>
      </p:sp>
      <p:sp>
        <p:nvSpPr>
          <p:cNvPr id="11" name="Text 9"/>
          <p:cNvSpPr/>
          <p:nvPr/>
        </p:nvSpPr>
        <p:spPr>
          <a:xfrm>
            <a:off x="1965960" y="4526280"/>
            <a:ext cx="8229600" cy="1234440"/>
          </a:xfrm>
          <a:prstGeom prst="rect">
            <a:avLst/>
          </a:prstGeom>
          <a:noFill/>
          <a:ln/>
        </p:spPr>
        <p:txBody>
          <a:bodyPr wrap="square" lIns="0" tIns="0" rIns="0" bIns="0" rtlCol="0" anchor="ctr"/>
          <a:lstStyle/>
          <a:p>
            <a:pPr marL="0" indent="0" algn="ctr">
              <a:buNone/>
            </a:pPr>
            <a:r>
              <a:rPr lang="en-US" sz="2400" b="1" dirty="0">
                <a:solidFill>
                  <a:srgbClr val="0D1329"/>
                </a:solidFill>
                <a:latin typeface="Georgia" pitchFamily="34" charset="0"/>
                <a:ea typeface="Georgia" pitchFamily="34" charset="-122"/>
                <a:cs typeface="Georgia" pitchFamily="34" charset="-120"/>
              </a:rPr>
              <a:t>Buying this company destroys 43% of its revenue.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Why the obvious design fails</a:t>
            </a:r>
            <a:endParaRPr lang="en-US" sz="3200" dirty="0"/>
          </a:p>
        </p:txBody>
      </p:sp>
      <p:sp>
        <p:nvSpPr>
          <p:cNvPr id="4" name="Text 2"/>
          <p:cNvSpPr/>
          <p:nvPr/>
        </p:nvSpPr>
        <p:spPr>
          <a:xfrm>
            <a:off x="685800" y="1719072"/>
            <a:ext cx="10789920" cy="310896"/>
          </a:xfrm>
          <a:prstGeom prst="rect">
            <a:avLst/>
          </a:prstGeom>
          <a:noFill/>
          <a:ln/>
        </p:spPr>
        <p:txBody>
          <a:bodyPr wrap="square" lIns="0" tIns="0" rIns="0" bIns="0" rtlCol="0" anchor="ctr"/>
          <a:lstStyle/>
          <a:p>
            <a:pPr marL="0" indent="0">
              <a:buNone/>
            </a:pPr>
            <a:r>
              <a:rPr lang="en-US" sz="1450" dirty="0">
                <a:solidFill>
                  <a:srgbClr val="6E7899"/>
                </a:solidFill>
                <a:latin typeface="Calibri" pitchFamily="34" charset="0"/>
                <a:ea typeface="Calibri" pitchFamily="34" charset="-122"/>
                <a:cs typeface="Calibri" pitchFamily="34" charset="-120"/>
              </a:rPr>
              <a:t>One agent per document type -- the approach my brief suggested:</a:t>
            </a:r>
            <a:endParaRPr lang="en-US" sz="1450" dirty="0"/>
          </a:p>
        </p:txBody>
      </p:sp>
      <p:sp>
        <p:nvSpPr>
          <p:cNvPr id="5" name="Shape 3"/>
          <p:cNvSpPr/>
          <p:nvPr/>
        </p:nvSpPr>
        <p:spPr>
          <a:xfrm>
            <a:off x="685800" y="2194560"/>
            <a:ext cx="2377440" cy="1097280"/>
          </a:xfrm>
          <a:prstGeom prst="roundRect">
            <a:avLst>
              <a:gd name="adj" fmla="val 6667"/>
            </a:avLst>
          </a:prstGeom>
          <a:solidFill>
            <a:srgbClr val="F1F4FB"/>
          </a:solidFill>
          <a:ln w="12700">
            <a:solidFill>
              <a:srgbClr val="E2E7F3"/>
            </a:solidFill>
            <a:prstDash val="solid"/>
          </a:ln>
        </p:spPr>
      </p:sp>
      <p:sp>
        <p:nvSpPr>
          <p:cNvPr id="6" name="Text 4"/>
          <p:cNvSpPr/>
          <p:nvPr/>
        </p:nvSpPr>
        <p:spPr>
          <a:xfrm>
            <a:off x="685800" y="2194560"/>
            <a:ext cx="2377440" cy="1097280"/>
          </a:xfrm>
          <a:prstGeom prst="rect">
            <a:avLst/>
          </a:prstGeom>
          <a:noFill/>
          <a:ln/>
        </p:spPr>
        <p:txBody>
          <a:bodyPr wrap="square" lIns="0" tIns="0" rIns="0" bIns="0" rtlCol="0" anchor="ctr"/>
          <a:lstStyle/>
          <a:p>
            <a:pPr marL="0" indent="0" algn="ctr">
              <a:buNone/>
            </a:pPr>
            <a:r>
              <a:rPr lang="en-US" sz="1450" b="1" dirty="0">
                <a:solidFill>
                  <a:srgbClr val="16203F"/>
                </a:solidFill>
                <a:latin typeface="Calibri" pitchFamily="34" charset="0"/>
                <a:ea typeface="Calibri" pitchFamily="34" charset="-122"/>
                <a:cs typeface="Calibri" pitchFamily="34" charset="-120"/>
              </a:rPr>
              <a:t>Legal</a:t>
            </a:r>
            <a:endParaRPr lang="en-US" sz="1450" dirty="0"/>
          </a:p>
          <a:p>
            <a:pPr marL="0" indent="0" algn="ctr">
              <a:buNone/>
            </a:pPr>
            <a:r>
              <a:rPr lang="en-US" sz="1450" b="1" dirty="0">
                <a:solidFill>
                  <a:srgbClr val="16203F"/>
                </a:solidFill>
                <a:latin typeface="Calibri" pitchFamily="34" charset="0"/>
                <a:ea typeface="Calibri" pitchFamily="34" charset="-122"/>
                <a:cs typeface="Calibri" pitchFamily="34" charset="-120"/>
              </a:rPr>
              <a:t>agent</a:t>
            </a:r>
            <a:endParaRPr lang="en-US" sz="1450" dirty="0"/>
          </a:p>
        </p:txBody>
      </p:sp>
      <p:sp>
        <p:nvSpPr>
          <p:cNvPr id="7" name="Shape 5"/>
          <p:cNvSpPr/>
          <p:nvPr/>
        </p:nvSpPr>
        <p:spPr>
          <a:xfrm>
            <a:off x="3410712" y="2194560"/>
            <a:ext cx="2377440" cy="1097280"/>
          </a:xfrm>
          <a:prstGeom prst="roundRect">
            <a:avLst>
              <a:gd name="adj" fmla="val 6667"/>
            </a:avLst>
          </a:prstGeom>
          <a:solidFill>
            <a:srgbClr val="F1F4FB"/>
          </a:solidFill>
          <a:ln w="12700">
            <a:solidFill>
              <a:srgbClr val="E2E7F3"/>
            </a:solidFill>
            <a:prstDash val="solid"/>
          </a:ln>
        </p:spPr>
      </p:sp>
      <p:sp>
        <p:nvSpPr>
          <p:cNvPr id="8" name="Text 6"/>
          <p:cNvSpPr/>
          <p:nvPr/>
        </p:nvSpPr>
        <p:spPr>
          <a:xfrm>
            <a:off x="3410712" y="2194560"/>
            <a:ext cx="2377440" cy="1097280"/>
          </a:xfrm>
          <a:prstGeom prst="rect">
            <a:avLst/>
          </a:prstGeom>
          <a:noFill/>
          <a:ln/>
        </p:spPr>
        <p:txBody>
          <a:bodyPr wrap="square" lIns="0" tIns="0" rIns="0" bIns="0" rtlCol="0" anchor="ctr"/>
          <a:lstStyle/>
          <a:p>
            <a:pPr marL="0" indent="0" algn="ctr">
              <a:buNone/>
            </a:pPr>
            <a:r>
              <a:rPr lang="en-US" sz="1450" b="1" dirty="0">
                <a:solidFill>
                  <a:srgbClr val="16203F"/>
                </a:solidFill>
                <a:latin typeface="Calibri" pitchFamily="34" charset="0"/>
                <a:ea typeface="Calibri" pitchFamily="34" charset="-122"/>
                <a:cs typeface="Calibri" pitchFamily="34" charset="-120"/>
              </a:rPr>
              <a:t>Financial</a:t>
            </a:r>
            <a:endParaRPr lang="en-US" sz="1450" dirty="0"/>
          </a:p>
          <a:p>
            <a:pPr marL="0" indent="0" algn="ctr">
              <a:buNone/>
            </a:pPr>
            <a:r>
              <a:rPr lang="en-US" sz="1450" b="1" dirty="0">
                <a:solidFill>
                  <a:srgbClr val="16203F"/>
                </a:solidFill>
                <a:latin typeface="Calibri" pitchFamily="34" charset="0"/>
                <a:ea typeface="Calibri" pitchFamily="34" charset="-122"/>
                <a:cs typeface="Calibri" pitchFamily="34" charset="-120"/>
              </a:rPr>
              <a:t>agent</a:t>
            </a:r>
            <a:endParaRPr lang="en-US" sz="1450" dirty="0"/>
          </a:p>
        </p:txBody>
      </p:sp>
      <p:sp>
        <p:nvSpPr>
          <p:cNvPr id="9" name="Shape 7"/>
          <p:cNvSpPr/>
          <p:nvPr/>
        </p:nvSpPr>
        <p:spPr>
          <a:xfrm>
            <a:off x="6135624" y="2194560"/>
            <a:ext cx="2377440" cy="1097280"/>
          </a:xfrm>
          <a:prstGeom prst="roundRect">
            <a:avLst>
              <a:gd name="adj" fmla="val 6667"/>
            </a:avLst>
          </a:prstGeom>
          <a:solidFill>
            <a:srgbClr val="F1F4FB"/>
          </a:solidFill>
          <a:ln w="12700">
            <a:solidFill>
              <a:srgbClr val="E2E7F3"/>
            </a:solidFill>
            <a:prstDash val="solid"/>
          </a:ln>
        </p:spPr>
      </p:sp>
      <p:sp>
        <p:nvSpPr>
          <p:cNvPr id="10" name="Text 8"/>
          <p:cNvSpPr/>
          <p:nvPr/>
        </p:nvSpPr>
        <p:spPr>
          <a:xfrm>
            <a:off x="6135624" y="2194560"/>
            <a:ext cx="2377440" cy="1097280"/>
          </a:xfrm>
          <a:prstGeom prst="rect">
            <a:avLst/>
          </a:prstGeom>
          <a:noFill/>
          <a:ln/>
        </p:spPr>
        <p:txBody>
          <a:bodyPr wrap="square" lIns="0" tIns="0" rIns="0" bIns="0" rtlCol="0" anchor="ctr"/>
          <a:lstStyle/>
          <a:p>
            <a:pPr marL="0" indent="0" algn="ctr">
              <a:buNone/>
            </a:pPr>
            <a:r>
              <a:rPr lang="en-US" sz="1450" b="1" dirty="0">
                <a:solidFill>
                  <a:srgbClr val="16203F"/>
                </a:solidFill>
                <a:latin typeface="Calibri" pitchFamily="34" charset="0"/>
                <a:ea typeface="Calibri" pitchFamily="34" charset="-122"/>
                <a:cs typeface="Calibri" pitchFamily="34" charset="-120"/>
              </a:rPr>
              <a:t>Compliance</a:t>
            </a:r>
            <a:endParaRPr lang="en-US" sz="1450" dirty="0"/>
          </a:p>
          <a:p>
            <a:pPr marL="0" indent="0" algn="ctr">
              <a:buNone/>
            </a:pPr>
            <a:r>
              <a:rPr lang="en-US" sz="1450" b="1" dirty="0">
                <a:solidFill>
                  <a:srgbClr val="16203F"/>
                </a:solidFill>
                <a:latin typeface="Calibri" pitchFamily="34" charset="0"/>
                <a:ea typeface="Calibri" pitchFamily="34" charset="-122"/>
                <a:cs typeface="Calibri" pitchFamily="34" charset="-120"/>
              </a:rPr>
              <a:t>agent</a:t>
            </a:r>
            <a:endParaRPr lang="en-US" sz="1450" dirty="0"/>
          </a:p>
        </p:txBody>
      </p:sp>
      <p:sp>
        <p:nvSpPr>
          <p:cNvPr id="11" name="Shape 9"/>
          <p:cNvSpPr/>
          <p:nvPr/>
        </p:nvSpPr>
        <p:spPr>
          <a:xfrm>
            <a:off x="8860536" y="2194560"/>
            <a:ext cx="2377440" cy="1097280"/>
          </a:xfrm>
          <a:prstGeom prst="roundRect">
            <a:avLst>
              <a:gd name="adj" fmla="val 6667"/>
            </a:avLst>
          </a:prstGeom>
          <a:solidFill>
            <a:srgbClr val="F1F4FB"/>
          </a:solidFill>
          <a:ln w="12700">
            <a:solidFill>
              <a:srgbClr val="E2E7F3"/>
            </a:solidFill>
            <a:prstDash val="solid"/>
          </a:ln>
        </p:spPr>
      </p:sp>
      <p:sp>
        <p:nvSpPr>
          <p:cNvPr id="12" name="Text 10"/>
          <p:cNvSpPr/>
          <p:nvPr/>
        </p:nvSpPr>
        <p:spPr>
          <a:xfrm>
            <a:off x="8860536" y="2194560"/>
            <a:ext cx="2377440" cy="1097280"/>
          </a:xfrm>
          <a:prstGeom prst="rect">
            <a:avLst/>
          </a:prstGeom>
          <a:noFill/>
          <a:ln/>
        </p:spPr>
        <p:txBody>
          <a:bodyPr wrap="square" lIns="0" tIns="0" rIns="0" bIns="0" rtlCol="0" anchor="ctr"/>
          <a:lstStyle/>
          <a:p>
            <a:pPr marL="0" indent="0" algn="ctr">
              <a:buNone/>
            </a:pPr>
            <a:r>
              <a:rPr lang="en-US" sz="1450" b="1" dirty="0">
                <a:solidFill>
                  <a:srgbClr val="16203F"/>
                </a:solidFill>
                <a:latin typeface="Calibri" pitchFamily="34" charset="0"/>
                <a:ea typeface="Calibri" pitchFamily="34" charset="-122"/>
                <a:cs typeface="Calibri" pitchFamily="34" charset="-120"/>
              </a:rPr>
              <a:t>Operations</a:t>
            </a:r>
            <a:endParaRPr lang="en-US" sz="1450" dirty="0"/>
          </a:p>
          <a:p>
            <a:pPr marL="0" indent="0" algn="ctr">
              <a:buNone/>
            </a:pPr>
            <a:r>
              <a:rPr lang="en-US" sz="1450" b="1" dirty="0">
                <a:solidFill>
                  <a:srgbClr val="16203F"/>
                </a:solidFill>
                <a:latin typeface="Calibri" pitchFamily="34" charset="0"/>
                <a:ea typeface="Calibri" pitchFamily="34" charset="-122"/>
                <a:cs typeface="Calibri" pitchFamily="34" charset="-120"/>
              </a:rPr>
              <a:t>agent</a:t>
            </a:r>
            <a:endParaRPr lang="en-US" sz="1450" dirty="0"/>
          </a:p>
        </p:txBody>
      </p:sp>
      <p:sp>
        <p:nvSpPr>
          <p:cNvPr id="13" name="Text 11"/>
          <p:cNvSpPr/>
          <p:nvPr/>
        </p:nvSpPr>
        <p:spPr>
          <a:xfrm>
            <a:off x="685800" y="3703320"/>
            <a:ext cx="10789920" cy="457200"/>
          </a:xfrm>
          <a:prstGeom prst="rect">
            <a:avLst/>
          </a:prstGeom>
          <a:noFill/>
          <a:ln/>
        </p:spPr>
        <p:txBody>
          <a:bodyPr wrap="square" lIns="0" tIns="0" rIns="0" bIns="0" rtlCol="0" anchor="ctr"/>
          <a:lstStyle/>
          <a:p>
            <a:pPr marL="0" indent="0">
              <a:buNone/>
            </a:pPr>
            <a:r>
              <a:rPr lang="en-US" sz="2500" b="1" dirty="0">
                <a:solidFill>
                  <a:srgbClr val="B23B3B"/>
                </a:solidFill>
                <a:latin typeface="Georgia" pitchFamily="34" charset="0"/>
                <a:ea typeface="Georgia" pitchFamily="34" charset="-122"/>
                <a:cs typeface="Georgia" pitchFamily="34" charset="-120"/>
              </a:rPr>
              <a:t>An org chart, not an architecture.</a:t>
            </a:r>
            <a:endParaRPr lang="en-US" sz="2500" dirty="0"/>
          </a:p>
        </p:txBody>
      </p:sp>
      <p:sp>
        <p:nvSpPr>
          <p:cNvPr id="14" name="Text 12"/>
          <p:cNvSpPr/>
          <p:nvPr/>
        </p:nvSpPr>
        <p:spPr>
          <a:xfrm>
            <a:off x="685800" y="4297680"/>
            <a:ext cx="10424160" cy="777240"/>
          </a:xfrm>
          <a:prstGeom prst="rect">
            <a:avLst/>
          </a:prstGeom>
          <a:noFill/>
          <a:ln/>
        </p:spPr>
        <p:txBody>
          <a:bodyPr wrap="square" lIns="0" tIns="0" rIns="0" bIns="0" rtlCol="0" anchor="ctr"/>
          <a:lstStyle/>
          <a:p>
            <a:pPr marL="0" indent="0">
              <a:buNone/>
            </a:pPr>
            <a:r>
              <a:rPr lang="en-US" sz="1550" dirty="0">
                <a:solidFill>
                  <a:srgbClr val="141830"/>
                </a:solidFill>
                <a:latin typeface="Calibri" pitchFamily="34" charset="0"/>
                <a:ea typeface="Calibri" pitchFamily="34" charset="-122"/>
                <a:cs typeface="Calibri" pitchFamily="34" charset="-120"/>
              </a:rPr>
              <a:t>The finding lives between two agents' contexts. Neither owns it. Both file clean reports, and the deal closes with the problem intact.</a:t>
            </a:r>
            <a:endParaRPr lang="en-US" sz="1550" dirty="0"/>
          </a:p>
        </p:txBody>
      </p:sp>
      <p:sp>
        <p:nvSpPr>
          <p:cNvPr id="15" name="Shape 13"/>
          <p:cNvSpPr/>
          <p:nvPr/>
        </p:nvSpPr>
        <p:spPr>
          <a:xfrm>
            <a:off x="685800" y="5212080"/>
            <a:ext cx="10789920" cy="777240"/>
          </a:xfrm>
          <a:prstGeom prst="roundRect">
            <a:avLst>
              <a:gd name="adj" fmla="val 9412"/>
            </a:avLst>
          </a:prstGeom>
          <a:solidFill>
            <a:srgbClr val="F1F4FB"/>
          </a:solidFill>
          <a:ln/>
        </p:spPr>
      </p:sp>
      <p:sp>
        <p:nvSpPr>
          <p:cNvPr id="16" name="Text 14"/>
          <p:cNvSpPr/>
          <p:nvPr/>
        </p:nvSpPr>
        <p:spPr>
          <a:xfrm>
            <a:off x="960120" y="5212080"/>
            <a:ext cx="10241280" cy="777240"/>
          </a:xfrm>
          <a:prstGeom prst="rect">
            <a:avLst/>
          </a:prstGeom>
          <a:noFill/>
          <a:ln/>
        </p:spPr>
        <p:txBody>
          <a:bodyPr wrap="square" lIns="0" tIns="0" rIns="0" bIns="0" rtlCol="0" anchor="ctr"/>
          <a:lstStyle/>
          <a:p>
            <a:pPr marL="0" indent="0">
              <a:buNone/>
            </a:pPr>
            <a:r>
              <a:rPr lang="en-US" sz="1350" i="1" dirty="0">
                <a:solidFill>
                  <a:srgbClr val="16203F"/>
                </a:solidFill>
                <a:latin typeface="Calibri" pitchFamily="34" charset="0"/>
                <a:ea typeface="Calibri" pitchFamily="34" charset="-122"/>
                <a:cs typeface="Calibri" pitchFamily="34" charset="-120"/>
              </a:rPr>
              <a:t>Measured: entity-grouped detection scored 3 of 15. Most contradictions have their two halves filed under different entities.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THE FIX</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Retrieval is mechanical. Judgement is not.</a:t>
            </a:r>
            <a:endParaRPr lang="en-US" sz="3200" dirty="0"/>
          </a:p>
        </p:txBody>
      </p:sp>
      <p:sp>
        <p:nvSpPr>
          <p:cNvPr id="4" name="Shape 2"/>
          <p:cNvSpPr/>
          <p:nvPr/>
        </p:nvSpPr>
        <p:spPr>
          <a:xfrm>
            <a:off x="685800" y="1783080"/>
            <a:ext cx="5212080" cy="3566160"/>
          </a:xfrm>
          <a:prstGeom prst="roundRect">
            <a:avLst>
              <a:gd name="adj" fmla="val 2564"/>
            </a:avLst>
          </a:prstGeom>
          <a:solidFill>
            <a:srgbClr val="F1F4FB"/>
          </a:solidFill>
          <a:ln w="12700">
            <a:solidFill>
              <a:srgbClr val="E2E7F3"/>
            </a:solidFill>
            <a:prstDash val="solid"/>
          </a:ln>
        </p:spPr>
      </p:sp>
      <p:sp>
        <p:nvSpPr>
          <p:cNvPr id="5" name="Text 3"/>
          <p:cNvSpPr/>
          <p:nvPr/>
        </p:nvSpPr>
        <p:spPr>
          <a:xfrm>
            <a:off x="1005840" y="2011680"/>
            <a:ext cx="4572000" cy="274320"/>
          </a:xfrm>
          <a:prstGeom prst="rect">
            <a:avLst/>
          </a:prstGeom>
          <a:noFill/>
          <a:ln/>
        </p:spPr>
        <p:txBody>
          <a:bodyPr wrap="square" lIns="0" tIns="0" rIns="0" bIns="0" rtlCol="0" anchor="ctr"/>
          <a:lstStyle/>
          <a:p>
            <a:pPr marL="0" indent="0">
              <a:buNone/>
            </a:pPr>
            <a:r>
              <a:rPr lang="en-US" sz="1050" b="1" kern="0" spc="140" dirty="0">
                <a:solidFill>
                  <a:srgbClr val="2C7A62"/>
                </a:solidFill>
                <a:latin typeface="Calibri" pitchFamily="34" charset="0"/>
                <a:ea typeface="Calibri" pitchFamily="34" charset="-122"/>
                <a:cs typeface="Calibri" pitchFamily="34" charset="-120"/>
              </a:rPr>
              <a:t>PYTHON DECIDES WHAT TO COMPARE</a:t>
            </a:r>
            <a:endParaRPr lang="en-US" sz="1050" dirty="0"/>
          </a:p>
        </p:txBody>
      </p:sp>
      <p:sp>
        <p:nvSpPr>
          <p:cNvPr id="6" name="Text 4"/>
          <p:cNvSpPr/>
          <p:nvPr/>
        </p:nvSpPr>
        <p:spPr>
          <a:xfrm>
            <a:off x="1005840" y="2423160"/>
            <a:ext cx="4572000" cy="18288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141830"/>
                </a:solidFill>
                <a:latin typeface="Calibri" pitchFamily="34" charset="0"/>
                <a:ea typeface="Calibri" pitchFamily="34" charset="-122"/>
                <a:cs typeface="Calibri" pitchFamily="34" charset="-120"/>
              </a:rPr>
              <a:t>Same measure, different values</a:t>
            </a:r>
            <a:endParaRPr lang="en-US" sz="1400" dirty="0"/>
          </a:p>
          <a:p>
            <a:pPr marL="342900" indent="-342900">
              <a:spcAft>
                <a:spcPts val="800"/>
              </a:spcAft>
              <a:buSzPct val="100000"/>
              <a:buChar char="•"/>
            </a:pPr>
            <a:r>
              <a:rPr lang="en-US" sz="1400" dirty="0">
                <a:solidFill>
                  <a:srgbClr val="141830"/>
                </a:solidFill>
                <a:latin typeface="Calibri" pitchFamily="34" charset="0"/>
                <a:ea typeface="Calibri" pitchFamily="34" charset="-122"/>
                <a:cs typeface="Calibri" pitchFamily="34" charset="-120"/>
              </a:rPr>
              <a:t>A total that does not equal its parts</a:t>
            </a:r>
            <a:endParaRPr lang="en-US" sz="1400" dirty="0"/>
          </a:p>
          <a:p>
            <a:pPr marL="342900" indent="-342900">
              <a:spcAft>
                <a:spcPts val="800"/>
              </a:spcAft>
              <a:buSzPct val="100000"/>
              <a:buChar char="•"/>
            </a:pPr>
            <a:r>
              <a:rPr lang="en-US" sz="1400" dirty="0">
                <a:solidFill>
                  <a:srgbClr val="141830"/>
                </a:solidFill>
                <a:latin typeface="Calibri" pitchFamily="34" charset="0"/>
                <a:ea typeface="Calibri" pitchFamily="34" charset="-122"/>
                <a:cs typeface="Calibri" pitchFamily="34" charset="-120"/>
              </a:rPr>
              <a:t>One address in two documents</a:t>
            </a:r>
            <a:endParaRPr lang="en-US" sz="1400" dirty="0"/>
          </a:p>
          <a:p>
            <a:pPr marL="342900" indent="-342900">
              <a:spcAft>
                <a:spcPts val="800"/>
              </a:spcAft>
              <a:buSzPct val="100000"/>
              <a:buChar char="•"/>
            </a:pPr>
            <a:r>
              <a:rPr lang="en-US" sz="1400" dirty="0">
                <a:solidFill>
                  <a:srgbClr val="141830"/>
                </a:solidFill>
                <a:latin typeface="Calibri" pitchFamily="34" charset="0"/>
                <a:ea typeface="Calibri" pitchFamily="34" charset="-122"/>
                <a:cs typeface="Calibri" pitchFamily="34" charset="-120"/>
              </a:rPr>
              <a:t>A trigger beside a large amount</a:t>
            </a:r>
            <a:endParaRPr lang="en-US" sz="1400" dirty="0"/>
          </a:p>
        </p:txBody>
      </p:sp>
      <p:sp>
        <p:nvSpPr>
          <p:cNvPr id="7" name="Text 5"/>
          <p:cNvSpPr/>
          <p:nvPr/>
        </p:nvSpPr>
        <p:spPr>
          <a:xfrm>
            <a:off x="1005840" y="4480560"/>
            <a:ext cx="4572000" cy="640080"/>
          </a:xfrm>
          <a:prstGeom prst="rect">
            <a:avLst/>
          </a:prstGeom>
          <a:noFill/>
          <a:ln/>
        </p:spPr>
        <p:txBody>
          <a:bodyPr wrap="square" lIns="0" tIns="0" rIns="0" bIns="0" rtlCol="0" anchor="ctr"/>
          <a:lstStyle/>
          <a:p>
            <a:pPr marL="0" indent="0">
              <a:buNone/>
            </a:pPr>
            <a:r>
              <a:rPr lang="en-US" sz="1250" i="1" dirty="0">
                <a:solidFill>
                  <a:srgbClr val="6E7899"/>
                </a:solidFill>
                <a:latin typeface="Calibri" pitchFamily="34" charset="0"/>
                <a:ea typeface="Calibri" pitchFamily="34" charset="-122"/>
                <a:cs typeface="Calibri" pitchFamily="34" charset="-120"/>
              </a:rPr>
              <a:t>Exhaustive. Free. Inspectable before any model call.</a:t>
            </a:r>
            <a:endParaRPr lang="en-US" sz="1250" dirty="0"/>
          </a:p>
        </p:txBody>
      </p:sp>
      <p:sp>
        <p:nvSpPr>
          <p:cNvPr id="8" name="Shape 6"/>
          <p:cNvSpPr/>
          <p:nvPr/>
        </p:nvSpPr>
        <p:spPr>
          <a:xfrm>
            <a:off x="6263640" y="1783080"/>
            <a:ext cx="5212080" cy="3566160"/>
          </a:xfrm>
          <a:prstGeom prst="roundRect">
            <a:avLst>
              <a:gd name="adj" fmla="val 2564"/>
            </a:avLst>
          </a:prstGeom>
          <a:solidFill>
            <a:srgbClr val="16203F"/>
          </a:solidFill>
          <a:ln/>
        </p:spPr>
      </p:sp>
      <p:sp>
        <p:nvSpPr>
          <p:cNvPr id="9" name="Text 7"/>
          <p:cNvSpPr/>
          <p:nvPr/>
        </p:nvSpPr>
        <p:spPr>
          <a:xfrm>
            <a:off x="6583680" y="2011680"/>
            <a:ext cx="4572000" cy="274320"/>
          </a:xfrm>
          <a:prstGeom prst="rect">
            <a:avLst/>
          </a:prstGeom>
          <a:noFill/>
          <a:ln/>
        </p:spPr>
        <p:txBody>
          <a:bodyPr wrap="square" lIns="0" tIns="0" rIns="0" bIns="0" rtlCol="0" anchor="ctr"/>
          <a:lstStyle/>
          <a:p>
            <a:pPr marL="0" indent="0">
              <a:buNone/>
            </a:pPr>
            <a:r>
              <a:rPr lang="en-US" sz="1050" b="1" kern="0" spc="140" dirty="0">
                <a:solidFill>
                  <a:srgbClr val="D99441"/>
                </a:solidFill>
                <a:latin typeface="Calibri" pitchFamily="34" charset="0"/>
                <a:ea typeface="Calibri" pitchFamily="34" charset="-122"/>
                <a:cs typeface="Calibri" pitchFamily="34" charset="-120"/>
              </a:rPr>
              <a:t>THE MODEL DECIDES WHAT IT MEANS</a:t>
            </a:r>
            <a:endParaRPr lang="en-US" sz="1050" dirty="0"/>
          </a:p>
        </p:txBody>
      </p:sp>
      <p:sp>
        <p:nvSpPr>
          <p:cNvPr id="10" name="Text 8"/>
          <p:cNvSpPr/>
          <p:nvPr/>
        </p:nvSpPr>
        <p:spPr>
          <a:xfrm>
            <a:off x="6583680" y="2423160"/>
            <a:ext cx="4572000" cy="2651760"/>
          </a:xfrm>
          <a:prstGeom prst="rect">
            <a:avLst/>
          </a:prstGeom>
          <a:noFill/>
          <a:ln/>
        </p:spPr>
        <p:txBody>
          <a:bodyPr wrap="square" lIns="0" tIns="0" rIns="0" bIns="0" rtlCol="0" anchor="ctr"/>
          <a:lstStyle/>
          <a:p>
            <a:pPr marL="0" indent="0">
              <a:buNone/>
            </a:pPr>
            <a:r>
              <a:rPr lang="en-US" sz="1400" dirty="0">
                <a:solidFill>
                  <a:srgbClr val="C9D6F2"/>
                </a:solidFill>
                <a:latin typeface="Calibri" pitchFamily="34" charset="0"/>
                <a:ea typeface="Calibri" pitchFamily="34" charset="-122"/>
                <a:cs typeface="Calibri" pitchFamily="34" charset="-120"/>
              </a:rPr>
              <a:t>Each pair arrives with the reason a rule selected it. The model answers a narrow question about two specific claims, rather than searching a list of thirty for something interesting.</a:t>
            </a:r>
            <a:endParaRPr lang="en-US" sz="1400" dirty="0"/>
          </a:p>
          <a:p>
            <a:pPr marL="0" indent="0">
              <a:buNone/>
            </a:pPr>
            <a:endParaRPr lang="en-US" sz="1400" dirty="0"/>
          </a:p>
          <a:p>
            <a:pPr marL="0" indent="0">
              <a:buNone/>
            </a:pPr>
            <a:r>
              <a:rPr lang="en-US" sz="1400" dirty="0">
                <a:solidFill>
                  <a:srgbClr val="C9D6F2"/>
                </a:solidFill>
                <a:latin typeface="Calibri" pitchFamily="34" charset="0"/>
                <a:ea typeface="Calibri" pitchFamily="34" charset="-122"/>
                <a:cs typeface="Calibri" pitchFamily="34" charset="-120"/>
              </a:rPr>
              <a:t>Recall improves because the question is narrow. Cost falls because most claims are never sent.</a:t>
            </a:r>
            <a:endParaRPr lang="en-US" sz="1400" dirty="0"/>
          </a:p>
        </p:txBody>
      </p:sp>
      <p:sp>
        <p:nvSpPr>
          <p:cNvPr id="11" name="Text 9"/>
          <p:cNvSpPr/>
          <p:nvPr/>
        </p:nvSpPr>
        <p:spPr>
          <a:xfrm>
            <a:off x="685800" y="5623560"/>
            <a:ext cx="10789920" cy="365760"/>
          </a:xfrm>
          <a:prstGeom prst="rect">
            <a:avLst/>
          </a:prstGeom>
          <a:noFill/>
          <a:ln/>
        </p:spPr>
        <p:txBody>
          <a:bodyPr wrap="square" lIns="0" tIns="0" rIns="0" bIns="0" rtlCol="0" anchor="ctr"/>
          <a:lstStyle/>
          <a:p>
            <a:pPr marL="0" indent="0">
              <a:buNone/>
            </a:pPr>
            <a:r>
              <a:rPr lang="en-US" sz="1500" i="1" dirty="0">
                <a:solidFill>
                  <a:srgbClr val="16203F"/>
                </a:solidFill>
                <a:latin typeface="Calibri" pitchFamily="34" charset="0"/>
                <a:ea typeface="Calibri" pitchFamily="34" charset="-122"/>
                <a:cs typeface="Calibri" pitchFamily="34" charset="-120"/>
              </a:rPr>
              <a:t>Measured contribution of this split: 3 of the 8 defects found.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THE TEAM</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Thirteen agents. Six use a model.</a:t>
            </a:r>
            <a:endParaRPr lang="en-US" sz="3200" dirty="0"/>
          </a:p>
        </p:txBody>
      </p:sp>
      <p:sp>
        <p:nvSpPr>
          <p:cNvPr id="4" name="Text 2"/>
          <p:cNvSpPr/>
          <p:nvPr/>
        </p:nvSpPr>
        <p:spPr>
          <a:xfrm>
            <a:off x="685800" y="1691640"/>
            <a:ext cx="5120640" cy="256032"/>
          </a:xfrm>
          <a:prstGeom prst="rect">
            <a:avLst/>
          </a:prstGeom>
          <a:noFill/>
          <a:ln/>
        </p:spPr>
        <p:txBody>
          <a:bodyPr wrap="square" lIns="0" tIns="0" rIns="0" bIns="0" rtlCol="0" anchor="ctr"/>
          <a:lstStyle/>
          <a:p>
            <a:pPr marL="0" indent="0">
              <a:buNone/>
            </a:pPr>
            <a:r>
              <a:rPr lang="en-US" sz="1050" b="1" kern="0" spc="150" dirty="0">
                <a:solidFill>
                  <a:srgbClr val="D99441"/>
                </a:solidFill>
                <a:latin typeface="Calibri" pitchFamily="34" charset="0"/>
                <a:ea typeface="Calibri" pitchFamily="34" charset="-122"/>
                <a:cs typeface="Calibri" pitchFamily="34" charset="-120"/>
              </a:rPr>
              <a:t>USING A LANGUAGE MODEL</a:t>
            </a:r>
            <a:endParaRPr lang="en-US" sz="1050" dirty="0"/>
          </a:p>
        </p:txBody>
      </p:sp>
      <p:sp>
        <p:nvSpPr>
          <p:cNvPr id="5" name="Shape 3"/>
          <p:cNvSpPr/>
          <p:nvPr/>
        </p:nvSpPr>
        <p:spPr>
          <a:xfrm>
            <a:off x="685800" y="2084832"/>
            <a:ext cx="137160" cy="137160"/>
          </a:xfrm>
          <a:prstGeom prst="ellipse">
            <a:avLst/>
          </a:prstGeom>
          <a:solidFill>
            <a:srgbClr val="D99441"/>
          </a:solidFill>
          <a:ln/>
        </p:spPr>
      </p:sp>
      <p:sp>
        <p:nvSpPr>
          <p:cNvPr id="6" name="Text 4"/>
          <p:cNvSpPr/>
          <p:nvPr/>
        </p:nvSpPr>
        <p:spPr>
          <a:xfrm>
            <a:off x="978408" y="201168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Document Classifier</a:t>
            </a:r>
            <a:endParaRPr lang="en-US" sz="1400" dirty="0"/>
          </a:p>
        </p:txBody>
      </p:sp>
      <p:sp>
        <p:nvSpPr>
          <p:cNvPr id="7" name="Text 5"/>
          <p:cNvSpPr/>
          <p:nvPr/>
        </p:nvSpPr>
        <p:spPr>
          <a:xfrm>
            <a:off x="978408" y="226771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Reads the text, not the filename</a:t>
            </a:r>
            <a:endParaRPr lang="en-US" sz="1150" dirty="0"/>
          </a:p>
        </p:txBody>
      </p:sp>
      <p:sp>
        <p:nvSpPr>
          <p:cNvPr id="8" name="Shape 6"/>
          <p:cNvSpPr/>
          <p:nvPr/>
        </p:nvSpPr>
        <p:spPr>
          <a:xfrm>
            <a:off x="685800" y="2633472"/>
            <a:ext cx="137160" cy="137160"/>
          </a:xfrm>
          <a:prstGeom prst="ellipse">
            <a:avLst/>
          </a:prstGeom>
          <a:solidFill>
            <a:srgbClr val="D99441"/>
          </a:solidFill>
          <a:ln/>
        </p:spPr>
      </p:sp>
      <p:sp>
        <p:nvSpPr>
          <p:cNvPr id="9" name="Text 7"/>
          <p:cNvSpPr/>
          <p:nvPr/>
        </p:nvSpPr>
        <p:spPr>
          <a:xfrm>
            <a:off x="978408" y="256032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Claim Extractor</a:t>
            </a:r>
            <a:endParaRPr lang="en-US" sz="1400" dirty="0"/>
          </a:p>
        </p:txBody>
      </p:sp>
      <p:sp>
        <p:nvSpPr>
          <p:cNvPr id="10" name="Text 8"/>
          <p:cNvSpPr/>
          <p:nvPr/>
        </p:nvSpPr>
        <p:spPr>
          <a:xfrm>
            <a:off x="978408" y="281635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Typed claims, parallel per document</a:t>
            </a:r>
            <a:endParaRPr lang="en-US" sz="1150" dirty="0"/>
          </a:p>
        </p:txBody>
      </p:sp>
      <p:sp>
        <p:nvSpPr>
          <p:cNvPr id="11" name="Shape 9"/>
          <p:cNvSpPr/>
          <p:nvPr/>
        </p:nvSpPr>
        <p:spPr>
          <a:xfrm>
            <a:off x="685800" y="3182112"/>
            <a:ext cx="137160" cy="137160"/>
          </a:xfrm>
          <a:prstGeom prst="ellipse">
            <a:avLst/>
          </a:prstGeom>
          <a:solidFill>
            <a:srgbClr val="D99441"/>
          </a:solidFill>
          <a:ln/>
        </p:spPr>
      </p:sp>
      <p:sp>
        <p:nvSpPr>
          <p:cNvPr id="12" name="Text 10"/>
          <p:cNvSpPr/>
          <p:nvPr/>
        </p:nvSpPr>
        <p:spPr>
          <a:xfrm>
            <a:off x="978408" y="310896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Tension Detector</a:t>
            </a:r>
            <a:endParaRPr lang="en-US" sz="1400" dirty="0"/>
          </a:p>
        </p:txBody>
      </p:sp>
      <p:sp>
        <p:nvSpPr>
          <p:cNvPr id="13" name="Text 11"/>
          <p:cNvSpPr/>
          <p:nvPr/>
        </p:nvSpPr>
        <p:spPr>
          <a:xfrm>
            <a:off x="978408" y="336499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Conflicts within one entity</a:t>
            </a:r>
            <a:endParaRPr lang="en-US" sz="1150" dirty="0"/>
          </a:p>
        </p:txBody>
      </p:sp>
      <p:sp>
        <p:nvSpPr>
          <p:cNvPr id="14" name="Shape 12"/>
          <p:cNvSpPr/>
          <p:nvPr/>
        </p:nvSpPr>
        <p:spPr>
          <a:xfrm>
            <a:off x="685800" y="3730752"/>
            <a:ext cx="137160" cy="137160"/>
          </a:xfrm>
          <a:prstGeom prst="ellipse">
            <a:avLst/>
          </a:prstGeom>
          <a:solidFill>
            <a:srgbClr val="D99441"/>
          </a:solidFill>
          <a:ln/>
        </p:spPr>
      </p:sp>
      <p:sp>
        <p:nvSpPr>
          <p:cNvPr id="15" name="Text 13"/>
          <p:cNvSpPr/>
          <p:nvPr/>
        </p:nvSpPr>
        <p:spPr>
          <a:xfrm>
            <a:off x="978408" y="365760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Pair Adjudicator</a:t>
            </a:r>
            <a:endParaRPr lang="en-US" sz="1400" dirty="0"/>
          </a:p>
        </p:txBody>
      </p:sp>
      <p:sp>
        <p:nvSpPr>
          <p:cNvPr id="16" name="Text 14"/>
          <p:cNvSpPr/>
          <p:nvPr/>
        </p:nvSpPr>
        <p:spPr>
          <a:xfrm>
            <a:off x="978408" y="391363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Judges rule-selected pairs</a:t>
            </a:r>
            <a:endParaRPr lang="en-US" sz="1150" dirty="0"/>
          </a:p>
        </p:txBody>
      </p:sp>
      <p:sp>
        <p:nvSpPr>
          <p:cNvPr id="17" name="Shape 15"/>
          <p:cNvSpPr/>
          <p:nvPr/>
        </p:nvSpPr>
        <p:spPr>
          <a:xfrm>
            <a:off x="685800" y="4279392"/>
            <a:ext cx="137160" cy="137160"/>
          </a:xfrm>
          <a:prstGeom prst="ellipse">
            <a:avLst/>
          </a:prstGeom>
          <a:solidFill>
            <a:srgbClr val="D99441"/>
          </a:solidFill>
          <a:ln/>
        </p:spPr>
      </p:sp>
      <p:sp>
        <p:nvSpPr>
          <p:cNvPr id="18" name="Text 16"/>
          <p:cNvSpPr/>
          <p:nvPr/>
        </p:nvSpPr>
        <p:spPr>
          <a:xfrm>
            <a:off x="978408" y="420624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Red Team Critic</a:t>
            </a:r>
            <a:endParaRPr lang="en-US" sz="1400" dirty="0"/>
          </a:p>
        </p:txBody>
      </p:sp>
      <p:sp>
        <p:nvSpPr>
          <p:cNvPr id="19" name="Text 17"/>
          <p:cNvSpPr/>
          <p:nvPr/>
        </p:nvSpPr>
        <p:spPr>
          <a:xfrm>
            <a:off x="978408" y="446227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Tries to destroy every finding</a:t>
            </a:r>
            <a:endParaRPr lang="en-US" sz="1150" dirty="0"/>
          </a:p>
        </p:txBody>
      </p:sp>
      <p:sp>
        <p:nvSpPr>
          <p:cNvPr id="20" name="Shape 18"/>
          <p:cNvSpPr/>
          <p:nvPr/>
        </p:nvSpPr>
        <p:spPr>
          <a:xfrm>
            <a:off x="685800" y="4828032"/>
            <a:ext cx="137160" cy="137160"/>
          </a:xfrm>
          <a:prstGeom prst="ellipse">
            <a:avLst/>
          </a:prstGeom>
          <a:solidFill>
            <a:srgbClr val="D99441"/>
          </a:solidFill>
          <a:ln/>
        </p:spPr>
      </p:sp>
      <p:sp>
        <p:nvSpPr>
          <p:cNvPr id="21" name="Text 19"/>
          <p:cNvSpPr/>
          <p:nvPr/>
        </p:nvSpPr>
        <p:spPr>
          <a:xfrm>
            <a:off x="978408" y="475488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Materiality Scorer</a:t>
            </a:r>
            <a:endParaRPr lang="en-US" sz="1400" dirty="0"/>
          </a:p>
        </p:txBody>
      </p:sp>
      <p:sp>
        <p:nvSpPr>
          <p:cNvPr id="22" name="Text 20"/>
          <p:cNvSpPr/>
          <p:nvPr/>
        </p:nvSpPr>
        <p:spPr>
          <a:xfrm>
            <a:off x="978408" y="501091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Impact against deal size</a:t>
            </a:r>
            <a:endParaRPr lang="en-US" sz="1150" dirty="0"/>
          </a:p>
        </p:txBody>
      </p:sp>
      <p:sp>
        <p:nvSpPr>
          <p:cNvPr id="23" name="Text 21"/>
          <p:cNvSpPr/>
          <p:nvPr/>
        </p:nvSpPr>
        <p:spPr>
          <a:xfrm>
            <a:off x="6400800" y="1691640"/>
            <a:ext cx="5120640" cy="256032"/>
          </a:xfrm>
          <a:prstGeom prst="rect">
            <a:avLst/>
          </a:prstGeom>
          <a:noFill/>
          <a:ln/>
        </p:spPr>
        <p:txBody>
          <a:bodyPr wrap="square" lIns="0" tIns="0" rIns="0" bIns="0" rtlCol="0" anchor="ctr"/>
          <a:lstStyle/>
          <a:p>
            <a:pPr marL="0" indent="0">
              <a:buNone/>
            </a:pPr>
            <a:r>
              <a:rPr lang="en-US" sz="1050" b="1" kern="0" spc="150" dirty="0">
                <a:solidFill>
                  <a:srgbClr val="2C7A62"/>
                </a:solidFill>
                <a:latin typeface="Calibri" pitchFamily="34" charset="0"/>
                <a:ea typeface="Calibri" pitchFamily="34" charset="-122"/>
                <a:cs typeface="Calibri" pitchFamily="34" charset="-120"/>
              </a:rPr>
              <a:t>DETERMINISTIC — NO MODEL</a:t>
            </a:r>
            <a:endParaRPr lang="en-US" sz="1050" dirty="0"/>
          </a:p>
        </p:txBody>
      </p:sp>
      <p:sp>
        <p:nvSpPr>
          <p:cNvPr id="24" name="Shape 22"/>
          <p:cNvSpPr/>
          <p:nvPr/>
        </p:nvSpPr>
        <p:spPr>
          <a:xfrm>
            <a:off x="6400800" y="2084832"/>
            <a:ext cx="137160" cy="137160"/>
          </a:xfrm>
          <a:prstGeom prst="ellipse">
            <a:avLst/>
          </a:prstGeom>
          <a:solidFill>
            <a:srgbClr val="2C7A62"/>
          </a:solidFill>
          <a:ln/>
        </p:spPr>
      </p:sp>
      <p:sp>
        <p:nvSpPr>
          <p:cNvPr id="25" name="Text 23"/>
          <p:cNvSpPr/>
          <p:nvPr/>
        </p:nvSpPr>
        <p:spPr>
          <a:xfrm>
            <a:off x="6693408" y="201168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Entity Resolver</a:t>
            </a:r>
            <a:endParaRPr lang="en-US" sz="1400" dirty="0"/>
          </a:p>
        </p:txBody>
      </p:sp>
      <p:sp>
        <p:nvSpPr>
          <p:cNvPr id="26" name="Text 24"/>
          <p:cNvSpPr/>
          <p:nvPr/>
        </p:nvSpPr>
        <p:spPr>
          <a:xfrm>
            <a:off x="6693408" y="226771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Merges company name variants</a:t>
            </a:r>
            <a:endParaRPr lang="en-US" sz="1150" dirty="0"/>
          </a:p>
        </p:txBody>
      </p:sp>
      <p:sp>
        <p:nvSpPr>
          <p:cNvPr id="27" name="Shape 25"/>
          <p:cNvSpPr/>
          <p:nvPr/>
        </p:nvSpPr>
        <p:spPr>
          <a:xfrm>
            <a:off x="6400800" y="2633472"/>
            <a:ext cx="137160" cy="137160"/>
          </a:xfrm>
          <a:prstGeom prst="ellipse">
            <a:avLst/>
          </a:prstGeom>
          <a:solidFill>
            <a:srgbClr val="2C7A62"/>
          </a:solidFill>
          <a:ln/>
        </p:spPr>
      </p:sp>
      <p:sp>
        <p:nvSpPr>
          <p:cNvPr id="28" name="Text 26"/>
          <p:cNvSpPr/>
          <p:nvPr/>
        </p:nvSpPr>
        <p:spPr>
          <a:xfrm>
            <a:off x="6693408" y="256032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Pair Generator</a:t>
            </a:r>
            <a:endParaRPr lang="en-US" sz="1400" dirty="0"/>
          </a:p>
        </p:txBody>
      </p:sp>
      <p:sp>
        <p:nvSpPr>
          <p:cNvPr id="29" name="Text 27"/>
          <p:cNvSpPr/>
          <p:nvPr/>
        </p:nvSpPr>
        <p:spPr>
          <a:xfrm>
            <a:off x="6693408" y="281635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Selects what to compare</a:t>
            </a:r>
            <a:endParaRPr lang="en-US" sz="1150" dirty="0"/>
          </a:p>
        </p:txBody>
      </p:sp>
      <p:sp>
        <p:nvSpPr>
          <p:cNvPr id="30" name="Shape 28"/>
          <p:cNvSpPr/>
          <p:nvPr/>
        </p:nvSpPr>
        <p:spPr>
          <a:xfrm>
            <a:off x="6400800" y="3182112"/>
            <a:ext cx="137160" cy="137160"/>
          </a:xfrm>
          <a:prstGeom prst="ellipse">
            <a:avLst/>
          </a:prstGeom>
          <a:solidFill>
            <a:srgbClr val="2C7A62"/>
          </a:solidFill>
          <a:ln/>
        </p:spPr>
      </p:sp>
      <p:sp>
        <p:nvSpPr>
          <p:cNvPr id="31" name="Text 29"/>
          <p:cNvSpPr/>
          <p:nvPr/>
        </p:nvSpPr>
        <p:spPr>
          <a:xfrm>
            <a:off x="6693408" y="310896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Arithmetic Detector</a:t>
            </a:r>
            <a:endParaRPr lang="en-US" sz="1400" dirty="0"/>
          </a:p>
        </p:txBody>
      </p:sp>
      <p:sp>
        <p:nvSpPr>
          <p:cNvPr id="32" name="Text 30"/>
          <p:cNvSpPr/>
          <p:nvPr/>
        </p:nvSpPr>
        <p:spPr>
          <a:xfrm>
            <a:off x="6693408" y="336499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Reconciles totals to components</a:t>
            </a:r>
            <a:endParaRPr lang="en-US" sz="1150" dirty="0"/>
          </a:p>
        </p:txBody>
      </p:sp>
      <p:sp>
        <p:nvSpPr>
          <p:cNvPr id="33" name="Shape 31"/>
          <p:cNvSpPr/>
          <p:nvPr/>
        </p:nvSpPr>
        <p:spPr>
          <a:xfrm>
            <a:off x="6400800" y="3730752"/>
            <a:ext cx="137160" cy="137160"/>
          </a:xfrm>
          <a:prstGeom prst="ellipse">
            <a:avLst/>
          </a:prstGeom>
          <a:solidFill>
            <a:srgbClr val="2C7A62"/>
          </a:solidFill>
          <a:ln/>
        </p:spPr>
      </p:sp>
      <p:sp>
        <p:nvSpPr>
          <p:cNvPr id="34" name="Text 32"/>
          <p:cNvSpPr/>
          <p:nvPr/>
        </p:nvSpPr>
        <p:spPr>
          <a:xfrm>
            <a:off x="6693408" y="365760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Temporal Detector</a:t>
            </a:r>
            <a:endParaRPr lang="en-US" sz="1400" dirty="0"/>
          </a:p>
        </p:txBody>
      </p:sp>
      <p:sp>
        <p:nvSpPr>
          <p:cNvPr id="35" name="Text 33"/>
          <p:cNvSpPr/>
          <p:nvPr/>
        </p:nvSpPr>
        <p:spPr>
          <a:xfrm>
            <a:off x="6693408" y="391363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Impossible date orderings</a:t>
            </a:r>
            <a:endParaRPr lang="en-US" sz="1150" dirty="0"/>
          </a:p>
        </p:txBody>
      </p:sp>
      <p:sp>
        <p:nvSpPr>
          <p:cNvPr id="36" name="Shape 34"/>
          <p:cNvSpPr/>
          <p:nvPr/>
        </p:nvSpPr>
        <p:spPr>
          <a:xfrm>
            <a:off x="6400800" y="4279392"/>
            <a:ext cx="137160" cy="137160"/>
          </a:xfrm>
          <a:prstGeom prst="ellipse">
            <a:avLst/>
          </a:prstGeom>
          <a:solidFill>
            <a:srgbClr val="2C7A62"/>
          </a:solidFill>
          <a:ln/>
        </p:spPr>
      </p:sp>
      <p:sp>
        <p:nvSpPr>
          <p:cNvPr id="37" name="Text 35"/>
          <p:cNvSpPr/>
          <p:nvPr/>
        </p:nvSpPr>
        <p:spPr>
          <a:xfrm>
            <a:off x="6693408" y="420624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Gap Auditor</a:t>
            </a:r>
            <a:endParaRPr lang="en-US" sz="1400" dirty="0"/>
          </a:p>
        </p:txBody>
      </p:sp>
      <p:sp>
        <p:nvSpPr>
          <p:cNvPr id="38" name="Text 36"/>
          <p:cNvSpPr/>
          <p:nvPr/>
        </p:nvSpPr>
        <p:spPr>
          <a:xfrm>
            <a:off x="6693408" y="446227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What any deal should have</a:t>
            </a:r>
            <a:endParaRPr lang="en-US" sz="1150" dirty="0"/>
          </a:p>
        </p:txBody>
      </p:sp>
      <p:sp>
        <p:nvSpPr>
          <p:cNvPr id="39" name="Shape 37"/>
          <p:cNvSpPr/>
          <p:nvPr/>
        </p:nvSpPr>
        <p:spPr>
          <a:xfrm>
            <a:off x="6400800" y="4828032"/>
            <a:ext cx="137160" cy="137160"/>
          </a:xfrm>
          <a:prstGeom prst="ellipse">
            <a:avLst/>
          </a:prstGeom>
          <a:solidFill>
            <a:srgbClr val="2C7A62"/>
          </a:solidFill>
          <a:ln/>
        </p:spPr>
      </p:sp>
      <p:sp>
        <p:nvSpPr>
          <p:cNvPr id="40" name="Text 38"/>
          <p:cNvSpPr/>
          <p:nvPr/>
        </p:nvSpPr>
        <p:spPr>
          <a:xfrm>
            <a:off x="6693408" y="475488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Reference Auditor</a:t>
            </a:r>
            <a:endParaRPr lang="en-US" sz="1400" dirty="0"/>
          </a:p>
        </p:txBody>
      </p:sp>
      <p:sp>
        <p:nvSpPr>
          <p:cNvPr id="41" name="Text 39"/>
          <p:cNvSpPr/>
          <p:nvPr/>
        </p:nvSpPr>
        <p:spPr>
          <a:xfrm>
            <a:off x="6693408" y="501091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What this deal claims to have</a:t>
            </a:r>
            <a:endParaRPr lang="en-US" sz="1150" dirty="0"/>
          </a:p>
        </p:txBody>
      </p:sp>
      <p:sp>
        <p:nvSpPr>
          <p:cNvPr id="42" name="Shape 40"/>
          <p:cNvSpPr/>
          <p:nvPr/>
        </p:nvSpPr>
        <p:spPr>
          <a:xfrm>
            <a:off x="6400800" y="5376672"/>
            <a:ext cx="137160" cy="137160"/>
          </a:xfrm>
          <a:prstGeom prst="ellipse">
            <a:avLst/>
          </a:prstGeom>
          <a:solidFill>
            <a:srgbClr val="2C7A62"/>
          </a:solidFill>
          <a:ln/>
        </p:spPr>
      </p:sp>
      <p:sp>
        <p:nvSpPr>
          <p:cNvPr id="43" name="Text 41"/>
          <p:cNvSpPr/>
          <p:nvPr/>
        </p:nvSpPr>
        <p:spPr>
          <a:xfrm>
            <a:off x="6693408" y="5303520"/>
            <a:ext cx="4846320" cy="256032"/>
          </a:xfrm>
          <a:prstGeom prst="rect">
            <a:avLst/>
          </a:prstGeom>
          <a:noFill/>
          <a:ln/>
        </p:spPr>
        <p:txBody>
          <a:bodyPr wrap="square" lIns="0" tIns="0" rIns="0" bIns="0" rtlCol="0" anchor="ctr"/>
          <a:lstStyle/>
          <a:p>
            <a:pPr marL="0" indent="0">
              <a:buNone/>
            </a:pPr>
            <a:r>
              <a:rPr lang="en-US" sz="1400" b="1" dirty="0">
                <a:solidFill>
                  <a:srgbClr val="141830"/>
                </a:solidFill>
                <a:latin typeface="Calibri" pitchFamily="34" charset="0"/>
                <a:ea typeface="Calibri" pitchFamily="34" charset="-122"/>
                <a:cs typeface="Calibri" pitchFamily="34" charset="-120"/>
              </a:rPr>
              <a:t>Memo Composer</a:t>
            </a:r>
            <a:endParaRPr lang="en-US" sz="1400" dirty="0"/>
          </a:p>
        </p:txBody>
      </p:sp>
      <p:sp>
        <p:nvSpPr>
          <p:cNvPr id="44" name="Text 42"/>
          <p:cNvSpPr/>
          <p:nvPr/>
        </p:nvSpPr>
        <p:spPr>
          <a:xfrm>
            <a:off x="6693408" y="5559552"/>
            <a:ext cx="4846320" cy="256032"/>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Renders the ledger, adds nothing</a:t>
            </a:r>
            <a:endParaRPr lang="en-US" sz="1150" dirty="0"/>
          </a:p>
        </p:txBody>
      </p:sp>
      <p:sp>
        <p:nvSpPr>
          <p:cNvPr id="45" name="Text 43"/>
          <p:cNvSpPr/>
          <p:nvPr/>
        </p:nvSpPr>
        <p:spPr>
          <a:xfrm>
            <a:off x="685800" y="5806440"/>
            <a:ext cx="10789920" cy="365760"/>
          </a:xfrm>
          <a:prstGeom prst="rect">
            <a:avLst/>
          </a:prstGeom>
          <a:noFill/>
          <a:ln/>
        </p:spPr>
        <p:txBody>
          <a:bodyPr wrap="square" lIns="0" tIns="0" rIns="0" bIns="0" rtlCol="0" anchor="ctr"/>
          <a:lstStyle/>
          <a:p>
            <a:pPr marL="0" indent="0">
              <a:buNone/>
            </a:pPr>
            <a:r>
              <a:rPr lang="en-US" sz="1450" i="1" dirty="0">
                <a:solidFill>
                  <a:srgbClr val="16203F"/>
                </a:solidFill>
                <a:latin typeface="Calibri" pitchFamily="34" charset="0"/>
                <a:ea typeface="Calibri" pitchFamily="34" charset="-122"/>
                <a:cs typeface="Calibri" pitchFamily="34" charset="-120"/>
              </a:rPr>
              <a:t>Adding numbers is not judgement. The deterministic half alone finds 4 of 15.</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PROVENANCE</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The model never invents a citation</a:t>
            </a:r>
            <a:endParaRPr lang="en-US" sz="3200" dirty="0"/>
          </a:p>
        </p:txBody>
      </p:sp>
      <p:sp>
        <p:nvSpPr>
          <p:cNvPr id="4" name="Shape 2"/>
          <p:cNvSpPr/>
          <p:nvPr/>
        </p:nvSpPr>
        <p:spPr>
          <a:xfrm>
            <a:off x="685800" y="1783080"/>
            <a:ext cx="5760720" cy="2606040"/>
          </a:xfrm>
          <a:prstGeom prst="roundRect">
            <a:avLst>
              <a:gd name="adj" fmla="val 3509"/>
            </a:avLst>
          </a:prstGeom>
          <a:solidFill>
            <a:srgbClr val="F1F4FB"/>
          </a:solidFill>
          <a:ln/>
        </p:spPr>
      </p:sp>
      <p:sp>
        <p:nvSpPr>
          <p:cNvPr id="5" name="Text 3"/>
          <p:cNvSpPr/>
          <p:nvPr/>
        </p:nvSpPr>
        <p:spPr>
          <a:xfrm>
            <a:off x="1033272" y="2103120"/>
            <a:ext cx="5029200" cy="2011680"/>
          </a:xfrm>
          <a:prstGeom prst="rect">
            <a:avLst/>
          </a:prstGeom>
          <a:noFill/>
          <a:ln/>
        </p:spPr>
        <p:txBody>
          <a:bodyPr wrap="square" lIns="0" tIns="0" rIns="0" bIns="0" rtlCol="0" anchor="ctr"/>
          <a:lstStyle/>
          <a:p>
            <a:pPr marL="0" indent="0">
              <a:buNone/>
            </a:pPr>
            <a:r>
              <a:rPr lang="en-US" sz="1450" dirty="0">
                <a:solidFill>
                  <a:srgbClr val="6E7899"/>
                </a:solidFill>
                <a:latin typeface="Consolas" pitchFamily="34" charset="0"/>
                <a:ea typeface="Consolas" pitchFamily="34" charset="-122"/>
                <a:cs typeface="Consolas" pitchFamily="34" charset="-120"/>
              </a:rPr>
              <a:t>Model returns:  </a:t>
            </a:r>
            <a:r>
              <a:rPr lang="en-US" sz="1450" b="1" dirty="0">
                <a:solidFill>
                  <a:srgbClr val="16203F"/>
                </a:solidFill>
                <a:latin typeface="Consolas" pitchFamily="34" charset="0"/>
                <a:ea typeface="Consolas" pitchFamily="34" charset="-122"/>
                <a:cs typeface="Consolas" pitchFamily="34" charset="-120"/>
              </a:rPr>
              <a:t>"4,250,000"</a:t>
            </a:r>
            <a:endParaRPr lang="en-US" sz="1450" dirty="0"/>
          </a:p>
          <a:p>
            <a:pPr marL="0" indent="0">
              <a:buNone/>
            </a:pPr>
            <a:endParaRPr lang="en-US" sz="1450" dirty="0"/>
          </a:p>
          <a:p>
            <a:pPr marL="0" indent="0">
              <a:buNone/>
            </a:pPr>
            <a:r>
              <a:rPr lang="en-US" sz="1450" dirty="0">
                <a:solidFill>
                  <a:srgbClr val="6E7899"/>
                </a:solidFill>
                <a:latin typeface="Consolas" pitchFamily="34" charset="0"/>
                <a:ea typeface="Consolas" pitchFamily="34" charset="-122"/>
                <a:cs typeface="Consolas" pitchFamily="34" charset="-120"/>
              </a:rPr>
              <a:t>System runs:  </a:t>
            </a:r>
            <a:endParaRPr lang="en-US" sz="1450" dirty="0"/>
          </a:p>
          <a:p>
            <a:pPr marL="0" indent="0">
              <a:buNone/>
            </a:pPr>
            <a:r>
              <a:rPr lang="en-US" sz="1450" b="1" dirty="0">
                <a:solidFill>
                  <a:srgbClr val="16203F"/>
                </a:solidFill>
                <a:latin typeface="Consolas" pitchFamily="34" charset="0"/>
                <a:ea typeface="Consolas" pitchFamily="34" charset="-122"/>
                <a:cs typeface="Consolas" pitchFamily="34" charset="-120"/>
              </a:rPr>
              <a:t>document.find("4,250,000")</a:t>
            </a:r>
            <a:endParaRPr lang="en-US" sz="1450" dirty="0"/>
          </a:p>
          <a:p>
            <a:pPr marL="0" indent="0">
              <a:buNone/>
            </a:pPr>
            <a:endParaRPr lang="en-US" sz="1450" dirty="0"/>
          </a:p>
          <a:p>
            <a:pPr marL="0" indent="0">
              <a:buNone/>
            </a:pPr>
            <a:r>
              <a:rPr lang="en-US" sz="1450" dirty="0">
                <a:solidFill>
                  <a:srgbClr val="6E7899"/>
                </a:solidFill>
                <a:latin typeface="Consolas" pitchFamily="34" charset="0"/>
                <a:ea typeface="Consolas" pitchFamily="34" charset="-122"/>
                <a:cs typeface="Consolas" pitchFamily="34" charset="-120"/>
              </a:rPr>
              <a:t>Not found?  </a:t>
            </a:r>
            <a:endParaRPr lang="en-US" sz="1450" dirty="0"/>
          </a:p>
          <a:p>
            <a:pPr marL="0" indent="0">
              <a:buNone/>
            </a:pPr>
            <a:r>
              <a:rPr lang="en-US" sz="1450" b="1" dirty="0">
                <a:solidFill>
                  <a:srgbClr val="B23B3B"/>
                </a:solidFill>
                <a:latin typeface="Consolas" pitchFamily="34" charset="0"/>
                <a:ea typeface="Consolas" pitchFamily="34" charset="-122"/>
                <a:cs typeface="Consolas" pitchFamily="34" charset="-120"/>
              </a:rPr>
              <a:t>claim discarded</a:t>
            </a:r>
            <a:endParaRPr lang="en-US" sz="1450" dirty="0"/>
          </a:p>
        </p:txBody>
      </p:sp>
      <p:sp>
        <p:nvSpPr>
          <p:cNvPr id="6" name="Text 4"/>
          <p:cNvSpPr/>
          <p:nvPr/>
        </p:nvSpPr>
        <p:spPr>
          <a:xfrm>
            <a:off x="6812280" y="1874520"/>
            <a:ext cx="4663440" cy="731520"/>
          </a:xfrm>
          <a:prstGeom prst="rect">
            <a:avLst/>
          </a:prstGeom>
          <a:noFill/>
          <a:ln/>
        </p:spPr>
        <p:txBody>
          <a:bodyPr wrap="square" lIns="0" tIns="0" rIns="0" bIns="0" rtlCol="0" anchor="ctr"/>
          <a:lstStyle/>
          <a:p>
            <a:pPr marL="0" indent="0">
              <a:buNone/>
            </a:pPr>
            <a:r>
              <a:rPr lang="en-US" sz="2000" b="1" dirty="0">
                <a:solidFill>
                  <a:srgbClr val="16203F"/>
                </a:solidFill>
                <a:latin typeface="Georgia" pitchFamily="34" charset="0"/>
                <a:ea typeface="Georgia" pitchFamily="34" charset="-122"/>
                <a:cs typeface="Georgia" pitchFamily="34" charset="-120"/>
              </a:rPr>
              <a:t>Never asked for character positions.</a:t>
            </a:r>
            <a:endParaRPr lang="en-US" sz="2000" dirty="0"/>
          </a:p>
        </p:txBody>
      </p:sp>
      <p:sp>
        <p:nvSpPr>
          <p:cNvPr id="7" name="Text 5"/>
          <p:cNvSpPr/>
          <p:nvPr/>
        </p:nvSpPr>
        <p:spPr>
          <a:xfrm>
            <a:off x="6812280" y="2606040"/>
            <a:ext cx="4663440" cy="2286000"/>
          </a:xfrm>
          <a:prstGeom prst="rect">
            <a:avLst/>
          </a:prstGeom>
          <a:noFill/>
          <a:ln/>
        </p:spPr>
        <p:txBody>
          <a:bodyPr wrap="square" lIns="0" tIns="0" rIns="0" bIns="0" rtlCol="0" anchor="ctr"/>
          <a:lstStyle/>
          <a:p>
            <a:pPr marL="0" indent="0">
              <a:buNone/>
            </a:pPr>
            <a:r>
              <a:rPr lang="en-US" sz="1350" dirty="0">
                <a:solidFill>
                  <a:srgbClr val="141830"/>
                </a:solidFill>
                <a:latin typeface="Calibri" pitchFamily="34" charset="0"/>
                <a:ea typeface="Calibri" pitchFamily="34" charset="-122"/>
                <a:cs typeface="Calibri" pitchFamily="34" charset="-120"/>
              </a:rPr>
              <a:t>It returns the exact text it is quoting. The system locates that text itself.</a:t>
            </a:r>
            <a:endParaRPr lang="en-US" sz="1350" dirty="0"/>
          </a:p>
          <a:p>
            <a:pPr marL="0" indent="0">
              <a:buNone/>
            </a:pPr>
            <a:endParaRPr lang="en-US" sz="1350" dirty="0"/>
          </a:p>
          <a:p>
            <a:pPr marL="0" indent="0">
              <a:buNone/>
            </a:pPr>
            <a:r>
              <a:rPr lang="en-US" sz="1350" dirty="0">
                <a:solidFill>
                  <a:srgbClr val="141830"/>
                </a:solidFill>
                <a:latin typeface="Calibri" pitchFamily="34" charset="0"/>
                <a:ea typeface="Calibri" pitchFamily="34" charset="-122"/>
                <a:cs typeface="Calibri" pitchFamily="34" charset="-120"/>
              </a:rPr>
              <a:t>A model asked for offsets returns plausible wrong numbers — citations that look right and point at nothing.</a:t>
            </a:r>
            <a:endParaRPr lang="en-US" sz="1350" dirty="0"/>
          </a:p>
          <a:p>
            <a:pPr marL="0" indent="0">
              <a:buNone/>
            </a:pPr>
            <a:endParaRPr lang="en-US" sz="1350" dirty="0"/>
          </a:p>
          <a:p>
            <a:pPr marL="0" indent="0">
              <a:buNone/>
            </a:pPr>
            <a:r>
              <a:rPr lang="en-US" sz="1350" dirty="0">
                <a:solidFill>
                  <a:srgbClr val="141830"/>
                </a:solidFill>
                <a:latin typeface="Calibri" pitchFamily="34" charset="0"/>
                <a:ea typeface="Calibri" pitchFamily="34" charset="-122"/>
                <a:cs typeface="Calibri" pitchFamily="34" charset="-120"/>
              </a:rPr>
              <a:t>Every citation is re-checked against source before it reaches the memo.</a:t>
            </a:r>
            <a:endParaRPr lang="en-US" sz="1350" dirty="0"/>
          </a:p>
        </p:txBody>
      </p:sp>
      <p:sp>
        <p:nvSpPr>
          <p:cNvPr id="8" name="Text 6"/>
          <p:cNvSpPr/>
          <p:nvPr/>
        </p:nvSpPr>
        <p:spPr>
          <a:xfrm>
            <a:off x="685800" y="4754880"/>
            <a:ext cx="10789920" cy="365760"/>
          </a:xfrm>
          <a:prstGeom prst="rect">
            <a:avLst/>
          </a:prstGeom>
          <a:noFill/>
          <a:ln/>
        </p:spPr>
        <p:txBody>
          <a:bodyPr wrap="square" lIns="0" tIns="0" rIns="0" bIns="0" rtlCol="0" anchor="ctr"/>
          <a:lstStyle/>
          <a:p>
            <a:pPr marL="0" indent="0">
              <a:buNone/>
            </a:pPr>
            <a:r>
              <a:rPr lang="en-US" sz="1500" i="1" dirty="0">
                <a:solidFill>
                  <a:srgbClr val="16203F"/>
                </a:solidFill>
                <a:latin typeface="Calibri" pitchFamily="34" charset="0"/>
                <a:ea typeface="Calibri" pitchFamily="34" charset="-122"/>
                <a:cs typeface="Calibri" pitchFamily="34" charset="-120"/>
              </a:rPr>
              <a:t>In the interface, one click opens the source document at the cited page.</a:t>
            </a:r>
            <a:endParaRPr lang="en-US" sz="1500" dirty="0"/>
          </a:p>
        </p:txBody>
      </p:sp>
      <p:sp>
        <p:nvSpPr>
          <p:cNvPr id="9" name="Text 7"/>
          <p:cNvSpPr/>
          <p:nvPr/>
        </p:nvSpPr>
        <p:spPr>
          <a:xfrm>
            <a:off x="685800" y="5257800"/>
            <a:ext cx="10789920" cy="365760"/>
          </a:xfrm>
          <a:prstGeom prst="rect">
            <a:avLst/>
          </a:prstGeom>
          <a:noFill/>
          <a:ln/>
        </p:spPr>
        <p:txBody>
          <a:bodyPr wrap="square" lIns="0" tIns="0" rIns="0" bIns="0" rtlCol="0" anchor="ctr"/>
          <a:lstStyle/>
          <a:p>
            <a:pPr marL="0" indent="0">
              <a:buNone/>
            </a:pPr>
            <a:r>
              <a:rPr lang="en-US" sz="1500" dirty="0">
                <a:solidFill>
                  <a:srgbClr val="6E7899"/>
                </a:solidFill>
                <a:latin typeface="Calibri" pitchFamily="34" charset="0"/>
                <a:ea typeface="Calibri" pitchFamily="34" charset="-122"/>
                <a:cs typeface="Calibri" pitchFamily="34" charset="-120"/>
              </a:rPr>
              <a:t>One hallucinated citation and an analyst never trusts the tool again.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NEGATIVE SPACE</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Reporting what isn't there</a:t>
            </a:r>
            <a:endParaRPr lang="en-US" sz="3200" dirty="0"/>
          </a:p>
        </p:txBody>
      </p:sp>
      <p:sp>
        <p:nvSpPr>
          <p:cNvPr id="4" name="Shape 2"/>
          <p:cNvSpPr/>
          <p:nvPr/>
        </p:nvSpPr>
        <p:spPr>
          <a:xfrm>
            <a:off x="685800" y="1783080"/>
            <a:ext cx="10789920" cy="1051560"/>
          </a:xfrm>
          <a:prstGeom prst="roundRect">
            <a:avLst>
              <a:gd name="adj" fmla="val 8696"/>
            </a:avLst>
          </a:prstGeom>
          <a:solidFill>
            <a:srgbClr val="F1F4FB"/>
          </a:solidFill>
          <a:ln/>
        </p:spPr>
      </p:sp>
      <p:sp>
        <p:nvSpPr>
          <p:cNvPr id="5" name="Text 3"/>
          <p:cNvSpPr/>
          <p:nvPr/>
        </p:nvSpPr>
        <p:spPr>
          <a:xfrm>
            <a:off x="1051560" y="1783080"/>
            <a:ext cx="10058400" cy="1051560"/>
          </a:xfrm>
          <a:prstGeom prst="rect">
            <a:avLst/>
          </a:prstGeom>
          <a:noFill/>
          <a:ln/>
        </p:spPr>
        <p:txBody>
          <a:bodyPr wrap="square" lIns="0" tIns="0" rIns="0" bIns="0" rtlCol="0" anchor="ctr"/>
          <a:lstStyle/>
          <a:p>
            <a:pPr marL="0" indent="0">
              <a:buNone/>
            </a:pPr>
            <a:r>
              <a:rPr lang="en-US" sz="1600" i="1" dirty="0">
                <a:solidFill>
                  <a:srgbClr val="141830"/>
                </a:solidFill>
                <a:latin typeface="Calibri" pitchFamily="34" charset="0"/>
                <a:ea typeface="Calibri" pitchFamily="34" charset="-122"/>
                <a:cs typeface="Calibri" pitchFamily="34" charset="-120"/>
              </a:rPr>
              <a:t>"...as approved by written consent of the Board of Directors dated 9 September 2024."</a:t>
            </a:r>
            <a:endParaRPr lang="en-US" sz="1600" dirty="0"/>
          </a:p>
        </p:txBody>
      </p:sp>
      <p:sp>
        <p:nvSpPr>
          <p:cNvPr id="6" name="Text 4"/>
          <p:cNvSpPr/>
          <p:nvPr/>
        </p:nvSpPr>
        <p:spPr>
          <a:xfrm>
            <a:off x="1051560" y="2880360"/>
            <a:ext cx="5486400" cy="274320"/>
          </a:xfrm>
          <a:prstGeom prst="rect">
            <a:avLst/>
          </a:prstGeom>
          <a:noFill/>
          <a:ln/>
        </p:spPr>
        <p:txBody>
          <a:bodyPr wrap="square" lIns="0" tIns="0" rIns="0" bIns="0" rtlCol="0" anchor="ctr"/>
          <a:lstStyle/>
          <a:p>
            <a:pPr marL="0" indent="0">
              <a:buNone/>
            </a:pPr>
            <a:r>
              <a:rPr lang="en-US" sz="1150" dirty="0">
                <a:solidFill>
                  <a:srgbClr val="6E7899"/>
                </a:solidFill>
                <a:latin typeface="Calibri" pitchFamily="34" charset="0"/>
                <a:ea typeface="Calibri" pitchFamily="34" charset="-122"/>
                <a:cs typeface="Calibri" pitchFamily="34" charset="-120"/>
              </a:rPr>
              <a:t>— the CFO's employment agreement</a:t>
            </a:r>
            <a:endParaRPr lang="en-US" sz="1150" dirty="0"/>
          </a:p>
        </p:txBody>
      </p:sp>
      <p:sp>
        <p:nvSpPr>
          <p:cNvPr id="7" name="Text 5"/>
          <p:cNvSpPr/>
          <p:nvPr/>
        </p:nvSpPr>
        <p:spPr>
          <a:xfrm>
            <a:off x="685800" y="3429000"/>
            <a:ext cx="10789920" cy="475488"/>
          </a:xfrm>
          <a:prstGeom prst="rect">
            <a:avLst/>
          </a:prstGeom>
          <a:noFill/>
          <a:ln/>
        </p:spPr>
        <p:txBody>
          <a:bodyPr wrap="square" lIns="0" tIns="0" rIns="0" bIns="0" rtlCol="0" anchor="ctr"/>
          <a:lstStyle/>
          <a:p>
            <a:pPr marL="0" indent="0">
              <a:buNone/>
            </a:pPr>
            <a:r>
              <a:rPr lang="en-US" sz="2600" b="1" dirty="0">
                <a:solidFill>
                  <a:srgbClr val="B23B3B"/>
                </a:solidFill>
                <a:latin typeface="Georgia" pitchFamily="34" charset="0"/>
                <a:ea typeface="Georgia" pitchFamily="34" charset="-122"/>
                <a:cs typeface="Georgia" pitchFamily="34" charset="-120"/>
              </a:rPr>
              <a:t>There is no such consent in the data room.</a:t>
            </a:r>
            <a:endParaRPr lang="en-US" sz="2600" dirty="0"/>
          </a:p>
        </p:txBody>
      </p:sp>
      <p:sp>
        <p:nvSpPr>
          <p:cNvPr id="8" name="Text 6"/>
          <p:cNvSpPr/>
          <p:nvPr/>
        </p:nvSpPr>
        <p:spPr>
          <a:xfrm>
            <a:off x="685800" y="4023360"/>
            <a:ext cx="10789920" cy="384048"/>
          </a:xfrm>
          <a:prstGeom prst="rect">
            <a:avLst/>
          </a:prstGeom>
          <a:noFill/>
          <a:ln/>
        </p:spPr>
        <p:txBody>
          <a:bodyPr wrap="square" lIns="0" tIns="0" rIns="0" bIns="0" rtlCol="0" anchor="ctr"/>
          <a:lstStyle/>
          <a:p>
            <a:pPr marL="0" indent="0">
              <a:buNone/>
            </a:pPr>
            <a:r>
              <a:rPr lang="en-US" sz="1600" dirty="0">
                <a:solidFill>
                  <a:srgbClr val="16203F"/>
                </a:solidFill>
                <a:latin typeface="Calibri" pitchFamily="34" charset="0"/>
                <a:ea typeface="Calibri" pitchFamily="34" charset="-122"/>
                <a:cs typeface="Calibri" pitchFamily="34" charset="-120"/>
              </a:rPr>
              <a:t>No checklist could have caught this. The requirement came from the corpus itself.</a:t>
            </a:r>
            <a:endParaRPr lang="en-US" sz="1600" dirty="0"/>
          </a:p>
        </p:txBody>
      </p:sp>
      <p:sp>
        <p:nvSpPr>
          <p:cNvPr id="9" name="Shape 7"/>
          <p:cNvSpPr/>
          <p:nvPr/>
        </p:nvSpPr>
        <p:spPr>
          <a:xfrm>
            <a:off x="685800" y="4663440"/>
            <a:ext cx="5257800" cy="1143000"/>
          </a:xfrm>
          <a:prstGeom prst="roundRect">
            <a:avLst>
              <a:gd name="adj" fmla="val 6400"/>
            </a:avLst>
          </a:prstGeom>
          <a:solidFill>
            <a:srgbClr val="F1F4FB"/>
          </a:solidFill>
          <a:ln/>
        </p:spPr>
      </p:sp>
      <p:sp>
        <p:nvSpPr>
          <p:cNvPr id="10" name="Text 8"/>
          <p:cNvSpPr/>
          <p:nvPr/>
        </p:nvSpPr>
        <p:spPr>
          <a:xfrm>
            <a:off x="960120" y="4800600"/>
            <a:ext cx="4754880" cy="274320"/>
          </a:xfrm>
          <a:prstGeom prst="rect">
            <a:avLst/>
          </a:prstGeom>
          <a:noFill/>
          <a:ln/>
        </p:spPr>
        <p:txBody>
          <a:bodyPr wrap="square" lIns="0" tIns="0" rIns="0" bIns="0" rtlCol="0" anchor="ctr"/>
          <a:lstStyle/>
          <a:p>
            <a:pPr marL="0" indent="0">
              <a:buNone/>
            </a:pPr>
            <a:r>
              <a:rPr lang="en-US" sz="1400" b="1" dirty="0">
                <a:solidFill>
                  <a:srgbClr val="16203F"/>
                </a:solidFill>
                <a:latin typeface="Calibri" pitchFamily="34" charset="0"/>
                <a:ea typeface="Calibri" pitchFamily="34" charset="-122"/>
                <a:cs typeface="Calibri" pitchFamily="34" charset="-120"/>
              </a:rPr>
              <a:t>Gap auditor</a:t>
            </a:r>
            <a:endParaRPr lang="en-US" sz="1400" dirty="0"/>
          </a:p>
        </p:txBody>
      </p:sp>
      <p:sp>
        <p:nvSpPr>
          <p:cNvPr id="11" name="Text 9"/>
          <p:cNvSpPr/>
          <p:nvPr/>
        </p:nvSpPr>
        <p:spPr>
          <a:xfrm>
            <a:off x="960120" y="5102352"/>
            <a:ext cx="4754880" cy="594360"/>
          </a:xfrm>
          <a:prstGeom prst="rect">
            <a:avLst/>
          </a:prstGeom>
          <a:noFill/>
          <a:ln/>
        </p:spPr>
        <p:txBody>
          <a:bodyPr wrap="square" lIns="0" tIns="0" rIns="0" bIns="0" rtlCol="0" anchor="ctr"/>
          <a:lstStyle/>
          <a:p>
            <a:pPr marL="0" indent="0">
              <a:buNone/>
            </a:pPr>
            <a:r>
              <a:rPr lang="en-US" sz="1200" dirty="0">
                <a:solidFill>
                  <a:srgbClr val="6E7899"/>
                </a:solidFill>
                <a:latin typeface="Calibri" pitchFamily="34" charset="0"/>
                <a:ea typeface="Calibri" pitchFamily="34" charset="-122"/>
                <a:cs typeface="Calibri" pitchFamily="34" charset="-120"/>
              </a:rPr>
              <a:t>What any deal should have.</a:t>
            </a:r>
            <a:endParaRPr lang="en-US" sz="1200" dirty="0"/>
          </a:p>
          <a:p>
            <a:pPr marL="0" indent="0">
              <a:buNone/>
            </a:pPr>
            <a:r>
              <a:rPr lang="en-US" sz="1200" dirty="0">
                <a:solidFill>
                  <a:srgbClr val="6E7899"/>
                </a:solidFill>
                <a:latin typeface="Calibri" pitchFamily="34" charset="0"/>
                <a:ea typeface="Calibri" pitchFamily="34" charset="-122"/>
                <a:cs typeface="Calibri" pitchFamily="34" charset="-120"/>
              </a:rPr>
              <a:t>A fixed request list of 14 documents.</a:t>
            </a:r>
            <a:endParaRPr lang="en-US" sz="1200" dirty="0"/>
          </a:p>
        </p:txBody>
      </p:sp>
      <p:sp>
        <p:nvSpPr>
          <p:cNvPr id="12" name="Shape 10"/>
          <p:cNvSpPr/>
          <p:nvPr/>
        </p:nvSpPr>
        <p:spPr>
          <a:xfrm>
            <a:off x="6217920" y="4663440"/>
            <a:ext cx="5257800" cy="1143000"/>
          </a:xfrm>
          <a:prstGeom prst="roundRect">
            <a:avLst>
              <a:gd name="adj" fmla="val 6400"/>
            </a:avLst>
          </a:prstGeom>
          <a:solidFill>
            <a:srgbClr val="16203F"/>
          </a:solidFill>
          <a:ln/>
        </p:spPr>
      </p:sp>
      <p:sp>
        <p:nvSpPr>
          <p:cNvPr id="13" name="Text 11"/>
          <p:cNvSpPr/>
          <p:nvPr/>
        </p:nvSpPr>
        <p:spPr>
          <a:xfrm>
            <a:off x="6492240" y="4800600"/>
            <a:ext cx="47548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Reference auditor</a:t>
            </a:r>
            <a:endParaRPr lang="en-US" sz="1400" dirty="0"/>
          </a:p>
        </p:txBody>
      </p:sp>
      <p:sp>
        <p:nvSpPr>
          <p:cNvPr id="14" name="Text 12"/>
          <p:cNvSpPr/>
          <p:nvPr/>
        </p:nvSpPr>
        <p:spPr>
          <a:xfrm>
            <a:off x="6492240" y="5102352"/>
            <a:ext cx="4754880" cy="594360"/>
          </a:xfrm>
          <a:prstGeom prst="rect">
            <a:avLst/>
          </a:prstGeom>
          <a:noFill/>
          <a:ln/>
        </p:spPr>
        <p:txBody>
          <a:bodyPr wrap="square" lIns="0" tIns="0" rIns="0" bIns="0" rtlCol="0" anchor="ctr"/>
          <a:lstStyle/>
          <a:p>
            <a:pPr marL="0" indent="0">
              <a:buNone/>
            </a:pPr>
            <a:r>
              <a:rPr lang="en-US" sz="1200" dirty="0">
                <a:solidFill>
                  <a:srgbClr val="C9D6F2"/>
                </a:solidFill>
                <a:latin typeface="Calibri" pitchFamily="34" charset="0"/>
                <a:ea typeface="Calibri" pitchFamily="34" charset="-122"/>
                <a:cs typeface="Calibri" pitchFamily="34" charset="-120"/>
              </a:rPr>
              <a:t>What this deal claims to have.</a:t>
            </a:r>
            <a:endParaRPr lang="en-US" sz="1200" dirty="0"/>
          </a:p>
          <a:p>
            <a:pPr marL="0" indent="0">
              <a:buNone/>
            </a:pPr>
            <a:r>
              <a:rPr lang="en-US" sz="1200" dirty="0">
                <a:solidFill>
                  <a:srgbClr val="C9D6F2"/>
                </a:solidFill>
                <a:latin typeface="Calibri" pitchFamily="34" charset="0"/>
                <a:ea typeface="Calibri" pitchFamily="34" charset="-122"/>
                <a:cs typeface="Calibri" pitchFamily="34" charset="-120"/>
              </a:rPr>
              <a:t>Documents named, with a date, that do not exist.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3F"/>
        </a:solidFill>
        <a:effectLst/>
      </p:bgPr>
    </p:bg>
    <p:spTree>
      <p:nvGrpSpPr>
        <p:cNvPr id="1" name=""/>
        <p:cNvGrpSpPr/>
        <p:nvPr/>
      </p:nvGrpSpPr>
      <p:grpSpPr>
        <a:xfrm>
          <a:off x="0" y="0"/>
          <a:ext cx="0" cy="0"/>
          <a:chOff x="0" y="0"/>
          <a:chExt cx="0" cy="0"/>
        </a:xfrm>
      </p:grpSpPr>
      <p:sp>
        <p:nvSpPr>
          <p:cNvPr id="2" name="Text 0"/>
          <p:cNvSpPr/>
          <p:nvPr/>
        </p:nvSpPr>
        <p:spPr>
          <a:xfrm>
            <a:off x="685800" y="502920"/>
            <a:ext cx="1078992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The critic caught my mistake</a:t>
            </a:r>
            <a:endParaRPr lang="en-US" sz="3200" dirty="0"/>
          </a:p>
        </p:txBody>
      </p:sp>
      <p:sp>
        <p:nvSpPr>
          <p:cNvPr id="3" name="Text 1"/>
          <p:cNvSpPr/>
          <p:nvPr/>
        </p:nvSpPr>
        <p:spPr>
          <a:xfrm>
            <a:off x="685800" y="1371600"/>
            <a:ext cx="10424160" cy="640080"/>
          </a:xfrm>
          <a:prstGeom prst="rect">
            <a:avLst/>
          </a:prstGeom>
          <a:noFill/>
          <a:ln/>
        </p:spPr>
        <p:txBody>
          <a:bodyPr wrap="square" lIns="0" tIns="0" rIns="0" bIns="0" rtlCol="0" anchor="ctr"/>
          <a:lstStyle/>
          <a:p>
            <a:pPr marL="0" indent="0">
              <a:buNone/>
            </a:pPr>
            <a:r>
              <a:rPr lang="en-US" sz="1650" dirty="0">
                <a:solidFill>
                  <a:srgbClr val="C9D6F2"/>
                </a:solidFill>
                <a:latin typeface="Calibri" pitchFamily="34" charset="0"/>
                <a:ea typeface="Calibri" pitchFamily="34" charset="-122"/>
                <a:cs typeface="Calibri" pitchFamily="34" charset="-120"/>
              </a:rPr>
              <a:t>My arithmetic detector summed founder shares, preferred shares, and employee options against the cap table total.</a:t>
            </a:r>
            <a:endParaRPr lang="en-US" sz="1650" dirty="0"/>
          </a:p>
        </p:txBody>
      </p:sp>
      <p:sp>
        <p:nvSpPr>
          <p:cNvPr id="4" name="Text 2"/>
          <p:cNvSpPr/>
          <p:nvPr/>
        </p:nvSpPr>
        <p:spPr>
          <a:xfrm>
            <a:off x="685800" y="2057400"/>
            <a:ext cx="10424160" cy="36576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All tests passed. Three days of green.</a:t>
            </a:r>
            <a:endParaRPr lang="en-US" sz="1650" dirty="0"/>
          </a:p>
        </p:txBody>
      </p:sp>
      <p:sp>
        <p:nvSpPr>
          <p:cNvPr id="5" name="Shape 3"/>
          <p:cNvSpPr/>
          <p:nvPr/>
        </p:nvSpPr>
        <p:spPr>
          <a:xfrm>
            <a:off x="685800" y="2697480"/>
            <a:ext cx="10789920" cy="1371600"/>
          </a:xfrm>
          <a:prstGeom prst="roundRect">
            <a:avLst>
              <a:gd name="adj" fmla="val 5333"/>
            </a:avLst>
          </a:prstGeom>
          <a:solidFill>
            <a:srgbClr val="0D1329"/>
          </a:solidFill>
          <a:ln/>
        </p:spPr>
      </p:sp>
      <p:sp>
        <p:nvSpPr>
          <p:cNvPr id="6" name="Text 4"/>
          <p:cNvSpPr/>
          <p:nvPr/>
        </p:nvSpPr>
        <p:spPr>
          <a:xfrm>
            <a:off x="1097280" y="2697480"/>
            <a:ext cx="9966960" cy="1371600"/>
          </a:xfrm>
          <a:prstGeom prst="rect">
            <a:avLst/>
          </a:prstGeom>
          <a:noFill/>
          <a:ln/>
        </p:spPr>
        <p:txBody>
          <a:bodyPr wrap="square" lIns="0" tIns="0" rIns="0" bIns="0" rtlCol="0" anchor="ctr"/>
          <a:lstStyle/>
          <a:p>
            <a:pPr marL="0" indent="0">
              <a:buNone/>
            </a:pPr>
            <a:r>
              <a:rPr lang="en-US" sz="1800" i="1" dirty="0">
                <a:solidFill>
                  <a:srgbClr val="D99441"/>
                </a:solidFill>
                <a:latin typeface="Calibri" pitchFamily="34" charset="0"/>
                <a:ea typeface="Calibri" pitchFamily="34" charset="-122"/>
                <a:cs typeface="Calibri" pitchFamily="34" charset="-120"/>
              </a:rPr>
              <a:t>"Adding unexercised employee options to issued and outstanding shares is a definitional error."</a:t>
            </a:r>
            <a:endParaRPr lang="en-US" sz="1800" dirty="0"/>
          </a:p>
        </p:txBody>
      </p:sp>
      <p:sp>
        <p:nvSpPr>
          <p:cNvPr id="7" name="Text 5"/>
          <p:cNvSpPr/>
          <p:nvPr/>
        </p:nvSpPr>
        <p:spPr>
          <a:xfrm>
            <a:off x="685800" y="4297680"/>
            <a:ext cx="10789920" cy="457200"/>
          </a:xfrm>
          <a:prstGeom prst="rect">
            <a:avLst/>
          </a:prstGeom>
          <a:noFill/>
          <a:ln/>
        </p:spPr>
        <p:txBody>
          <a:bodyPr wrap="square" lIns="0" tIns="0" rIns="0" bIns="0"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It was right.</a:t>
            </a:r>
            <a:endParaRPr lang="en-US" sz="2700" dirty="0"/>
          </a:p>
        </p:txBody>
      </p:sp>
      <p:sp>
        <p:nvSpPr>
          <p:cNvPr id="8" name="Text 6"/>
          <p:cNvSpPr/>
          <p:nvPr/>
        </p:nvSpPr>
        <p:spPr>
          <a:xfrm>
            <a:off x="685800" y="4846320"/>
            <a:ext cx="10424160" cy="1005840"/>
          </a:xfrm>
          <a:prstGeom prst="rect">
            <a:avLst/>
          </a:prstGeom>
          <a:noFill/>
          <a:ln/>
        </p:spPr>
        <p:txBody>
          <a:bodyPr wrap="square" lIns="0" tIns="0" rIns="0" bIns="0" rtlCol="0" anchor="ctr"/>
          <a:lstStyle/>
          <a:p>
            <a:pPr marL="0" indent="0">
              <a:buNone/>
            </a:pPr>
            <a:r>
              <a:rPr lang="en-US" sz="1450" dirty="0">
                <a:solidFill>
                  <a:srgbClr val="C9D6F2"/>
                </a:solidFill>
                <a:latin typeface="Calibri" pitchFamily="34" charset="0"/>
                <a:ea typeface="Calibri" pitchFamily="34" charset="-122"/>
                <a:cs typeface="Calibri" pitchFamily="34" charset="-120"/>
              </a:rPr>
              <a:t>Options are not issued shares until exercised. The detector, the corpus, and the test were all wrong in the same way — so the tests could never have caught it. Corrected: 350,000 shares outstanding with no identified holder.</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ABLATION</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What each component actually contributes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78992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Configuration</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Recall</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Noise</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vs baseline</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extLst>
                  <a:ext uri="{0D108BD9-81ED-4DB2-BD59-A6C34878D82A}">
                    <a16:rowId xmlns:a16="http://schemas.microsoft.com/office/drawing/2014/main" val="10000"/>
                  </a:ext>
                </a:extLst>
              </a:tr>
              <a:tr h="384048">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Full system</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8/15</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baseline</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No pair detector</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5/15</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-3 defects</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No entity resolution</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7/15</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-1 defect</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No tension detector</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8/15</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no change</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50" b="1" dirty="0">
                          <a:solidFill>
                            <a:srgbClr val="141830"/>
                          </a:solidFill>
                          <a:latin typeface="Calibri" pitchFamily="34" charset="0"/>
                          <a:ea typeface="Calibri" pitchFamily="34" charset="-122"/>
                          <a:cs typeface="Calibri" pitchFamily="34" charset="-120"/>
                        </a:rPr>
                        <a:t>No adversarial review</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b="1" dirty="0">
                          <a:solidFill>
                            <a:srgbClr val="141830"/>
                          </a:solidFill>
                          <a:latin typeface="Calibri" pitchFamily="34" charset="0"/>
                          <a:ea typeface="Calibri" pitchFamily="34" charset="-122"/>
                          <a:cs typeface="Calibri" pitchFamily="34" charset="-120"/>
                        </a:rPr>
                        <a:t>10/15</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b="1" dirty="0">
                          <a:solidFill>
                            <a:srgbClr val="B23B3B"/>
                          </a:solidFill>
                          <a:latin typeface="Calibri" pitchFamily="34" charset="0"/>
                          <a:ea typeface="Calibri" pitchFamily="34" charset="-122"/>
                          <a:cs typeface="Calibri" pitchFamily="34" charset="-120"/>
                        </a:rPr>
                        <a:t>39%</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b="1" dirty="0">
                          <a:solidFill>
                            <a:srgbClr val="B23B3B"/>
                          </a:solidFill>
                          <a:latin typeface="Calibri" pitchFamily="34" charset="0"/>
                          <a:ea typeface="Calibri" pitchFamily="34" charset="-122"/>
                          <a:cs typeface="Calibri" pitchFamily="34" charset="-120"/>
                        </a:rPr>
                        <a:t>+2 defects, +7 false positives</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Deterministic only</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4/15</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350" dirty="0">
                          <a:solidFill>
                            <a:srgbClr val="141830"/>
                          </a:solidFill>
                          <a:latin typeface="Calibri" pitchFamily="34" charset="0"/>
                          <a:ea typeface="Calibri" pitchFamily="34" charset="-122"/>
                          <a:cs typeface="Calibri" pitchFamily="34" charset="-120"/>
                        </a:rPr>
                        <a:t>-4 defects</a:t>
                      </a:r>
                      <a:endParaRPr lang="en-US" sz="13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685800" y="4892040"/>
            <a:ext cx="10789920" cy="1051560"/>
          </a:xfrm>
          <a:prstGeom prst="roundRect">
            <a:avLst>
              <a:gd name="adj" fmla="val 6957"/>
            </a:avLst>
          </a:prstGeom>
          <a:solidFill>
            <a:srgbClr val="F1F4FB"/>
          </a:solidFill>
          <a:ln/>
        </p:spPr>
      </p:sp>
      <p:sp>
        <p:nvSpPr>
          <p:cNvPr id="6" name="Text 3"/>
          <p:cNvSpPr/>
          <p:nvPr/>
        </p:nvSpPr>
        <p:spPr>
          <a:xfrm>
            <a:off x="1005840" y="4892040"/>
            <a:ext cx="10149840" cy="1051560"/>
          </a:xfrm>
          <a:prstGeom prst="rect">
            <a:avLst/>
          </a:prstGeom>
          <a:noFill/>
          <a:ln/>
        </p:spPr>
        <p:txBody>
          <a:bodyPr wrap="square" lIns="0" tIns="0" rIns="0" bIns="0" rtlCol="0" anchor="ctr"/>
          <a:lstStyle/>
          <a:p>
            <a:pPr marL="0" indent="0">
              <a:buNone/>
            </a:pPr>
            <a:r>
              <a:rPr lang="en-US" sz="1450" dirty="0">
                <a:solidFill>
                  <a:srgbClr val="16203F"/>
                </a:solidFill>
                <a:latin typeface="Calibri" pitchFamily="34" charset="0"/>
                <a:ea typeface="Calibri" pitchFamily="34" charset="-122"/>
                <a:cs typeface="Calibri" pitchFamily="34" charset="-120"/>
              </a:rPr>
              <a:t>The critic costs two defects and removes seven false positives. That is the precision–recall tradeoff with a number on it — and for a diligence report, precision is the side that matters.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685800" y="402336"/>
            <a:ext cx="8229600" cy="256032"/>
          </a:xfrm>
          <a:prstGeom prst="rect">
            <a:avLst/>
          </a:prstGeom>
          <a:noFill/>
          <a:ln/>
        </p:spPr>
        <p:txBody>
          <a:bodyPr wrap="square" lIns="0" tIns="0" rIns="0" bIns="0" rtlCol="0" anchor="ctr"/>
          <a:lstStyle/>
          <a:p>
            <a:pPr marL="0" indent="0">
              <a:buNone/>
            </a:pPr>
            <a:r>
              <a:rPr lang="en-US" sz="1100" b="1" kern="0" spc="240" dirty="0">
                <a:solidFill>
                  <a:srgbClr val="D99441"/>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685800" y="694944"/>
            <a:ext cx="10789920" cy="749808"/>
          </a:xfrm>
          <a:prstGeom prst="rect">
            <a:avLst/>
          </a:prstGeom>
          <a:noFill/>
          <a:ln/>
        </p:spPr>
        <p:txBody>
          <a:bodyPr wrap="square" lIns="0" tIns="0" rIns="0" bIns="0" rtlCol="0" anchor="ctr"/>
          <a:lstStyle/>
          <a:p>
            <a:pPr marL="0" indent="0">
              <a:buNone/>
            </a:pPr>
            <a:r>
              <a:rPr lang="en-US" sz="3200" dirty="0">
                <a:solidFill>
                  <a:srgbClr val="16203F"/>
                </a:solidFill>
                <a:latin typeface="Georgia" pitchFamily="34" charset="0"/>
                <a:ea typeface="Georgia" pitchFamily="34" charset="-122"/>
                <a:cs typeface="Georgia" pitchFamily="34" charset="-120"/>
              </a:rPr>
              <a:t>Measured, not asserted</a:t>
            </a:r>
            <a:endParaRPr lang="en-US" sz="3200" dirty="0"/>
          </a:p>
        </p:txBody>
      </p:sp>
      <p:sp>
        <p:nvSpPr>
          <p:cNvPr id="4" name="Shape 2"/>
          <p:cNvSpPr/>
          <p:nvPr/>
        </p:nvSpPr>
        <p:spPr>
          <a:xfrm>
            <a:off x="685800" y="1783080"/>
            <a:ext cx="2468880" cy="1691640"/>
          </a:xfrm>
          <a:prstGeom prst="roundRect">
            <a:avLst>
              <a:gd name="adj" fmla="val 5405"/>
            </a:avLst>
          </a:prstGeom>
          <a:solidFill>
            <a:srgbClr val="16203F"/>
          </a:solidFill>
          <a:ln/>
        </p:spPr>
      </p:sp>
      <p:sp>
        <p:nvSpPr>
          <p:cNvPr id="5" name="Text 3"/>
          <p:cNvSpPr/>
          <p:nvPr/>
        </p:nvSpPr>
        <p:spPr>
          <a:xfrm>
            <a:off x="685800" y="1965960"/>
            <a:ext cx="2468880" cy="73152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7/15</a:t>
            </a:r>
            <a:endParaRPr lang="en-US" sz="3800" dirty="0"/>
          </a:p>
        </p:txBody>
      </p:sp>
      <p:sp>
        <p:nvSpPr>
          <p:cNvPr id="6" name="Text 4"/>
          <p:cNvSpPr/>
          <p:nvPr/>
        </p:nvSpPr>
        <p:spPr>
          <a:xfrm>
            <a:off x="685800" y="2697480"/>
            <a:ext cx="2468880" cy="640080"/>
          </a:xfrm>
          <a:prstGeom prst="rect">
            <a:avLst/>
          </a:prstGeom>
          <a:noFill/>
          <a:ln/>
        </p:spPr>
        <p:txBody>
          <a:bodyPr wrap="square" lIns="0" tIns="0" rIns="0" bIns="0" rtlCol="0" anchor="ctr"/>
          <a:lstStyle/>
          <a:p>
            <a:pPr marL="0" indent="0" algn="ctr">
              <a:buNone/>
            </a:pPr>
            <a:r>
              <a:rPr lang="en-US" sz="1150" dirty="0">
                <a:solidFill>
                  <a:srgbClr val="C9D6F2"/>
                </a:solidFill>
                <a:latin typeface="Calibri" pitchFamily="34" charset="0"/>
                <a:ea typeface="Calibri" pitchFamily="34" charset="-122"/>
                <a:cs typeface="Calibri" pitchFamily="34" charset="-120"/>
              </a:rPr>
              <a:t>planted defects</a:t>
            </a:r>
            <a:endParaRPr lang="en-US" sz="1150" dirty="0"/>
          </a:p>
          <a:p>
            <a:pPr marL="0" indent="0" algn="ctr">
              <a:buNone/>
            </a:pPr>
            <a:r>
              <a:rPr lang="en-US" sz="1150" dirty="0">
                <a:solidFill>
                  <a:srgbClr val="C9D6F2"/>
                </a:solidFill>
                <a:latin typeface="Calibri" pitchFamily="34" charset="0"/>
                <a:ea typeface="Calibri" pitchFamily="34" charset="-122"/>
                <a:cs typeface="Calibri" pitchFamily="34" charset="-120"/>
              </a:rPr>
              <a:t>detected</a:t>
            </a:r>
            <a:endParaRPr lang="en-US" sz="1150" dirty="0"/>
          </a:p>
        </p:txBody>
      </p:sp>
      <p:sp>
        <p:nvSpPr>
          <p:cNvPr id="7" name="Shape 5"/>
          <p:cNvSpPr/>
          <p:nvPr/>
        </p:nvSpPr>
        <p:spPr>
          <a:xfrm>
            <a:off x="3429000" y="1783080"/>
            <a:ext cx="2468880" cy="1691640"/>
          </a:xfrm>
          <a:prstGeom prst="roundRect">
            <a:avLst>
              <a:gd name="adj" fmla="val 5405"/>
            </a:avLst>
          </a:prstGeom>
          <a:solidFill>
            <a:srgbClr val="F1F4FB"/>
          </a:solidFill>
          <a:ln/>
        </p:spPr>
      </p:sp>
      <p:sp>
        <p:nvSpPr>
          <p:cNvPr id="8" name="Text 6"/>
          <p:cNvSpPr/>
          <p:nvPr/>
        </p:nvSpPr>
        <p:spPr>
          <a:xfrm>
            <a:off x="3429000" y="1965960"/>
            <a:ext cx="2468880" cy="731520"/>
          </a:xfrm>
          <a:prstGeom prst="rect">
            <a:avLst/>
          </a:prstGeom>
          <a:noFill/>
          <a:ln/>
        </p:spPr>
        <p:txBody>
          <a:bodyPr wrap="square" lIns="0" tIns="0" rIns="0" bIns="0" rtlCol="0" anchor="ctr"/>
          <a:lstStyle/>
          <a:p>
            <a:pPr marL="0" indent="0" algn="ctr">
              <a:buNone/>
            </a:pPr>
            <a:r>
              <a:rPr lang="en-US" sz="3800" b="1" dirty="0">
                <a:solidFill>
                  <a:srgbClr val="16203F"/>
                </a:solidFill>
                <a:latin typeface="Georgia" pitchFamily="34" charset="0"/>
                <a:ea typeface="Georgia" pitchFamily="34" charset="-122"/>
                <a:cs typeface="Georgia" pitchFamily="34" charset="-120"/>
              </a:rPr>
              <a:t>1/9</a:t>
            </a:r>
            <a:endParaRPr lang="en-US" sz="3800" dirty="0"/>
          </a:p>
        </p:txBody>
      </p:sp>
      <p:sp>
        <p:nvSpPr>
          <p:cNvPr id="9" name="Text 7"/>
          <p:cNvSpPr/>
          <p:nvPr/>
        </p:nvSpPr>
        <p:spPr>
          <a:xfrm>
            <a:off x="3429000" y="2697480"/>
            <a:ext cx="2468880" cy="640080"/>
          </a:xfrm>
          <a:prstGeom prst="rect">
            <a:avLst/>
          </a:prstGeom>
          <a:noFill/>
          <a:ln/>
        </p:spPr>
        <p:txBody>
          <a:bodyPr wrap="square" lIns="0" tIns="0" rIns="0" bIns="0" rtlCol="0" anchor="ctr"/>
          <a:lstStyle/>
          <a:p>
            <a:pPr marL="0" indent="0" algn="ctr">
              <a:buNone/>
            </a:pPr>
            <a:r>
              <a:rPr lang="en-US" sz="1150" dirty="0">
                <a:solidFill>
                  <a:srgbClr val="6E7899"/>
                </a:solidFill>
                <a:latin typeface="Calibri" pitchFamily="34" charset="0"/>
                <a:ea typeface="Calibri" pitchFamily="34" charset="-122"/>
                <a:cs typeface="Calibri" pitchFamily="34" charset="-120"/>
              </a:rPr>
              <a:t>findings matching</a:t>
            </a:r>
            <a:endParaRPr lang="en-US" sz="1150" dirty="0"/>
          </a:p>
          <a:p>
            <a:pPr marL="0" indent="0" algn="ctr">
              <a:buNone/>
            </a:pPr>
            <a:r>
              <a:rPr lang="en-US" sz="1150" dirty="0">
                <a:solidFill>
                  <a:srgbClr val="6E7899"/>
                </a:solidFill>
                <a:latin typeface="Calibri" pitchFamily="34" charset="0"/>
                <a:ea typeface="Calibri" pitchFamily="34" charset="-122"/>
                <a:cs typeface="Calibri" pitchFamily="34" charset="-120"/>
              </a:rPr>
              <a:t>nothing real</a:t>
            </a:r>
            <a:endParaRPr lang="en-US" sz="1150" dirty="0"/>
          </a:p>
        </p:txBody>
      </p:sp>
      <p:sp>
        <p:nvSpPr>
          <p:cNvPr id="10" name="Shape 8"/>
          <p:cNvSpPr/>
          <p:nvPr/>
        </p:nvSpPr>
        <p:spPr>
          <a:xfrm>
            <a:off x="6172200" y="1783080"/>
            <a:ext cx="2468880" cy="1691640"/>
          </a:xfrm>
          <a:prstGeom prst="roundRect">
            <a:avLst>
              <a:gd name="adj" fmla="val 5405"/>
            </a:avLst>
          </a:prstGeom>
          <a:solidFill>
            <a:srgbClr val="F1F4FB"/>
          </a:solidFill>
          <a:ln/>
        </p:spPr>
      </p:sp>
      <p:sp>
        <p:nvSpPr>
          <p:cNvPr id="11" name="Text 9"/>
          <p:cNvSpPr/>
          <p:nvPr/>
        </p:nvSpPr>
        <p:spPr>
          <a:xfrm>
            <a:off x="6172200" y="1965960"/>
            <a:ext cx="2468880" cy="731520"/>
          </a:xfrm>
          <a:prstGeom prst="rect">
            <a:avLst/>
          </a:prstGeom>
          <a:noFill/>
          <a:ln/>
        </p:spPr>
        <p:txBody>
          <a:bodyPr wrap="square" lIns="0" tIns="0" rIns="0" bIns="0" rtlCol="0" anchor="ctr"/>
          <a:lstStyle/>
          <a:p>
            <a:pPr marL="0" indent="0" algn="ctr">
              <a:buNone/>
            </a:pPr>
            <a:r>
              <a:rPr lang="en-US" sz="3800" b="1" dirty="0">
                <a:solidFill>
                  <a:srgbClr val="16203F"/>
                </a:solidFill>
                <a:latin typeface="Georgia" pitchFamily="34" charset="0"/>
                <a:ea typeface="Georgia" pitchFamily="34" charset="-122"/>
                <a:cs typeface="Georgia" pitchFamily="34" charset="-120"/>
              </a:rPr>
              <a:t>176</a:t>
            </a:r>
            <a:endParaRPr lang="en-US" sz="3800" dirty="0"/>
          </a:p>
        </p:txBody>
      </p:sp>
      <p:sp>
        <p:nvSpPr>
          <p:cNvPr id="12" name="Text 10"/>
          <p:cNvSpPr/>
          <p:nvPr/>
        </p:nvSpPr>
        <p:spPr>
          <a:xfrm>
            <a:off x="6172200" y="2697480"/>
            <a:ext cx="2468880" cy="640080"/>
          </a:xfrm>
          <a:prstGeom prst="rect">
            <a:avLst/>
          </a:prstGeom>
          <a:noFill/>
          <a:ln/>
        </p:spPr>
        <p:txBody>
          <a:bodyPr wrap="square" lIns="0" tIns="0" rIns="0" bIns="0" rtlCol="0" anchor="ctr"/>
          <a:lstStyle/>
          <a:p>
            <a:pPr marL="0" indent="0" algn="ctr">
              <a:buNone/>
            </a:pPr>
            <a:r>
              <a:rPr lang="en-US" sz="1150" dirty="0">
                <a:solidFill>
                  <a:srgbClr val="6E7899"/>
                </a:solidFill>
                <a:latin typeface="Calibri" pitchFamily="34" charset="0"/>
                <a:ea typeface="Calibri" pitchFamily="34" charset="-122"/>
                <a:cs typeface="Calibri" pitchFamily="34" charset="-120"/>
              </a:rPr>
              <a:t>tests, all offline</a:t>
            </a:r>
            <a:endParaRPr lang="en-US" sz="1150" dirty="0"/>
          </a:p>
        </p:txBody>
      </p:sp>
      <p:sp>
        <p:nvSpPr>
          <p:cNvPr id="13" name="Shape 11"/>
          <p:cNvSpPr/>
          <p:nvPr/>
        </p:nvSpPr>
        <p:spPr>
          <a:xfrm>
            <a:off x="8915400" y="1783080"/>
            <a:ext cx="2468880" cy="1691640"/>
          </a:xfrm>
          <a:prstGeom prst="roundRect">
            <a:avLst>
              <a:gd name="adj" fmla="val 5405"/>
            </a:avLst>
          </a:prstGeom>
          <a:solidFill>
            <a:srgbClr val="F1F4FB"/>
          </a:solidFill>
          <a:ln/>
        </p:spPr>
      </p:sp>
      <p:sp>
        <p:nvSpPr>
          <p:cNvPr id="14" name="Text 12"/>
          <p:cNvSpPr/>
          <p:nvPr/>
        </p:nvSpPr>
        <p:spPr>
          <a:xfrm>
            <a:off x="8915400" y="1965960"/>
            <a:ext cx="2468880" cy="731520"/>
          </a:xfrm>
          <a:prstGeom prst="rect">
            <a:avLst/>
          </a:prstGeom>
          <a:noFill/>
          <a:ln/>
        </p:spPr>
        <p:txBody>
          <a:bodyPr wrap="square" lIns="0" tIns="0" rIns="0" bIns="0" rtlCol="0" anchor="ctr"/>
          <a:lstStyle/>
          <a:p>
            <a:pPr marL="0" indent="0" algn="ctr">
              <a:buNone/>
            </a:pPr>
            <a:r>
              <a:rPr lang="en-US" sz="3800" b="1" dirty="0">
                <a:solidFill>
                  <a:srgbClr val="16203F"/>
                </a:solidFill>
                <a:latin typeface="Georgia" pitchFamily="34" charset="0"/>
                <a:ea typeface="Georgia" pitchFamily="34" charset="-122"/>
                <a:cs typeface="Georgia" pitchFamily="34" charset="-120"/>
              </a:rPr>
              <a:t>±1</a:t>
            </a:r>
            <a:endParaRPr lang="en-US" sz="3800" dirty="0"/>
          </a:p>
        </p:txBody>
      </p:sp>
      <p:sp>
        <p:nvSpPr>
          <p:cNvPr id="15" name="Text 13"/>
          <p:cNvSpPr/>
          <p:nvPr/>
        </p:nvSpPr>
        <p:spPr>
          <a:xfrm>
            <a:off x="8915400" y="2697480"/>
            <a:ext cx="2468880" cy="640080"/>
          </a:xfrm>
          <a:prstGeom prst="rect">
            <a:avLst/>
          </a:prstGeom>
          <a:noFill/>
          <a:ln/>
        </p:spPr>
        <p:txBody>
          <a:bodyPr wrap="square" lIns="0" tIns="0" rIns="0" bIns="0" rtlCol="0" anchor="ctr"/>
          <a:lstStyle/>
          <a:p>
            <a:pPr marL="0" indent="0" algn="ctr">
              <a:buNone/>
            </a:pPr>
            <a:r>
              <a:rPr lang="en-US" sz="1150" dirty="0">
                <a:solidFill>
                  <a:srgbClr val="6E7899"/>
                </a:solidFill>
                <a:latin typeface="Calibri" pitchFamily="34" charset="0"/>
                <a:ea typeface="Calibri" pitchFamily="34" charset="-122"/>
                <a:cs typeface="Calibri" pitchFamily="34" charset="-120"/>
              </a:rPr>
              <a:t>run-to-run</a:t>
            </a:r>
            <a:endParaRPr lang="en-US" sz="1150" dirty="0"/>
          </a:p>
          <a:p>
            <a:pPr marL="0" indent="0" algn="ctr">
              <a:buNone/>
            </a:pPr>
            <a:r>
              <a:rPr lang="en-US" sz="1150" dirty="0">
                <a:solidFill>
                  <a:srgbClr val="6E7899"/>
                </a:solidFill>
                <a:latin typeface="Calibri" pitchFamily="34" charset="0"/>
                <a:ea typeface="Calibri" pitchFamily="34" charset="-122"/>
                <a:cs typeface="Calibri" pitchFamily="34" charset="-120"/>
              </a:rPr>
              <a:t>variance</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3703320"/>
          <a:ext cx="10789920" cy="914400"/>
        </p:xfrm>
        <a:graphic>
          <a:graphicData uri="http://schemas.openxmlformats.org/drawingml/2006/table">
            <a:tbl>
              <a:tblPr/>
              <a:tblGrid>
                <a:gridCol w="42062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Defect class</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Found</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Difficulty</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Found</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solidFill>
                      <a:srgbClr val="16203F"/>
                    </a:solidFill>
                  </a:tcPr>
                </a:tc>
                <a:extLst>
                  <a:ext uri="{0D108BD9-81ED-4DB2-BD59-A6C34878D82A}">
                    <a16:rowId xmlns:a16="http://schemas.microsoft.com/office/drawing/2014/main" val="10000"/>
                  </a:ext>
                </a:extLst>
              </a:tr>
              <a:tr h="310896">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Missing document</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2 / 2</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Easy</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2 / 3</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Undisclosed relationship</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2 / 2</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4 / 8</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Temporal impossibility</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1 / 2</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Hard</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1 / 4</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Arithmetic</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1 / 3</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Cross-document contradiction</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1 / 3</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Latent liability</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r>
                        <a:rPr lang="en-US" sz="1250" dirty="0">
                          <a:solidFill>
                            <a:srgbClr val="141830"/>
                          </a:solidFill>
                          <a:latin typeface="Calibri" pitchFamily="34" charset="0"/>
                          <a:ea typeface="Calibri" pitchFamily="34" charset="-122"/>
                          <a:cs typeface="Calibri" pitchFamily="34" charset="-120"/>
                        </a:rPr>
                        <a:t>0 / 3</a:t>
                      </a: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2E7F3"/>
                      </a:solidFill>
                      <a:prstDash val="solid"/>
                      <a:round/>
                      <a:headEnd type="none" w="med" len="med"/>
                      <a:tailEnd type="none" w="med" len="med"/>
                    </a:lnL>
                    <a:lnR w="12700" cap="flat" cmpd="sng" algn="ctr">
                      <a:solidFill>
                        <a:srgbClr val="E2E7F3"/>
                      </a:solidFill>
                      <a:prstDash val="solid"/>
                      <a:round/>
                      <a:headEnd type="none" w="med" len="med"/>
                      <a:tailEnd type="none" w="med" len="med"/>
                    </a:lnR>
                    <a:lnT w="12700" cap="flat" cmpd="sng" algn="ctr">
                      <a:solidFill>
                        <a:srgbClr val="E2E7F3"/>
                      </a:solidFill>
                      <a:prstDash val="solid"/>
                      <a:round/>
                      <a:headEnd type="none" w="med" len="med"/>
                      <a:tailEnd type="none" w="med" len="med"/>
                    </a:lnT>
                    <a:lnB w="12700" cap="flat" cmpd="sng" algn="ctr">
                      <a:solidFill>
                        <a:srgbClr val="E2E7F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7" name="Text 14"/>
          <p:cNvSpPr/>
          <p:nvPr/>
        </p:nvSpPr>
        <p:spPr>
          <a:xfrm>
            <a:off x="685800" y="5943600"/>
            <a:ext cx="10789920" cy="457200"/>
          </a:xfrm>
          <a:prstGeom prst="rect">
            <a:avLst/>
          </a:prstGeom>
          <a:noFill/>
          <a:ln/>
        </p:spPr>
        <p:txBody>
          <a:bodyPr wrap="square" lIns="0" tIns="0" rIns="0" bIns="0" rtlCol="0" anchor="ctr"/>
          <a:lstStyle/>
          <a:p>
            <a:pPr marL="0" indent="0">
              <a:buNone/>
            </a:pPr>
            <a:r>
              <a:rPr lang="en-US" sz="1400" i="1" dirty="0">
                <a:solidFill>
                  <a:srgbClr val="16203F"/>
                </a:solidFill>
                <a:latin typeface="Calibri" pitchFamily="34" charset="0"/>
                <a:ea typeface="Calibri" pitchFamily="34" charset="-122"/>
                <a:cs typeface="Calibri" pitchFamily="34" charset="-120"/>
              </a:rPr>
              <a:t>I wrote the corpus, so ground truth is exact. Four defects were designed to exceed the system — a benchmark scoring 100% measures the benchmark.</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03F"/>
        </a:solidFill>
        <a:effectLst/>
      </p:bgPr>
    </p:bg>
    <p:spTree>
      <p:nvGrpSpPr>
        <p:cNvPr id="1" name=""/>
        <p:cNvGrpSpPr/>
        <p:nvPr/>
      </p:nvGrpSpPr>
      <p:grpSpPr>
        <a:xfrm>
          <a:off x="0" y="0"/>
          <a:ext cx="0" cy="0"/>
          <a:chOff x="0" y="0"/>
          <a:chExt cx="0" cy="0"/>
        </a:xfrm>
      </p:grpSpPr>
      <p:sp>
        <p:nvSpPr>
          <p:cNvPr id="2" name="Shape 0"/>
          <p:cNvSpPr/>
          <p:nvPr/>
        </p:nvSpPr>
        <p:spPr>
          <a:xfrm>
            <a:off x="9418320" y="3931920"/>
            <a:ext cx="2011680" cy="2011680"/>
          </a:xfrm>
          <a:prstGeom prst="ellipse">
            <a:avLst/>
          </a:prstGeom>
          <a:solidFill>
            <a:srgbClr val="16203F"/>
          </a:solidFill>
          <a:ln w="19050">
            <a:solidFill>
              <a:srgbClr val="C9D6F2"/>
            </a:solidFill>
            <a:prstDash val="solid"/>
          </a:ln>
        </p:spPr>
      </p:sp>
      <p:sp>
        <p:nvSpPr>
          <p:cNvPr id="3" name="Shape 1"/>
          <p:cNvSpPr/>
          <p:nvPr/>
        </p:nvSpPr>
        <p:spPr>
          <a:xfrm>
            <a:off x="9829800" y="4343400"/>
            <a:ext cx="1188720" cy="1188720"/>
          </a:xfrm>
          <a:prstGeom prst="ellipse">
            <a:avLst/>
          </a:prstGeom>
          <a:solidFill>
            <a:srgbClr val="0D1329"/>
          </a:solidFill>
          <a:ln w="15875">
            <a:solidFill>
              <a:srgbClr val="D99441"/>
            </a:solidFill>
            <a:prstDash val="solid"/>
          </a:ln>
        </p:spPr>
      </p:sp>
      <p:sp>
        <p:nvSpPr>
          <p:cNvPr id="4" name="Text 2"/>
          <p:cNvSpPr/>
          <p:nvPr/>
        </p:nvSpPr>
        <p:spPr>
          <a:xfrm>
            <a:off x="9829800" y="4343400"/>
            <a:ext cx="1188720" cy="1188720"/>
          </a:xfrm>
          <a:prstGeom prst="rect">
            <a:avLst/>
          </a:prstGeom>
          <a:noFill/>
          <a:ln/>
        </p:spPr>
        <p:txBody>
          <a:bodyPr wrap="square" lIns="0" tIns="0" rIns="0" bIns="0" rtlCol="0" anchor="ctr"/>
          <a:lstStyle/>
          <a:p>
            <a:pPr marL="0" indent="0" algn="ctr">
              <a:buNone/>
            </a:pPr>
            <a:r>
              <a:rPr lang="en-US" sz="3000" b="1" dirty="0">
                <a:solidFill>
                  <a:srgbClr val="D99441"/>
                </a:solidFill>
                <a:latin typeface="Georgia" pitchFamily="34" charset="0"/>
                <a:ea typeface="Georgia" pitchFamily="34" charset="-122"/>
                <a:cs typeface="Georgia" pitchFamily="34" charset="-120"/>
              </a:rPr>
              <a:t>8</a:t>
            </a:r>
            <a:endParaRPr lang="en-US" sz="3000" dirty="0"/>
          </a:p>
        </p:txBody>
      </p:sp>
      <p:sp>
        <p:nvSpPr>
          <p:cNvPr id="5" name="Text 3"/>
          <p:cNvSpPr/>
          <p:nvPr/>
        </p:nvSpPr>
        <p:spPr>
          <a:xfrm>
            <a:off x="9418320" y="5989320"/>
            <a:ext cx="2011680" cy="274320"/>
          </a:xfrm>
          <a:prstGeom prst="rect">
            <a:avLst/>
          </a:prstGeom>
          <a:noFill/>
          <a:ln/>
        </p:spPr>
        <p:txBody>
          <a:bodyPr wrap="square" lIns="0" tIns="0" rIns="0" bIns="0" rtlCol="0" anchor="ctr"/>
          <a:lstStyle/>
          <a:p>
            <a:pPr marL="0" indent="0" algn="ctr">
              <a:buNone/>
            </a:pPr>
            <a:r>
              <a:rPr lang="en-US" sz="1100" dirty="0">
                <a:solidFill>
                  <a:srgbClr val="6E7899"/>
                </a:solidFill>
                <a:latin typeface="Calibri" pitchFamily="34" charset="0"/>
                <a:ea typeface="Calibri" pitchFamily="34" charset="-122"/>
                <a:cs typeface="Calibri" pitchFamily="34" charset="-120"/>
              </a:rPr>
              <a:t>still missed</a:t>
            </a:r>
            <a:endParaRPr lang="en-US" sz="1100" dirty="0"/>
          </a:p>
        </p:txBody>
      </p:sp>
      <p:sp>
        <p:nvSpPr>
          <p:cNvPr id="6" name="Text 4"/>
          <p:cNvSpPr/>
          <p:nvPr/>
        </p:nvSpPr>
        <p:spPr>
          <a:xfrm>
            <a:off x="685800" y="640080"/>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What the misses tell me to build</a:t>
            </a:r>
            <a:endParaRPr lang="en-US" sz="3200" dirty="0"/>
          </a:p>
        </p:txBody>
      </p:sp>
      <p:sp>
        <p:nvSpPr>
          <p:cNvPr id="7" name="Text 5"/>
          <p:cNvSpPr/>
          <p:nvPr/>
        </p:nvSpPr>
        <p:spPr>
          <a:xfrm>
            <a:off x="685800" y="1417320"/>
            <a:ext cx="8412480" cy="548640"/>
          </a:xfrm>
          <a:prstGeom prst="rect">
            <a:avLst/>
          </a:prstGeom>
          <a:noFill/>
          <a:ln/>
        </p:spPr>
        <p:txBody>
          <a:bodyPr wrap="square" lIns="0" tIns="0" rIns="0" bIns="0" rtlCol="0" anchor="ctr"/>
          <a:lstStyle/>
          <a:p>
            <a:pPr marL="0" indent="0">
              <a:buNone/>
            </a:pPr>
            <a:r>
              <a:rPr lang="en-US" sz="1500" dirty="0">
                <a:solidFill>
                  <a:srgbClr val="C9D6F2"/>
                </a:solidFill>
                <a:latin typeface="Calibri" pitchFamily="34" charset="0"/>
                <a:ea typeface="Calibri" pitchFamily="34" charset="-122"/>
                <a:cs typeface="Calibri" pitchFamily="34" charset="-120"/>
              </a:rPr>
              <a:t>Every unfound defect records the capability its detection needs. That is a backlog derived from measurement, not guesswork.</a:t>
            </a:r>
            <a:endParaRPr lang="en-US" sz="1500" dirty="0"/>
          </a:p>
        </p:txBody>
      </p:sp>
      <p:sp>
        <p:nvSpPr>
          <p:cNvPr id="8" name="Text 6"/>
          <p:cNvSpPr/>
          <p:nvPr/>
        </p:nvSpPr>
        <p:spPr>
          <a:xfrm>
            <a:off x="685800" y="2286000"/>
            <a:ext cx="4023360" cy="256032"/>
          </a:xfrm>
          <a:prstGeom prst="rect">
            <a:avLst/>
          </a:prstGeom>
          <a:noFill/>
          <a:ln/>
        </p:spPr>
        <p:txBody>
          <a:bodyPr wrap="square" lIns="0" tIns="0" rIns="0" bIns="0" rtlCol="0" anchor="ctr"/>
          <a:lstStyle/>
          <a:p>
            <a:pPr marL="0" indent="0">
              <a:buNone/>
            </a:pPr>
            <a:r>
              <a:rPr lang="en-US" sz="1050" b="1" kern="0" spc="200" dirty="0">
                <a:solidFill>
                  <a:srgbClr val="D99441"/>
                </a:solidFill>
                <a:latin typeface="Calibri" pitchFamily="34" charset="0"/>
                <a:ea typeface="Calibri" pitchFamily="34" charset="-122"/>
                <a:cs typeface="Calibri" pitchFamily="34" charset="-120"/>
              </a:rPr>
              <a:t>NEXT</a:t>
            </a:r>
            <a:endParaRPr lang="en-US" sz="1050" dirty="0"/>
          </a:p>
        </p:txBody>
      </p:sp>
      <p:sp>
        <p:nvSpPr>
          <p:cNvPr id="9" name="Text 7"/>
          <p:cNvSpPr/>
          <p:nvPr/>
        </p:nvSpPr>
        <p:spPr>
          <a:xfrm>
            <a:off x="685800" y="2651760"/>
            <a:ext cx="4206240" cy="173736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C9D6F2"/>
                </a:solidFill>
                <a:latin typeface="Calibri" pitchFamily="34" charset="0"/>
                <a:ea typeface="Calibri" pitchFamily="34" charset="-122"/>
                <a:cs typeface="Calibri" pitchFamily="34" charset="-120"/>
              </a:rPr>
              <a:t>Version handling: an amendment supersedes</a:t>
            </a:r>
            <a:endParaRPr lang="en-US" sz="1400" dirty="0"/>
          </a:p>
          <a:p>
            <a:pPr marL="342900" indent="-342900">
              <a:spcAft>
                <a:spcPts val="900"/>
              </a:spcAft>
              <a:buSzPct val="100000"/>
              <a:buChar char="•"/>
            </a:pPr>
            <a:r>
              <a:rPr lang="en-US" sz="1400" dirty="0">
                <a:solidFill>
                  <a:srgbClr val="C9D6F2"/>
                </a:solidFill>
                <a:latin typeface="Calibri" pitchFamily="34" charset="0"/>
                <a:ea typeface="Calibri" pitchFamily="34" charset="-122"/>
                <a:cs typeface="Calibri" pitchFamily="34" charset="-120"/>
              </a:rPr>
              <a:t>Coreference: "the Company" resolves</a:t>
            </a:r>
            <a:endParaRPr lang="en-US" sz="1400" dirty="0"/>
          </a:p>
          <a:p>
            <a:pPr marL="342900" indent="-342900">
              <a:spcAft>
                <a:spcPts val="900"/>
              </a:spcAft>
              <a:buSzPct val="100000"/>
              <a:buChar char="•"/>
            </a:pPr>
            <a:r>
              <a:rPr lang="en-US" sz="1400" dirty="0">
                <a:solidFill>
                  <a:srgbClr val="C9D6F2"/>
                </a:solidFill>
                <a:latin typeface="Calibri" pitchFamily="34" charset="0"/>
                <a:ea typeface="Calibri" pitchFamily="34" charset="-122"/>
                <a:cs typeface="Calibri" pitchFamily="34" charset="-120"/>
              </a:rPr>
              <a:t>Multi-hop reasoning across three documents</a:t>
            </a:r>
            <a:endParaRPr lang="en-US" sz="1400" dirty="0"/>
          </a:p>
        </p:txBody>
      </p:sp>
      <p:sp>
        <p:nvSpPr>
          <p:cNvPr id="10" name="Text 8"/>
          <p:cNvSpPr/>
          <p:nvPr/>
        </p:nvSpPr>
        <p:spPr>
          <a:xfrm>
            <a:off x="5394960" y="2286000"/>
            <a:ext cx="4023360" cy="256032"/>
          </a:xfrm>
          <a:prstGeom prst="rect">
            <a:avLst/>
          </a:prstGeom>
          <a:noFill/>
          <a:ln/>
        </p:spPr>
        <p:txBody>
          <a:bodyPr wrap="square" lIns="0" tIns="0" rIns="0" bIns="0" rtlCol="0" anchor="ctr"/>
          <a:lstStyle/>
          <a:p>
            <a:pPr marL="0" indent="0">
              <a:buNone/>
            </a:pPr>
            <a:r>
              <a:rPr lang="en-US" sz="1050" b="1" kern="0" spc="200" dirty="0">
                <a:solidFill>
                  <a:srgbClr val="D99441"/>
                </a:solidFill>
                <a:latin typeface="Calibri" pitchFamily="34" charset="0"/>
                <a:ea typeface="Calibri" pitchFamily="34" charset="-122"/>
                <a:cs typeface="Calibri" pitchFamily="34" charset="-120"/>
              </a:rPr>
              <a:t>LATER</a:t>
            </a:r>
            <a:endParaRPr lang="en-US" sz="1050" dirty="0"/>
          </a:p>
        </p:txBody>
      </p:sp>
      <p:sp>
        <p:nvSpPr>
          <p:cNvPr id="11" name="Text 9"/>
          <p:cNvSpPr/>
          <p:nvPr/>
        </p:nvSpPr>
        <p:spPr>
          <a:xfrm>
            <a:off x="5394960" y="2651760"/>
            <a:ext cx="4206240" cy="173736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C9D6F2"/>
                </a:solidFill>
                <a:latin typeface="Calibri" pitchFamily="34" charset="0"/>
                <a:ea typeface="Calibri" pitchFamily="34" charset="-122"/>
                <a:cs typeface="Calibri" pitchFamily="34" charset="-120"/>
              </a:rPr>
              <a:t>Release the corpus as a public benchmark</a:t>
            </a:r>
            <a:endParaRPr lang="en-US" sz="1400" dirty="0"/>
          </a:p>
          <a:p>
            <a:pPr marL="342900" indent="-342900">
              <a:spcAft>
                <a:spcPts val="900"/>
              </a:spcAft>
              <a:buSzPct val="100000"/>
              <a:buChar char="•"/>
            </a:pPr>
            <a:r>
              <a:rPr lang="en-US" sz="1400" dirty="0">
                <a:solidFill>
                  <a:srgbClr val="C9D6F2"/>
                </a:solidFill>
                <a:latin typeface="Calibri" pitchFamily="34" charset="0"/>
                <a:ea typeface="Calibri" pitchFamily="34" charset="-122"/>
                <a:cs typeface="Calibri" pitchFamily="34" charset="-120"/>
              </a:rPr>
              <a:t>Same engine: vendor review, underwriting</a:t>
            </a:r>
            <a:endParaRPr lang="en-US" sz="1400" dirty="0"/>
          </a:p>
          <a:p>
            <a:pPr marL="342900" indent="-342900">
              <a:spcAft>
                <a:spcPts val="900"/>
              </a:spcAft>
              <a:buSzPct val="100000"/>
              <a:buChar char="•"/>
            </a:pPr>
            <a:r>
              <a:rPr lang="en-US" sz="1400" dirty="0">
                <a:solidFill>
                  <a:srgbClr val="C9D6F2"/>
                </a:solidFill>
                <a:latin typeface="Calibri" pitchFamily="34" charset="0"/>
                <a:ea typeface="Calibri" pitchFamily="34" charset="-122"/>
                <a:cs typeface="Calibri" pitchFamily="34" charset="-120"/>
              </a:rPr>
              <a:t>Grant compliance, audit preparation</a:t>
            </a:r>
            <a:endParaRPr lang="en-US" sz="1400" dirty="0"/>
          </a:p>
        </p:txBody>
      </p:sp>
      <p:sp>
        <p:nvSpPr>
          <p:cNvPr id="12" name="Text 10"/>
          <p:cNvSpPr/>
          <p:nvPr/>
        </p:nvSpPr>
        <p:spPr>
          <a:xfrm>
            <a:off x="685800" y="4663440"/>
            <a:ext cx="8229600" cy="777240"/>
          </a:xfrm>
          <a:prstGeom prst="rect">
            <a:avLst/>
          </a:prstGeom>
          <a:noFill/>
          <a:ln/>
        </p:spPr>
        <p:txBody>
          <a:bodyPr wrap="square" lIns="0" tIns="0" rIns="0" bIns="0" rtlCol="0" anchor="ctr"/>
          <a:lstStyle/>
          <a:p>
            <a:pPr marL="0" indent="0">
              <a:buNone/>
            </a:pPr>
            <a:r>
              <a:rPr lang="en-US" sz="1550" i="1" dirty="0">
                <a:solidFill>
                  <a:srgbClr val="FFFFFF"/>
                </a:solidFill>
                <a:latin typeface="Calibri" pitchFamily="34" charset="0"/>
                <a:ea typeface="Calibri" pitchFamily="34" charset="-122"/>
                <a:cs typeface="Calibri" pitchFamily="34" charset="-120"/>
              </a:rPr>
              <a:t>A benchmark with known planted defects would let anyone measure a diligence system honestly.</a:t>
            </a:r>
            <a:endParaRPr lang="en-US" sz="1550" dirty="0"/>
          </a:p>
        </p:txBody>
      </p:sp>
      <p:sp>
        <p:nvSpPr>
          <p:cNvPr id="13" name="Text 11"/>
          <p:cNvSpPr/>
          <p:nvPr/>
        </p:nvSpPr>
        <p:spPr>
          <a:xfrm>
            <a:off x="685800" y="5577840"/>
            <a:ext cx="4572000" cy="457200"/>
          </a:xfrm>
          <a:prstGeom prst="rect">
            <a:avLst/>
          </a:prstGeom>
          <a:noFill/>
          <a:ln/>
        </p:spPr>
        <p:txBody>
          <a:bodyPr wrap="square" lIns="0" tIns="0" rIns="0" bIns="0" rtlCol="0" anchor="ctr"/>
          <a:lstStyle/>
          <a:p>
            <a:pPr marL="0" indent="0">
              <a:buNone/>
            </a:pPr>
            <a:r>
              <a:rPr lang="en-US" sz="2300" b="1" dirty="0">
                <a:solidFill>
                  <a:srgbClr val="D99441"/>
                </a:solidFill>
                <a:latin typeface="Georgia" pitchFamily="34" charset="0"/>
                <a:ea typeface="Georgia" pitchFamily="34" charset="-122"/>
                <a:cs typeface="Georgia" pitchFamily="34" charset="-120"/>
              </a:rPr>
              <a:t>Thank you.</a:t>
            </a:r>
            <a:endParaRPr lang="en-US" sz="2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1695</Words>
  <Application>Microsoft Office PowerPoint</Application>
  <PresentationFormat>Widescreen</PresentationFormat>
  <Paragraphs>223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Loupe - Multi-Agent Due Diligence</dc:title>
  <dc:subject>PptxGenJS Presentation</dc:subject>
  <dc:creator>Loupe</dc:creator>
  <cp:lastModifiedBy>harseerat kaur</cp:lastModifiedBy>
  <cp:revision>2</cp:revision>
  <dcterms:created xsi:type="dcterms:W3CDTF">2026-08-17T08:48:22Z</dcterms:created>
  <dcterms:modified xsi:type="dcterms:W3CDTF">2026-08-17T09:50:55Z</dcterms:modified>
</cp:coreProperties>
</file>